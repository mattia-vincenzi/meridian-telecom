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71" r:id="rId2"/>
    <p:sldId id="273" r:id="rId3"/>
    <p:sldId id="274" r:id="rId4"/>
    <p:sldId id="257" r:id="rId5"/>
    <p:sldId id="275" r:id="rId6"/>
    <p:sldId id="277" r:id="rId7"/>
    <p:sldId id="278" r:id="rId8"/>
    <p:sldId id="258" r:id="rId9"/>
    <p:sldId id="279" r:id="rId10"/>
    <p:sldId id="259" r:id="rId11"/>
    <p:sldId id="280" r:id="rId12"/>
    <p:sldId id="260" r:id="rId13"/>
    <p:sldId id="261" r:id="rId14"/>
    <p:sldId id="281" r:id="rId15"/>
    <p:sldId id="262" r:id="rId16"/>
    <p:sldId id="263" r:id="rId17"/>
    <p:sldId id="264" r:id="rId18"/>
    <p:sldId id="265" r:id="rId19"/>
    <p:sldId id="266" r:id="rId20"/>
    <p:sldId id="284" r:id="rId21"/>
    <p:sldId id="285" r:id="rId22"/>
    <p:sldId id="267" r:id="rId23"/>
    <p:sldId id="268" r:id="rId24"/>
    <p:sldId id="269" r:id="rId25"/>
    <p:sldId id="27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5"/>
    <p:restoredTop sz="94610"/>
  </p:normalViewPr>
  <p:slideViewPr>
    <p:cSldViewPr snapToGrid="0" snapToObjects="1">
      <p:cViewPr varScale="1">
        <p:scale>
          <a:sx n="115" d="100"/>
          <a:sy n="115" d="100"/>
        </p:scale>
        <p:origin x="208" y="17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6066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title slide. Replace the placeholder with the candidate's first and last name before sending or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A35D7-FB45-DC74-7494-234E00399F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05C2CF-9B92-DE79-7F6E-D593170B9C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B23D80-1F04-3874-1184-BDEC2321C17A}"/>
              </a:ext>
            </a:extLst>
          </p:cNvPr>
          <p:cNvSpPr>
            <a:spLocks noGrp="1"/>
          </p:cNvSpPr>
          <p:nvPr>
            <p:ph type="body" idx="1"/>
          </p:nvPr>
        </p:nvSpPr>
        <p:spPr/>
        <p:txBody>
          <a:bodyPr/>
          <a:lstStyle/>
          <a:p>
            <a:r>
              <a:rPr lang="en-US" dirty="0"/>
              <a:t>The central problem is coordinating a process that lasts much longer than a conversation. A customer can return after days and must find the same progress and pending actions. The platform keeps the interaction fast and makes operations recoverable. The assumptions bound the proposal and require confirmation; the targets remain requirements to demonstrate. Mention the journey from offer to identity, payment, shipment and activation, including waits, data corrections and customer updates.</a:t>
            </a:r>
          </a:p>
        </p:txBody>
      </p:sp>
      <p:sp>
        <p:nvSpPr>
          <p:cNvPr id="4" name="Slide Number Placeholder 3">
            <a:extLst>
              <a:ext uri="{FF2B5EF4-FFF2-40B4-BE49-F238E27FC236}">
                <a16:creationId xmlns:a16="http://schemas.microsoft.com/office/drawing/2014/main" id="{F6BF4073-6F30-B8BC-B9CD-313F1384236C}"/>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92168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78344-3DF8-DE58-6664-0FC06A5BA9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E911A0-D43A-198C-53CC-2D3DD473B9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091029-C34D-0B2B-3AE8-0215010F8C5C}"/>
              </a:ext>
            </a:extLst>
          </p:cNvPr>
          <p:cNvSpPr>
            <a:spLocks noGrp="1"/>
          </p:cNvSpPr>
          <p:nvPr>
            <p:ph type="body" idx="1"/>
          </p:nvPr>
        </p:nvSpPr>
        <p:spPr/>
        <p:txBody>
          <a:bodyPr/>
          <a:lstStyle/>
          <a:p>
            <a:r>
              <a:rPr lang="en-US" dirty="0"/>
              <a:t>The central problem is coordinating a process that lasts much longer than a conversation. A customer can return after days and must find the same progress and pending actions. The platform keeps the interaction fast and makes operations recoverable. The assumptions bound the proposal and require confirmation; the targets remain requirements to demonstrate. Mention the journey from offer to identity, payment, shipment and activation, including waits, data corrections and customer updates.</a:t>
            </a:r>
          </a:p>
        </p:txBody>
      </p:sp>
      <p:sp>
        <p:nvSpPr>
          <p:cNvPr id="4" name="Slide Number Placeholder 3">
            <a:extLst>
              <a:ext uri="{FF2B5EF4-FFF2-40B4-BE49-F238E27FC236}">
                <a16:creationId xmlns:a16="http://schemas.microsoft.com/office/drawing/2014/main" id="{1CD93A8F-1F6B-152D-D3F5-12BDE08AC90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041070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a concrete request. The API records the command and the request to start processing in one transaction. The dispatcher starts the workflow, the workflow sends a task to the queue, and a worker performs the integration and records the outcome. A callback lets the workflow continue. Waiting for days does not occupy workers. Returning customers read persisted state. S3 contains documents and audio. Essential notifications link back to the authenticated area. Distinguish message acceptance from completed conversational response.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3155F-2FE0-31AA-1B28-1BF72132B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4F49AE-A705-C4D5-67C1-88563FC363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494578-1274-51D9-7057-7B9F9FA0CF6A}"/>
              </a:ext>
            </a:extLst>
          </p:cNvPr>
          <p:cNvSpPr>
            <a:spLocks noGrp="1"/>
          </p:cNvSpPr>
          <p:nvPr>
            <p:ph type="body" idx="1"/>
          </p:nvPr>
        </p:nvSpPr>
        <p:spPr/>
        <p:txBody>
          <a:bodyPr/>
          <a:lstStyle/>
          <a:p>
            <a:r>
              <a:rPr lang="en-US" dirty="0"/>
              <a:t>Follow a concrete request. The API records the command and the request to start processing in one transaction. The dispatcher starts the workflow, the workflow sends a task to the queue, and a worker performs the integration and records the outcome. A callback lets the workflow continue. Waiting for days does not occupy workers. Returning customers read persisted state. S3 contains documents and audio. Essential notifications link back to the authenticated area. Distinguish message acceptance from completed conversational response.</a:t>
            </a:r>
          </a:p>
        </p:txBody>
      </p:sp>
      <p:sp>
        <p:nvSpPr>
          <p:cNvPr id="4" name="Slide Number Placeholder 3">
            <a:extLst>
              <a:ext uri="{FF2B5EF4-FFF2-40B4-BE49-F238E27FC236}">
                <a16:creationId xmlns:a16="http://schemas.microsoft.com/office/drawing/2014/main" id="{7E3F4A79-1CFE-1C25-1A19-7662A4DD6EB0}"/>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762111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1F2C7-0AFA-4A46-6472-8C75F4E74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3A11DD-AE26-6199-D403-D9FFDEEBA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94A77F-D2FC-68F3-8BCC-68BFEB0914B5}"/>
              </a:ext>
            </a:extLst>
          </p:cNvPr>
          <p:cNvSpPr>
            <a:spLocks noGrp="1"/>
          </p:cNvSpPr>
          <p:nvPr>
            <p:ph type="body" idx="1"/>
          </p:nvPr>
        </p:nvSpPr>
        <p:spPr/>
        <p:txBody>
          <a:bodyPr/>
          <a:lstStyle/>
          <a:p>
            <a:r>
              <a:rPr lang="en-US" dirty="0"/>
              <a:t>Follow a concrete request. The API records the command and the request to start processing in one transaction. The dispatcher starts the workflow, the workflow sends a task to the queue, and a worker performs the integration and records the outcome. A callback lets the workflow continue. Waiting for days does not occupy workers. Returning customers read persisted state. S3 contains documents and audio. Essential notifications link back to the authenticated area. Distinguish message acceptance from completed conversational response.</a:t>
            </a:r>
          </a:p>
        </p:txBody>
      </p:sp>
      <p:sp>
        <p:nvSpPr>
          <p:cNvPr id="4" name="Slide Number Placeholder 3">
            <a:extLst>
              <a:ext uri="{FF2B5EF4-FFF2-40B4-BE49-F238E27FC236}">
                <a16:creationId xmlns:a16="http://schemas.microsoft.com/office/drawing/2014/main" id="{81DC30E6-DBC8-E835-E114-DD6436B081B7}"/>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131957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3025A-4721-6ECF-2AE8-7632B465FF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7CCF51-8BF8-0C34-96BA-AB6044F5AA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C9070-25EB-1B20-EE83-A4FF892DF25B}"/>
              </a:ext>
            </a:extLst>
          </p:cNvPr>
          <p:cNvSpPr>
            <a:spLocks noGrp="1"/>
          </p:cNvSpPr>
          <p:nvPr>
            <p:ph type="body" idx="1"/>
          </p:nvPr>
        </p:nvSpPr>
        <p:spPr/>
        <p:txBody>
          <a:bodyPr/>
          <a:lstStyle/>
          <a:p>
            <a:r>
              <a:rPr lang="en-US" dirty="0"/>
              <a:t>Follow a concrete request. The API records the command and the request to start processing in one transaction. The dispatcher starts the workflow, the workflow sends a task to the queue, and a worker performs the integration and records the outcome. A callback lets the workflow continue. Waiting for days does not occupy workers. Returning customers read persisted state. S3 contains documents and audio. Essential notifications link back to the authenticated area. Distinguish message acceptance from completed conversational response.</a:t>
            </a:r>
          </a:p>
        </p:txBody>
      </p:sp>
      <p:sp>
        <p:nvSpPr>
          <p:cNvPr id="4" name="Slide Number Placeholder 3">
            <a:extLst>
              <a:ext uri="{FF2B5EF4-FFF2-40B4-BE49-F238E27FC236}">
                <a16:creationId xmlns:a16="http://schemas.microsoft.com/office/drawing/2014/main" id="{F032EF20-D9CC-D6D9-1914-114B4CB49F4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6375283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two Platform Engineers, reducing infrastructure software to maintain is a priority. A custom workflow needs timer and recovery tooling. Temporal is credible when orchestration needs justify the operational investment. The outbox avoids saving a purchase without starting processing, but it does not remove duplicates. SQS separates slow work from chat. Be explicit about the resilient baseline cost and the lock-in accepted for operational benefit. EKS is a constraint. Redis and dedicated GPUs are deferred.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6AA0F-78C8-79EE-EB07-DFA383067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436F-60AD-E7D4-89E6-740F5AF68D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98101A-A8C4-CC8F-0530-6A8EA668DA6D}"/>
              </a:ext>
            </a:extLst>
          </p:cNvPr>
          <p:cNvSpPr>
            <a:spLocks noGrp="1"/>
          </p:cNvSpPr>
          <p:nvPr>
            <p:ph type="body" idx="1"/>
          </p:nvPr>
        </p:nvSpPr>
        <p:spPr/>
        <p:txBody>
          <a:bodyPr/>
          <a:lstStyle/>
          <a:p>
            <a:r>
              <a:rPr lang="en-US" dirty="0"/>
              <a:t>For two Platform Engineers, reducing infrastructure software to maintain is a priority. A custom workflow needs timer and recovery tooling. Temporal is credible when orchestration needs justify the operational investment. The outbox avoids saving a purchase without starting processing, but it does not remove duplicates. SQS separates slow work from chat. Be explicit about the resilient baseline cost and the lock-in accepted for operational benefit. EKS is a constraint. Redis and dedicated GPUs are deferred.</a:t>
            </a:r>
          </a:p>
        </p:txBody>
      </p:sp>
      <p:sp>
        <p:nvSpPr>
          <p:cNvPr id="4" name="Slide Number Placeholder 3">
            <a:extLst>
              <a:ext uri="{FF2B5EF4-FFF2-40B4-BE49-F238E27FC236}">
                <a16:creationId xmlns:a16="http://schemas.microsoft.com/office/drawing/2014/main" id="{887F567D-45D6-B3D2-E36C-B5D765F60944}"/>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413908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can be redelivered, but the worker recovers the same operation. It looks for authoritative confirmation through the stored webhook or provider status lookup. When it knows the outcome, it records the result and callback. Retrying the callback delivers the outcome without repeating the payment. Webhooks are authenticated and stored before responding to the provider. The customer resumes the same purchase. Idempotency retention, status lookup and authenticated correlation are provider guarantees to confirm. This is a walkthrough, not an executed test. Step Functions semantics do not by themselves guarantee external exactly-once effects.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1A2BB-45D4-49B0-2C01-FBB5504727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3A7E0-6404-3C7F-6704-3BC4A1DAA6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3F581F-11A6-C76D-097D-90C24285EBC8}"/>
              </a:ext>
            </a:extLst>
          </p:cNvPr>
          <p:cNvSpPr>
            <a:spLocks noGrp="1"/>
          </p:cNvSpPr>
          <p:nvPr>
            <p:ph type="body" idx="1"/>
          </p:nvPr>
        </p:nvSpPr>
        <p:spPr/>
        <p:txBody>
          <a:bodyPr/>
          <a:lstStyle/>
          <a:p>
            <a:r>
              <a:rPr lang="en-US" dirty="0"/>
              <a:t>The task can be redelivered, but the worker recovers the same operation. It looks for authoritative confirmation through the stored webhook or provider status lookup. When it knows the outcome, it records the result and callback. Retrying the callback delivers the outcome without repeating the payment. Webhooks are authenticated and stored before responding to the provider. The customer resumes the same purchase. Idempotency retention, status lookup and authenticated correlation are provider guarantees to confirm. This is a walkthrough, not an executed test. Step Functions semantics do not by themselves guarantee external exactly-once effects.</a:t>
            </a:r>
          </a:p>
        </p:txBody>
      </p:sp>
      <p:sp>
        <p:nvSpPr>
          <p:cNvPr id="4" name="Slide Number Placeholder 3">
            <a:extLst>
              <a:ext uri="{FF2B5EF4-FFF2-40B4-BE49-F238E27FC236}">
                <a16:creationId xmlns:a16="http://schemas.microsoft.com/office/drawing/2014/main" id="{CFAA3115-C857-BE53-6E55-531FCE640DD7}"/>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712454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Multi-AZ supports the strategy, but does not prove the targets by itself. Measure when conversations, status and pending work become usable after pod, node, database and AZ failures. The surviving zone must retain enough capacity and connectivity, accepting that background work can be slower. A journey started weeks earlier must continue with compatible workers and schema. Test backup restore separately. Do not claim logical corruption or regional outage recovery without agreement and evidence. Business waits are not downtime.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request must be authorized against the customer's journey. Verify residency for inference, providers, logs, backups and support access. Protect uploads and secrets, and remove sensitive data from telemetry. The audit record preserves agent runs, model versions, approvals and external actions; it does not depend on trace sampling. Distinguish legitimate waits from stuck processes and assign alert ownership. Platform provides execution, monitoring and operational tooling; AI Engineers own workflow and reconciliation logic; Business owns customer exceptions.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DAF87-2EA8-B515-EA16-F42DB602B1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E62BC8-14B6-17D6-FA3F-280D9F39B3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753CE1-D1A1-9F41-A965-C47087254F71}"/>
              </a:ext>
            </a:extLst>
          </p:cNvPr>
          <p:cNvSpPr>
            <a:spLocks noGrp="1"/>
          </p:cNvSpPr>
          <p:nvPr>
            <p:ph type="body" idx="1"/>
          </p:nvPr>
        </p:nvSpPr>
        <p:spPr/>
        <p:txBody>
          <a:bodyPr/>
          <a:lstStyle/>
          <a:p>
            <a:r>
              <a:rPr lang="en-US" dirty="0"/>
              <a:t>Every request must be authorized against the customer's journey. Verify residency for inference, providers, logs, backups and support access. Protect uploads and secrets, and remove sensitive data from telemetry. The audit record preserves agent runs, model versions, approvals and external actions; it does not depend on trace sampling. Distinguish legitimate waits from stuck processes and assign alert ownership. Platform provides execution, monitoring and operational tooling; AI Engineers own workflow and reconciliation logic; Business owns customer exceptions.</a:t>
            </a:r>
          </a:p>
        </p:txBody>
      </p:sp>
      <p:sp>
        <p:nvSpPr>
          <p:cNvPr id="4" name="Slide Number Placeholder 3">
            <a:extLst>
              <a:ext uri="{FF2B5EF4-FFF2-40B4-BE49-F238E27FC236}">
                <a16:creationId xmlns:a16="http://schemas.microsoft.com/office/drawing/2014/main" id="{8AB40153-01D5-ADE8-385B-067424655BDD}"/>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7393259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of users alone does not size the platform. We need task duration, concurrency, bursts and model mix. At launch, workloads share nodes with requests and limits. Workers scale on backlog and drain time; nodes scale through Managed Node Groups and Cluster Autoscaler; application signals need an adapter or KEDA. SQS absorbs bursts while capacity starts. Limit replicas and provider calls. Add CPU pools, caches or GPUs only when measurements justify them.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Amounts come from the solution assumptions, not from a validated invoice. Resilience and Kubernetes create a minimum cost even with few users. Capacity and usage must be verified; the budget is not a hard cap. Platform controls infrastructure and capacity; AI Engineers control model selection and consumption. The overall economic view includes retries and abandoned journeys. Tag spend by environment and component, apply alerts and limits, and compare cheaper baselines against recovery and operational effort.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reviewed Terraform with remote S3 state, encryption and locking. CI checks infrastructure, application and workflows. Platform and AI teams build one complete journey early and exercise its failures: concurrent confirmations, duplicate, early and late events, lost callbacks, provider unavailability, restarts and deployments. Verify sustainable load, cost and alert ownership. Failures of correctness, residency or recovery block launch. These are planned checks, not tests already executed.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supported analysis and preparation; the decisions remain my responsibility. I kept document checks separate from operational guarantees still to be demonstrated. The confirmations that most affect feasibility are recovery scope, provider guarantees and ownership of review and escalation. Region and residency remain launch conditions even if not all are repeated in the main talk. Leave this slide visible for the discussion.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network view: distinguish Region and VPC. Show public subnets for ALB and NAT, private subnets for EKS and RDS, two AZs, one NAT per AZ, S3 gateway endpoint and regional S3 outside the VPC. SQS and Step Functions are regional managed services outside subnets. WAF is associated with the ALB, not shown as a subnet appliance. Provider connectivity through NAT does not equal residency approval; controls and contracts are still needed.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only if asked for more detail on why the outbox is necessary and what it does not solve. It prevents loss of accepted work between a database commit and a remote call, but it does not guarantee exactly-once delivery. Stable operation identifiers, provider idempotency and reconciliation remain required.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detail is taken from the documented estimate. Public AWS prices were checked on 18 September 2026, with Ireland eu-west-1, one production environment, on-demand Linux nodes, standard EKS/PostgreSQL support, 730 hours/month and no credits, commitments or free-tier deductions. Telemetry and other services remain allowances, not a validated bill.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evidence matrix for launch readiness. Use it to make clear what is planned versus what has been demonstrated. The strongest validation priorities are journey continuity, safe external effects, deployment compatibility, recovery measurement, security and sustainable load.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available for discussion. It collects the material uncertainties that affect the design: recovery scope, residency, provider contracts, operational ownership and traffic/cost assumptions. Emphasize that these do not relax the requirements; they define what must be confirmed or demonstrated.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0780480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it-IT" dirty="0"/>
          </a:p>
        </p:txBody>
      </p:sp>
      <p:sp>
        <p:nvSpPr>
          <p:cNvPr id="4" name="Shape 2"/>
          <p:cNvSpPr/>
          <p:nvPr/>
        </p:nvSpPr>
        <p:spPr>
          <a:xfrm>
            <a:off x="777240" y="1170432"/>
            <a:ext cx="10652760" cy="0"/>
          </a:xfrm>
          <a:prstGeom prst="line">
            <a:avLst/>
          </a:prstGeom>
          <a:noFill/>
          <a:ln w="13970">
            <a:solidFill>
              <a:srgbClr val="D6DEE9"/>
            </a:solidFill>
            <a:prstDash val="solid"/>
          </a:ln>
        </p:spPr>
        <p:txBody>
          <a:bodyPr/>
          <a:lstStyle/>
          <a:p>
            <a:endParaRPr lang="it-IT"/>
          </a:p>
        </p:txBody>
      </p:sp>
      <p:sp>
        <p:nvSpPr>
          <p:cNvPr id="5" name="Text 3"/>
          <p:cNvSpPr/>
          <p:nvPr/>
        </p:nvSpPr>
        <p:spPr>
          <a:xfrm>
            <a:off x="822960" y="1572768"/>
            <a:ext cx="5120640" cy="320040"/>
          </a:xfrm>
          <a:prstGeom prst="rect">
            <a:avLst/>
          </a:prstGeom>
          <a:noFill/>
          <a:ln/>
        </p:spPr>
        <p:txBody>
          <a:bodyPr wrap="square" lIns="0" tIns="0" rIns="0" bIns="0" rtlCol="0" anchor="ctr"/>
          <a:lstStyle/>
          <a:p>
            <a:pPr marL="0" indent="0">
              <a:buNone/>
            </a:pPr>
            <a:r>
              <a:rPr lang="en-US" sz="1500" b="1" dirty="0">
                <a:solidFill>
                  <a:srgbClr val="0B63E5"/>
                </a:solidFill>
                <a:latin typeface="Aptos" pitchFamily="34" charset="0"/>
                <a:ea typeface="Aptos" pitchFamily="34" charset="-122"/>
                <a:cs typeface="Aptos" pitchFamily="34" charset="-120"/>
              </a:rPr>
              <a:t>MERIDIAN TELECOM</a:t>
            </a:r>
            <a:endParaRPr lang="en-US" sz="1500" dirty="0"/>
          </a:p>
        </p:txBody>
      </p:sp>
      <p:sp>
        <p:nvSpPr>
          <p:cNvPr id="6" name="Text 4"/>
          <p:cNvSpPr/>
          <p:nvPr/>
        </p:nvSpPr>
        <p:spPr>
          <a:xfrm>
            <a:off x="804672" y="2057400"/>
            <a:ext cx="9875520" cy="1325880"/>
          </a:xfrm>
          <a:prstGeom prst="rect">
            <a:avLst/>
          </a:prstGeom>
          <a:noFill/>
          <a:ln/>
        </p:spPr>
        <p:txBody>
          <a:bodyPr wrap="square" lIns="0" tIns="0" rIns="0" bIns="0" rtlCol="0" anchor="ctr">
            <a:normAutofit/>
          </a:bodyPr>
          <a:lstStyle/>
          <a:p>
            <a:pPr marL="0" indent="0">
              <a:buNone/>
            </a:pPr>
            <a:r>
              <a:rPr lang="en-US" sz="4200" b="1" dirty="0">
                <a:solidFill>
                  <a:srgbClr val="07133D"/>
                </a:solidFill>
                <a:latin typeface="Aptos Display" pitchFamily="34" charset="0"/>
                <a:ea typeface="Aptos Display" pitchFamily="34" charset="-122"/>
                <a:cs typeface="Aptos Display" pitchFamily="34" charset="-120"/>
              </a:rPr>
              <a:t>Platform Engineer</a:t>
            </a:r>
            <a:endParaRPr lang="en-US" sz="4200" dirty="0"/>
          </a:p>
          <a:p>
            <a:pPr marL="0" indent="0">
              <a:buNone/>
            </a:pPr>
            <a:r>
              <a:rPr lang="en-US" sz="4200" b="1" dirty="0">
                <a:solidFill>
                  <a:srgbClr val="07133D"/>
                </a:solidFill>
                <a:latin typeface="Aptos Display" pitchFamily="34" charset="0"/>
                <a:ea typeface="Aptos Display" pitchFamily="34" charset="-122"/>
                <a:cs typeface="Aptos Display" pitchFamily="34" charset="-120"/>
              </a:rPr>
              <a:t>Take-Home Assignment</a:t>
            </a:r>
            <a:endParaRPr lang="en-US" sz="4200" dirty="0"/>
          </a:p>
        </p:txBody>
      </p:sp>
      <p:sp>
        <p:nvSpPr>
          <p:cNvPr id="7" name="Text 5"/>
          <p:cNvSpPr/>
          <p:nvPr/>
        </p:nvSpPr>
        <p:spPr>
          <a:xfrm>
            <a:off x="841248" y="3639312"/>
            <a:ext cx="8046720" cy="347472"/>
          </a:xfrm>
          <a:prstGeom prst="rect">
            <a:avLst/>
          </a:prstGeom>
          <a:noFill/>
          <a:ln/>
        </p:spPr>
        <p:txBody>
          <a:bodyPr wrap="square" lIns="0" tIns="0" rIns="0" bIns="0" rtlCol="0" anchor="ctr"/>
          <a:lstStyle/>
          <a:p>
            <a:pPr marL="0" indent="0">
              <a:buNone/>
            </a:pPr>
            <a:r>
              <a:rPr lang="en-US" sz="2000" dirty="0">
                <a:solidFill>
                  <a:srgbClr val="5B6475"/>
                </a:solidFill>
                <a:latin typeface="Aptos" pitchFamily="34" charset="0"/>
                <a:ea typeface="Aptos" pitchFamily="34" charset="-122"/>
                <a:cs typeface="Aptos" pitchFamily="34" charset="-120"/>
              </a:rPr>
              <a:t>Platform Architecture and Software specifications</a:t>
            </a:r>
            <a:endParaRPr lang="en-US" sz="2000" dirty="0"/>
          </a:p>
        </p:txBody>
      </p:sp>
      <p:sp>
        <p:nvSpPr>
          <p:cNvPr id="9" name="Text 7"/>
          <p:cNvSpPr/>
          <p:nvPr/>
        </p:nvSpPr>
        <p:spPr>
          <a:xfrm>
            <a:off x="850392" y="5468112"/>
            <a:ext cx="4663440" cy="219456"/>
          </a:xfrm>
          <a:prstGeom prst="rect">
            <a:avLst/>
          </a:prstGeom>
          <a:noFill/>
          <a:ln/>
        </p:spPr>
        <p:txBody>
          <a:bodyPr wrap="square" lIns="0" tIns="0" rIns="0" bIns="0" rtlCol="0" anchor="ctr"/>
          <a:lstStyle/>
          <a:p>
            <a:pPr marL="0" indent="0">
              <a:buNone/>
            </a:pPr>
            <a:r>
              <a:rPr lang="en-US" sz="1700" b="1" dirty="0">
                <a:solidFill>
                  <a:srgbClr val="07133D"/>
                </a:solidFill>
                <a:latin typeface="Aptos" pitchFamily="34" charset="0"/>
                <a:ea typeface="Aptos" pitchFamily="34" charset="-122"/>
                <a:cs typeface="Aptos" pitchFamily="34" charset="-120"/>
              </a:rPr>
              <a:t>Mattia Vincenzi</a:t>
            </a:r>
            <a:endParaRPr lang="en-US" sz="1700" dirty="0"/>
          </a:p>
        </p:txBody>
      </p:sp>
      <p:sp>
        <p:nvSpPr>
          <p:cNvPr id="10" name="Text 8"/>
          <p:cNvSpPr/>
          <p:nvPr/>
        </p:nvSpPr>
        <p:spPr>
          <a:xfrm>
            <a:off x="859536" y="5742432"/>
            <a:ext cx="2560320" cy="228600"/>
          </a:xfrm>
          <a:prstGeom prst="rect">
            <a:avLst/>
          </a:prstGeom>
          <a:noFill/>
          <a:ln/>
        </p:spPr>
        <p:txBody>
          <a:bodyPr wrap="square" lIns="0" tIns="0" rIns="0" bIns="0" rtlCol="0" anchor="ctr"/>
          <a:lstStyle/>
          <a:p>
            <a:pPr marL="0" indent="0">
              <a:buNone/>
            </a:pPr>
            <a:r>
              <a:rPr lang="en-US" sz="1250" dirty="0">
                <a:solidFill>
                  <a:srgbClr val="5B6475"/>
                </a:solidFill>
                <a:latin typeface="Aptos" pitchFamily="34" charset="0"/>
                <a:ea typeface="Aptos" pitchFamily="34" charset="-122"/>
                <a:cs typeface="Aptos" pitchFamily="34" charset="-120"/>
              </a:rPr>
              <a:t>Date: 24/09/2026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5128D-8E86-B829-7F4D-2C76FDC9A08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811985E-482F-5A1E-CFB3-38FCB2691487}"/>
              </a:ext>
            </a:extLst>
          </p:cNvPr>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sp>
        <p:nvSpPr>
          <p:cNvPr id="3" name="Text 1">
            <a:extLst>
              <a:ext uri="{FF2B5EF4-FFF2-40B4-BE49-F238E27FC236}">
                <a16:creationId xmlns:a16="http://schemas.microsoft.com/office/drawing/2014/main" id="{7E63F7F2-395C-2202-AAED-796D46E2307A}"/>
              </a:ext>
            </a:extLst>
          </p:cNvPr>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Requirements and Open Points </a:t>
            </a:r>
            <a:endParaRPr lang="en-US" sz="2750" dirty="0"/>
          </a:p>
        </p:txBody>
      </p:sp>
      <p:sp>
        <p:nvSpPr>
          <p:cNvPr id="5" name="Shape 3">
            <a:extLst>
              <a:ext uri="{FF2B5EF4-FFF2-40B4-BE49-F238E27FC236}">
                <a16:creationId xmlns:a16="http://schemas.microsoft.com/office/drawing/2014/main" id="{970E0A8E-4D56-5084-82D4-6F905B56602B}"/>
              </a:ext>
            </a:extLst>
          </p:cNvPr>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6" name="Shape 4">
            <a:extLst>
              <a:ext uri="{FF2B5EF4-FFF2-40B4-BE49-F238E27FC236}">
                <a16:creationId xmlns:a16="http://schemas.microsoft.com/office/drawing/2014/main" id="{3148EE6F-2796-40B4-8859-3D177CF559C2}"/>
              </a:ext>
            </a:extLst>
          </p:cNvPr>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7" name="Text 5">
            <a:extLst>
              <a:ext uri="{FF2B5EF4-FFF2-40B4-BE49-F238E27FC236}">
                <a16:creationId xmlns:a16="http://schemas.microsoft.com/office/drawing/2014/main" id="{3974115F-23E9-C01C-B5FD-8464584041C9}"/>
              </a:ext>
            </a:extLst>
          </p:cNvPr>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1/10</a:t>
            </a:r>
            <a:endParaRPr lang="en-US" sz="850" dirty="0"/>
          </a:p>
        </p:txBody>
      </p:sp>
      <p:sp>
        <p:nvSpPr>
          <p:cNvPr id="11" name="Shape 9">
            <a:extLst>
              <a:ext uri="{FF2B5EF4-FFF2-40B4-BE49-F238E27FC236}">
                <a16:creationId xmlns:a16="http://schemas.microsoft.com/office/drawing/2014/main" id="{31222964-3BF4-12A1-CE7A-9942C513F34C}"/>
              </a:ext>
            </a:extLst>
          </p:cNvPr>
          <p:cNvSpPr/>
          <p:nvPr/>
        </p:nvSpPr>
        <p:spPr>
          <a:xfrm>
            <a:off x="1423194" y="4695119"/>
            <a:ext cx="1253955" cy="520844"/>
          </a:xfrm>
          <a:prstGeom prst="roundRect">
            <a:avLst>
              <a:gd name="adj" fmla="val 10959"/>
            </a:avLst>
          </a:prstGeom>
          <a:solidFill>
            <a:srgbClr val="EAF5FF"/>
          </a:solidFill>
          <a:ln w="13970">
            <a:solidFill>
              <a:srgbClr val="0B63E5"/>
            </a:solidFill>
            <a:prstDash val="solid"/>
          </a:ln>
        </p:spPr>
        <p:txBody>
          <a:bodyPr/>
          <a:lstStyle/>
          <a:p>
            <a:endParaRPr lang="it-IT"/>
          </a:p>
        </p:txBody>
      </p:sp>
      <p:sp>
        <p:nvSpPr>
          <p:cNvPr id="12" name="Text 10">
            <a:extLst>
              <a:ext uri="{FF2B5EF4-FFF2-40B4-BE49-F238E27FC236}">
                <a16:creationId xmlns:a16="http://schemas.microsoft.com/office/drawing/2014/main" id="{C4F91B79-EB12-419B-8725-F7B2C4BED056}"/>
              </a:ext>
            </a:extLst>
          </p:cNvPr>
          <p:cNvSpPr/>
          <p:nvPr/>
        </p:nvSpPr>
        <p:spPr>
          <a:xfrm>
            <a:off x="1423194" y="4837149"/>
            <a:ext cx="1253955" cy="211093"/>
          </a:xfrm>
          <a:prstGeom prst="rect">
            <a:avLst/>
          </a:prstGeom>
          <a:noFill/>
          <a:ln/>
        </p:spPr>
        <p:txBody>
          <a:bodyPr wrap="square" lIns="0" tIns="0" rIns="0" bIns="0" rtlCol="0" anchor="ctr">
            <a:normAutofit/>
          </a:bodyPr>
          <a:lstStyle/>
          <a:p>
            <a:pPr marL="0" indent="0" algn="ctr">
              <a:buNone/>
            </a:pPr>
            <a:r>
              <a:rPr lang="en-US" sz="1220" b="1" dirty="0">
                <a:solidFill>
                  <a:srgbClr val="07133D"/>
                </a:solidFill>
              </a:rPr>
              <a:t>Chat/Offer</a:t>
            </a:r>
            <a:endParaRPr lang="en-US" sz="1220" dirty="0"/>
          </a:p>
        </p:txBody>
      </p:sp>
      <p:sp>
        <p:nvSpPr>
          <p:cNvPr id="14" name="Shape 12">
            <a:extLst>
              <a:ext uri="{FF2B5EF4-FFF2-40B4-BE49-F238E27FC236}">
                <a16:creationId xmlns:a16="http://schemas.microsoft.com/office/drawing/2014/main" id="{51ABE17C-1722-5C76-C196-72C0BA75FAB7}"/>
              </a:ext>
            </a:extLst>
          </p:cNvPr>
          <p:cNvSpPr/>
          <p:nvPr/>
        </p:nvSpPr>
        <p:spPr>
          <a:xfrm>
            <a:off x="2838146" y="4938058"/>
            <a:ext cx="400746" cy="0"/>
          </a:xfrm>
          <a:prstGeom prst="line">
            <a:avLst/>
          </a:prstGeom>
          <a:noFill/>
          <a:ln w="17780">
            <a:solidFill>
              <a:srgbClr val="0B63E5"/>
            </a:solidFill>
            <a:prstDash val="solid"/>
            <a:tailEnd type="triangle"/>
          </a:ln>
        </p:spPr>
        <p:txBody>
          <a:bodyPr/>
          <a:lstStyle/>
          <a:p>
            <a:endParaRPr lang="it-IT"/>
          </a:p>
        </p:txBody>
      </p:sp>
      <p:sp>
        <p:nvSpPr>
          <p:cNvPr id="51" name="Shape 9">
            <a:extLst>
              <a:ext uri="{FF2B5EF4-FFF2-40B4-BE49-F238E27FC236}">
                <a16:creationId xmlns:a16="http://schemas.microsoft.com/office/drawing/2014/main" id="{40CDE9A9-3FB1-2611-8330-9C8119046709}"/>
              </a:ext>
            </a:extLst>
          </p:cNvPr>
          <p:cNvSpPr/>
          <p:nvPr/>
        </p:nvSpPr>
        <p:spPr>
          <a:xfrm>
            <a:off x="3399889" y="4695119"/>
            <a:ext cx="1253955" cy="520844"/>
          </a:xfrm>
          <a:prstGeom prst="roundRect">
            <a:avLst>
              <a:gd name="adj" fmla="val 10959"/>
            </a:avLst>
          </a:prstGeom>
          <a:solidFill>
            <a:srgbClr val="EAF5FF"/>
          </a:solidFill>
          <a:ln w="13970">
            <a:solidFill>
              <a:srgbClr val="0B63E5"/>
            </a:solidFill>
            <a:prstDash val="solid"/>
          </a:ln>
        </p:spPr>
        <p:txBody>
          <a:bodyPr/>
          <a:lstStyle/>
          <a:p>
            <a:endParaRPr lang="it-IT"/>
          </a:p>
        </p:txBody>
      </p:sp>
      <p:sp>
        <p:nvSpPr>
          <p:cNvPr id="52" name="Text 10">
            <a:extLst>
              <a:ext uri="{FF2B5EF4-FFF2-40B4-BE49-F238E27FC236}">
                <a16:creationId xmlns:a16="http://schemas.microsoft.com/office/drawing/2014/main" id="{4015736F-12D4-919C-1A07-9306F4C95025}"/>
              </a:ext>
            </a:extLst>
          </p:cNvPr>
          <p:cNvSpPr/>
          <p:nvPr/>
        </p:nvSpPr>
        <p:spPr>
          <a:xfrm>
            <a:off x="3399889" y="4837149"/>
            <a:ext cx="1253955" cy="211093"/>
          </a:xfrm>
          <a:prstGeom prst="rect">
            <a:avLst/>
          </a:prstGeom>
          <a:noFill/>
          <a:ln/>
        </p:spPr>
        <p:txBody>
          <a:bodyPr wrap="square" lIns="0" tIns="0" rIns="0" bIns="0" rtlCol="0" anchor="ctr">
            <a:normAutofit/>
          </a:bodyPr>
          <a:lstStyle/>
          <a:p>
            <a:pPr marL="0" indent="0" algn="ctr">
              <a:buNone/>
            </a:pPr>
            <a:r>
              <a:rPr lang="en-US" sz="1220" b="1" dirty="0">
                <a:solidFill>
                  <a:srgbClr val="07133D"/>
                </a:solidFill>
              </a:rPr>
              <a:t>Identity Check</a:t>
            </a:r>
            <a:endParaRPr lang="en-US" sz="1220" dirty="0"/>
          </a:p>
        </p:txBody>
      </p:sp>
      <p:sp>
        <p:nvSpPr>
          <p:cNvPr id="53" name="Shape 12">
            <a:extLst>
              <a:ext uri="{FF2B5EF4-FFF2-40B4-BE49-F238E27FC236}">
                <a16:creationId xmlns:a16="http://schemas.microsoft.com/office/drawing/2014/main" id="{887BE672-8707-F83B-CEB9-1792CA88A09D}"/>
              </a:ext>
            </a:extLst>
          </p:cNvPr>
          <p:cNvSpPr/>
          <p:nvPr/>
        </p:nvSpPr>
        <p:spPr>
          <a:xfrm>
            <a:off x="4814841" y="4938058"/>
            <a:ext cx="400746" cy="0"/>
          </a:xfrm>
          <a:prstGeom prst="line">
            <a:avLst/>
          </a:prstGeom>
          <a:noFill/>
          <a:ln w="17780">
            <a:solidFill>
              <a:srgbClr val="0B63E5"/>
            </a:solidFill>
            <a:prstDash val="solid"/>
            <a:tailEnd type="triangle"/>
          </a:ln>
        </p:spPr>
        <p:txBody>
          <a:bodyPr/>
          <a:lstStyle/>
          <a:p>
            <a:endParaRPr lang="it-IT"/>
          </a:p>
        </p:txBody>
      </p:sp>
      <p:sp>
        <p:nvSpPr>
          <p:cNvPr id="54" name="Shape 9">
            <a:extLst>
              <a:ext uri="{FF2B5EF4-FFF2-40B4-BE49-F238E27FC236}">
                <a16:creationId xmlns:a16="http://schemas.microsoft.com/office/drawing/2014/main" id="{C2DE9764-BA3E-9901-357C-AE42A2FFD347}"/>
              </a:ext>
            </a:extLst>
          </p:cNvPr>
          <p:cNvSpPr/>
          <p:nvPr/>
        </p:nvSpPr>
        <p:spPr>
          <a:xfrm>
            <a:off x="5376584" y="4695119"/>
            <a:ext cx="1253955" cy="520844"/>
          </a:xfrm>
          <a:prstGeom prst="roundRect">
            <a:avLst>
              <a:gd name="adj" fmla="val 10959"/>
            </a:avLst>
          </a:prstGeom>
          <a:solidFill>
            <a:srgbClr val="EAF5FF"/>
          </a:solidFill>
          <a:ln w="13970">
            <a:solidFill>
              <a:srgbClr val="0B63E5"/>
            </a:solidFill>
            <a:prstDash val="solid"/>
          </a:ln>
        </p:spPr>
        <p:txBody>
          <a:bodyPr/>
          <a:lstStyle/>
          <a:p>
            <a:endParaRPr lang="it-IT"/>
          </a:p>
        </p:txBody>
      </p:sp>
      <p:sp>
        <p:nvSpPr>
          <p:cNvPr id="55" name="Text 10">
            <a:extLst>
              <a:ext uri="{FF2B5EF4-FFF2-40B4-BE49-F238E27FC236}">
                <a16:creationId xmlns:a16="http://schemas.microsoft.com/office/drawing/2014/main" id="{37688FCE-60D6-0730-9004-6DEEC12666BF}"/>
              </a:ext>
            </a:extLst>
          </p:cNvPr>
          <p:cNvSpPr/>
          <p:nvPr/>
        </p:nvSpPr>
        <p:spPr>
          <a:xfrm>
            <a:off x="5376583" y="4846979"/>
            <a:ext cx="1253955" cy="211093"/>
          </a:xfrm>
          <a:prstGeom prst="rect">
            <a:avLst/>
          </a:prstGeom>
          <a:noFill/>
          <a:ln/>
        </p:spPr>
        <p:txBody>
          <a:bodyPr wrap="square" lIns="0" tIns="0" rIns="0" bIns="0" rtlCol="0" anchor="ctr">
            <a:normAutofit/>
          </a:bodyPr>
          <a:lstStyle/>
          <a:p>
            <a:pPr marL="0" indent="0" algn="ctr">
              <a:buNone/>
            </a:pPr>
            <a:r>
              <a:rPr lang="en-US" sz="1220" b="1" dirty="0"/>
              <a:t>Payment</a:t>
            </a:r>
          </a:p>
        </p:txBody>
      </p:sp>
      <p:sp>
        <p:nvSpPr>
          <p:cNvPr id="56" name="Shape 12">
            <a:extLst>
              <a:ext uri="{FF2B5EF4-FFF2-40B4-BE49-F238E27FC236}">
                <a16:creationId xmlns:a16="http://schemas.microsoft.com/office/drawing/2014/main" id="{5C2F9F08-7FD2-C003-9486-374E2FE74217}"/>
              </a:ext>
            </a:extLst>
          </p:cNvPr>
          <p:cNvSpPr/>
          <p:nvPr/>
        </p:nvSpPr>
        <p:spPr>
          <a:xfrm>
            <a:off x="6791536" y="4953171"/>
            <a:ext cx="400746" cy="0"/>
          </a:xfrm>
          <a:prstGeom prst="line">
            <a:avLst/>
          </a:prstGeom>
          <a:noFill/>
          <a:ln w="17780">
            <a:solidFill>
              <a:srgbClr val="0B63E5"/>
            </a:solidFill>
            <a:prstDash val="solid"/>
            <a:tailEnd type="triangle"/>
          </a:ln>
        </p:spPr>
        <p:txBody>
          <a:bodyPr/>
          <a:lstStyle/>
          <a:p>
            <a:endParaRPr lang="it-IT"/>
          </a:p>
        </p:txBody>
      </p:sp>
      <p:sp>
        <p:nvSpPr>
          <p:cNvPr id="57" name="Shape 9">
            <a:extLst>
              <a:ext uri="{FF2B5EF4-FFF2-40B4-BE49-F238E27FC236}">
                <a16:creationId xmlns:a16="http://schemas.microsoft.com/office/drawing/2014/main" id="{58B3BEA7-CCF9-B501-3506-B36CAEFBE350}"/>
              </a:ext>
            </a:extLst>
          </p:cNvPr>
          <p:cNvSpPr/>
          <p:nvPr/>
        </p:nvSpPr>
        <p:spPr>
          <a:xfrm>
            <a:off x="7353279" y="4710232"/>
            <a:ext cx="1253955" cy="520844"/>
          </a:xfrm>
          <a:prstGeom prst="roundRect">
            <a:avLst>
              <a:gd name="adj" fmla="val 10959"/>
            </a:avLst>
          </a:prstGeom>
          <a:solidFill>
            <a:srgbClr val="EAF5FF"/>
          </a:solidFill>
          <a:ln w="13970">
            <a:solidFill>
              <a:srgbClr val="0B63E5"/>
            </a:solidFill>
            <a:prstDash val="solid"/>
          </a:ln>
        </p:spPr>
        <p:txBody>
          <a:bodyPr/>
          <a:lstStyle/>
          <a:p>
            <a:endParaRPr lang="it-IT"/>
          </a:p>
        </p:txBody>
      </p:sp>
      <p:sp>
        <p:nvSpPr>
          <p:cNvPr id="58" name="Text 10">
            <a:extLst>
              <a:ext uri="{FF2B5EF4-FFF2-40B4-BE49-F238E27FC236}">
                <a16:creationId xmlns:a16="http://schemas.microsoft.com/office/drawing/2014/main" id="{B77555F6-24E4-BBDF-B269-690F77448C15}"/>
              </a:ext>
            </a:extLst>
          </p:cNvPr>
          <p:cNvSpPr/>
          <p:nvPr/>
        </p:nvSpPr>
        <p:spPr>
          <a:xfrm>
            <a:off x="7353278" y="4862092"/>
            <a:ext cx="1253955" cy="211093"/>
          </a:xfrm>
          <a:prstGeom prst="rect">
            <a:avLst/>
          </a:prstGeom>
          <a:noFill/>
          <a:ln/>
        </p:spPr>
        <p:txBody>
          <a:bodyPr wrap="square" lIns="0" tIns="0" rIns="0" bIns="0" rtlCol="0" anchor="ctr">
            <a:normAutofit/>
          </a:bodyPr>
          <a:lstStyle/>
          <a:p>
            <a:pPr marL="0" indent="0" algn="ctr">
              <a:buNone/>
            </a:pPr>
            <a:r>
              <a:rPr lang="en-US" sz="1220" b="1" dirty="0"/>
              <a:t>SIM Delivery</a:t>
            </a:r>
          </a:p>
        </p:txBody>
      </p:sp>
      <p:sp>
        <p:nvSpPr>
          <p:cNvPr id="59" name="Shape 12">
            <a:extLst>
              <a:ext uri="{FF2B5EF4-FFF2-40B4-BE49-F238E27FC236}">
                <a16:creationId xmlns:a16="http://schemas.microsoft.com/office/drawing/2014/main" id="{0E062302-948E-4018-42C4-A98D3DB62305}"/>
              </a:ext>
            </a:extLst>
          </p:cNvPr>
          <p:cNvSpPr/>
          <p:nvPr/>
        </p:nvSpPr>
        <p:spPr>
          <a:xfrm>
            <a:off x="8768230" y="4968284"/>
            <a:ext cx="400746" cy="0"/>
          </a:xfrm>
          <a:prstGeom prst="line">
            <a:avLst/>
          </a:prstGeom>
          <a:noFill/>
          <a:ln w="17780">
            <a:solidFill>
              <a:srgbClr val="0B63E5"/>
            </a:solidFill>
            <a:prstDash val="solid"/>
            <a:tailEnd type="triangle"/>
          </a:ln>
        </p:spPr>
        <p:txBody>
          <a:bodyPr/>
          <a:lstStyle/>
          <a:p>
            <a:endParaRPr lang="it-IT"/>
          </a:p>
        </p:txBody>
      </p:sp>
      <p:sp>
        <p:nvSpPr>
          <p:cNvPr id="60" name="Shape 9">
            <a:extLst>
              <a:ext uri="{FF2B5EF4-FFF2-40B4-BE49-F238E27FC236}">
                <a16:creationId xmlns:a16="http://schemas.microsoft.com/office/drawing/2014/main" id="{A46EB4E7-51A2-347C-56D1-86DC2708399C}"/>
              </a:ext>
            </a:extLst>
          </p:cNvPr>
          <p:cNvSpPr/>
          <p:nvPr/>
        </p:nvSpPr>
        <p:spPr>
          <a:xfrm>
            <a:off x="9329973" y="4725345"/>
            <a:ext cx="1253955" cy="520844"/>
          </a:xfrm>
          <a:prstGeom prst="roundRect">
            <a:avLst>
              <a:gd name="adj" fmla="val 10959"/>
            </a:avLst>
          </a:prstGeom>
          <a:solidFill>
            <a:srgbClr val="EAF5FF"/>
          </a:solidFill>
          <a:ln w="13970">
            <a:solidFill>
              <a:srgbClr val="0B63E5"/>
            </a:solidFill>
            <a:prstDash val="solid"/>
          </a:ln>
        </p:spPr>
        <p:txBody>
          <a:bodyPr/>
          <a:lstStyle/>
          <a:p>
            <a:endParaRPr lang="it-IT"/>
          </a:p>
        </p:txBody>
      </p:sp>
      <p:sp>
        <p:nvSpPr>
          <p:cNvPr id="61" name="Text 10">
            <a:extLst>
              <a:ext uri="{FF2B5EF4-FFF2-40B4-BE49-F238E27FC236}">
                <a16:creationId xmlns:a16="http://schemas.microsoft.com/office/drawing/2014/main" id="{638F619D-9AE8-9853-0F6B-EF817153B048}"/>
              </a:ext>
            </a:extLst>
          </p:cNvPr>
          <p:cNvSpPr/>
          <p:nvPr/>
        </p:nvSpPr>
        <p:spPr>
          <a:xfrm>
            <a:off x="9329972" y="4877205"/>
            <a:ext cx="1253955" cy="211093"/>
          </a:xfrm>
          <a:prstGeom prst="rect">
            <a:avLst/>
          </a:prstGeom>
          <a:noFill/>
          <a:ln/>
        </p:spPr>
        <p:txBody>
          <a:bodyPr wrap="square" lIns="0" tIns="0" rIns="0" bIns="0" rtlCol="0" anchor="ctr">
            <a:normAutofit/>
          </a:bodyPr>
          <a:lstStyle/>
          <a:p>
            <a:pPr marL="0" indent="0" algn="ctr">
              <a:buNone/>
            </a:pPr>
            <a:r>
              <a:rPr lang="en-US" sz="1220" b="1" dirty="0"/>
              <a:t>Activation</a:t>
            </a:r>
          </a:p>
        </p:txBody>
      </p:sp>
      <p:sp>
        <p:nvSpPr>
          <p:cNvPr id="4" name="Shape 0">
            <a:extLst>
              <a:ext uri="{FF2B5EF4-FFF2-40B4-BE49-F238E27FC236}">
                <a16:creationId xmlns:a16="http://schemas.microsoft.com/office/drawing/2014/main" id="{A3D944A2-9F79-217F-9F61-665CA8C98CA6}"/>
              </a:ext>
            </a:extLst>
          </p:cNvPr>
          <p:cNvSpPr/>
          <p:nvPr/>
        </p:nvSpPr>
        <p:spPr>
          <a:xfrm>
            <a:off x="548640" y="1498349"/>
            <a:ext cx="5554980" cy="438912"/>
          </a:xfrm>
          <a:prstGeom prst="rect">
            <a:avLst/>
          </a:prstGeom>
          <a:solidFill>
            <a:srgbClr val="07133D"/>
          </a:solidFill>
          <a:ln w="6350">
            <a:solidFill>
              <a:srgbClr val="FFFFFF"/>
            </a:solidFill>
            <a:prstDash val="solid"/>
          </a:ln>
        </p:spPr>
        <p:txBody>
          <a:bodyPr/>
          <a:lstStyle/>
          <a:p>
            <a:endParaRPr lang="it-IT"/>
          </a:p>
        </p:txBody>
      </p:sp>
      <p:sp>
        <p:nvSpPr>
          <p:cNvPr id="8" name="Shape 1">
            <a:extLst>
              <a:ext uri="{FF2B5EF4-FFF2-40B4-BE49-F238E27FC236}">
                <a16:creationId xmlns:a16="http://schemas.microsoft.com/office/drawing/2014/main" id="{7D363158-A784-94F9-CA35-95978AD392BE}"/>
              </a:ext>
            </a:extLst>
          </p:cNvPr>
          <p:cNvSpPr/>
          <p:nvPr/>
        </p:nvSpPr>
        <p:spPr>
          <a:xfrm>
            <a:off x="6103620" y="1498349"/>
            <a:ext cx="5554980" cy="438912"/>
          </a:xfrm>
          <a:prstGeom prst="rect">
            <a:avLst/>
          </a:prstGeom>
          <a:solidFill>
            <a:srgbClr val="07133D"/>
          </a:solidFill>
          <a:ln w="6350">
            <a:solidFill>
              <a:srgbClr val="FFFFFF"/>
            </a:solidFill>
            <a:prstDash val="solid"/>
          </a:ln>
        </p:spPr>
        <p:txBody>
          <a:bodyPr/>
          <a:lstStyle/>
          <a:p>
            <a:endParaRPr lang="it-IT"/>
          </a:p>
        </p:txBody>
      </p:sp>
      <p:sp>
        <p:nvSpPr>
          <p:cNvPr id="9" name="Shape 2">
            <a:extLst>
              <a:ext uri="{FF2B5EF4-FFF2-40B4-BE49-F238E27FC236}">
                <a16:creationId xmlns:a16="http://schemas.microsoft.com/office/drawing/2014/main" id="{42E1D3B9-C71C-1264-F7DE-5CC58CCD1371}"/>
              </a:ext>
            </a:extLst>
          </p:cNvPr>
          <p:cNvSpPr/>
          <p:nvPr/>
        </p:nvSpPr>
        <p:spPr>
          <a:xfrm>
            <a:off x="548640" y="1937261"/>
            <a:ext cx="5554980" cy="2057400"/>
          </a:xfrm>
          <a:prstGeom prst="rect">
            <a:avLst/>
          </a:prstGeom>
          <a:solidFill>
            <a:srgbClr val="F4F8FC"/>
          </a:solidFill>
          <a:ln w="11430">
            <a:solidFill>
              <a:srgbClr val="1F2D3D"/>
            </a:solidFill>
            <a:prstDash val="solid"/>
          </a:ln>
        </p:spPr>
        <p:txBody>
          <a:bodyPr/>
          <a:lstStyle/>
          <a:p>
            <a:endParaRPr lang="it-IT" sz="1400">
              <a:latin typeface="Aptos" panose="020B0004020202020204" pitchFamily="34" charset="0"/>
            </a:endParaRPr>
          </a:p>
        </p:txBody>
      </p:sp>
      <p:sp>
        <p:nvSpPr>
          <p:cNvPr id="10" name="Shape 3">
            <a:extLst>
              <a:ext uri="{FF2B5EF4-FFF2-40B4-BE49-F238E27FC236}">
                <a16:creationId xmlns:a16="http://schemas.microsoft.com/office/drawing/2014/main" id="{06D3D24E-C572-9C32-232D-882A10801ED2}"/>
              </a:ext>
            </a:extLst>
          </p:cNvPr>
          <p:cNvSpPr/>
          <p:nvPr/>
        </p:nvSpPr>
        <p:spPr>
          <a:xfrm>
            <a:off x="6103620" y="1937261"/>
            <a:ext cx="5554980" cy="2057400"/>
          </a:xfrm>
          <a:prstGeom prst="rect">
            <a:avLst/>
          </a:prstGeom>
          <a:solidFill>
            <a:srgbClr val="F4F8FC"/>
          </a:solidFill>
          <a:ln w="11430">
            <a:solidFill>
              <a:srgbClr val="1F2D3D"/>
            </a:solidFill>
            <a:prstDash val="solid"/>
          </a:ln>
        </p:spPr>
        <p:txBody>
          <a:bodyPr/>
          <a:lstStyle/>
          <a:p>
            <a:endParaRPr lang="it-IT" sz="1400">
              <a:latin typeface="Aptos" panose="020B0004020202020204" pitchFamily="34" charset="0"/>
            </a:endParaRPr>
          </a:p>
        </p:txBody>
      </p:sp>
      <p:sp>
        <p:nvSpPr>
          <p:cNvPr id="13" name="Text 4">
            <a:extLst>
              <a:ext uri="{FF2B5EF4-FFF2-40B4-BE49-F238E27FC236}">
                <a16:creationId xmlns:a16="http://schemas.microsoft.com/office/drawing/2014/main" id="{BC3756AB-C32A-7261-09E3-589215B13795}"/>
              </a:ext>
            </a:extLst>
          </p:cNvPr>
          <p:cNvSpPr/>
          <p:nvPr/>
        </p:nvSpPr>
        <p:spPr>
          <a:xfrm>
            <a:off x="685800" y="1617221"/>
            <a:ext cx="5280660" cy="201168"/>
          </a:xfrm>
          <a:prstGeom prst="rect">
            <a:avLst/>
          </a:prstGeom>
          <a:noFill/>
          <a:ln/>
        </p:spPr>
        <p:txBody>
          <a:bodyPr wrap="square" lIns="0" tIns="0" rIns="0" bIns="0" rtlCol="0" anchor="t">
            <a:noAutofit/>
          </a:bodyPr>
          <a:lstStyle/>
          <a:p>
            <a:pPr marL="0" indent="0" algn="l">
              <a:buNone/>
            </a:pPr>
            <a:r>
              <a:rPr lang="en-US" sz="1400" b="1" dirty="0">
                <a:solidFill>
                  <a:schemeClr val="bg1"/>
                </a:solidFill>
                <a:latin typeface="Aptos" panose="020B0004020202020204" pitchFamily="34" charset="0"/>
                <a:ea typeface="Aptos" pitchFamily="34" charset="-122"/>
                <a:cs typeface="Aptos" pitchFamily="34" charset="-120"/>
              </a:rPr>
              <a:t>Platform Goals</a:t>
            </a:r>
            <a:endParaRPr lang="en-US" sz="1400" dirty="0">
              <a:solidFill>
                <a:schemeClr val="bg1"/>
              </a:solidFill>
              <a:latin typeface="Aptos" panose="020B0004020202020204" pitchFamily="34" charset="0"/>
            </a:endParaRPr>
          </a:p>
        </p:txBody>
      </p:sp>
      <p:sp>
        <p:nvSpPr>
          <p:cNvPr id="15" name="Text 5">
            <a:extLst>
              <a:ext uri="{FF2B5EF4-FFF2-40B4-BE49-F238E27FC236}">
                <a16:creationId xmlns:a16="http://schemas.microsoft.com/office/drawing/2014/main" id="{45BD3569-1FC8-D9FC-D98A-D5E91FF8D6B6}"/>
              </a:ext>
            </a:extLst>
          </p:cNvPr>
          <p:cNvSpPr/>
          <p:nvPr/>
        </p:nvSpPr>
        <p:spPr>
          <a:xfrm>
            <a:off x="6240780" y="1617221"/>
            <a:ext cx="5280660" cy="201168"/>
          </a:xfrm>
          <a:prstGeom prst="rect">
            <a:avLst/>
          </a:prstGeom>
          <a:noFill/>
          <a:ln/>
        </p:spPr>
        <p:txBody>
          <a:bodyPr wrap="square" lIns="0" tIns="0" rIns="0" bIns="0" rtlCol="0" anchor="t">
            <a:noAutofit/>
          </a:bodyPr>
          <a:lstStyle/>
          <a:p>
            <a:pPr marL="0" indent="0" algn="l">
              <a:buNone/>
            </a:pPr>
            <a:r>
              <a:rPr lang="en-US" sz="1400" b="1" dirty="0">
                <a:solidFill>
                  <a:schemeClr val="bg1"/>
                </a:solidFill>
                <a:latin typeface="Aptos" panose="020B0004020202020204" pitchFamily="34" charset="0"/>
                <a:ea typeface="Aptos" pitchFamily="34" charset="-122"/>
                <a:cs typeface="Aptos" pitchFamily="34" charset="-120"/>
              </a:rPr>
              <a:t>Hard Constraints</a:t>
            </a:r>
            <a:endParaRPr lang="en-US" sz="1400" dirty="0">
              <a:solidFill>
                <a:schemeClr val="bg1"/>
              </a:solidFill>
              <a:latin typeface="Aptos" panose="020B0004020202020204" pitchFamily="34" charset="0"/>
            </a:endParaRPr>
          </a:p>
        </p:txBody>
      </p:sp>
      <p:sp>
        <p:nvSpPr>
          <p:cNvPr id="16" name="Text 6">
            <a:extLst>
              <a:ext uri="{FF2B5EF4-FFF2-40B4-BE49-F238E27FC236}">
                <a16:creationId xmlns:a16="http://schemas.microsoft.com/office/drawing/2014/main" id="{D85A9F17-2CDE-09F0-D9DC-42A07338978F}"/>
              </a:ext>
            </a:extLst>
          </p:cNvPr>
          <p:cNvSpPr/>
          <p:nvPr/>
        </p:nvSpPr>
        <p:spPr>
          <a:xfrm>
            <a:off x="713232" y="2202437"/>
            <a:ext cx="146304" cy="164592"/>
          </a:xfrm>
          <a:prstGeom prst="rect">
            <a:avLst/>
          </a:prstGeom>
          <a:noFill/>
          <a:ln/>
        </p:spPr>
        <p:txBody>
          <a:bodyPr wrap="square" lIns="0" tIns="0" rIns="0" bIns="0" rtlCol="0" anchor="t">
            <a:noAutofit/>
          </a:bodyPr>
          <a:lstStyle/>
          <a:p>
            <a:pPr marL="0" indent="0" algn="l">
              <a:buNone/>
            </a:pPr>
            <a:r>
              <a:rPr lang="en-US" sz="1400" b="1" dirty="0">
                <a:solidFill>
                  <a:srgbClr val="16834A"/>
                </a:solidFill>
                <a:latin typeface="Aptos" panose="020B0004020202020204" pitchFamily="34" charset="0"/>
                <a:ea typeface="Aptos" pitchFamily="34" charset="-122"/>
                <a:cs typeface="Aptos" pitchFamily="34" charset="-120"/>
              </a:rPr>
              <a:t>✓</a:t>
            </a:r>
            <a:endParaRPr lang="en-US" sz="1400" dirty="0">
              <a:latin typeface="Aptos" panose="020B0004020202020204" pitchFamily="34" charset="0"/>
            </a:endParaRPr>
          </a:p>
        </p:txBody>
      </p:sp>
      <p:sp>
        <p:nvSpPr>
          <p:cNvPr id="17" name="Text 7">
            <a:extLst>
              <a:ext uri="{FF2B5EF4-FFF2-40B4-BE49-F238E27FC236}">
                <a16:creationId xmlns:a16="http://schemas.microsoft.com/office/drawing/2014/main" id="{219F3124-7051-15A2-59F1-A7EA1C959349}"/>
              </a:ext>
            </a:extLst>
          </p:cNvPr>
          <p:cNvSpPr/>
          <p:nvPr/>
        </p:nvSpPr>
        <p:spPr>
          <a:xfrm>
            <a:off x="941832" y="2193293"/>
            <a:ext cx="4960620" cy="347472"/>
          </a:xfrm>
          <a:prstGeom prst="rect">
            <a:avLst/>
          </a:prstGeom>
          <a:noFill/>
          <a:ln/>
        </p:spPr>
        <p:txBody>
          <a:bodyPr wrap="square" lIns="0" tIns="0" rIns="0" bIns="0" rtlCol="0" anchor="t">
            <a:noAutofit/>
          </a:bodyPr>
          <a:lstStyle/>
          <a:p>
            <a:pPr marL="0" indent="0" algn="l">
              <a:buNone/>
            </a:pPr>
            <a:r>
              <a:rPr lang="en-US" sz="1400" dirty="0">
                <a:solidFill>
                  <a:srgbClr val="000000"/>
                </a:solidFill>
                <a:latin typeface="Aptos" panose="020B0004020202020204" pitchFamily="34" charset="0"/>
                <a:ea typeface="Aptos" pitchFamily="34" charset="-122"/>
                <a:cs typeface="Aptos" pitchFamily="34" charset="-120"/>
              </a:rPr>
              <a:t>Resume conversations without losing progress or repeating</a:t>
            </a:r>
            <a:endParaRPr lang="en-US" sz="1400" dirty="0">
              <a:latin typeface="Aptos" panose="020B0004020202020204" pitchFamily="34" charset="0"/>
            </a:endParaRPr>
          </a:p>
          <a:p>
            <a:pPr marL="0" indent="0" algn="l">
              <a:buNone/>
            </a:pPr>
            <a:r>
              <a:rPr lang="en-US" sz="1400" dirty="0">
                <a:solidFill>
                  <a:srgbClr val="000000"/>
                </a:solidFill>
                <a:latin typeface="Aptos" panose="020B0004020202020204" pitchFamily="34" charset="0"/>
                <a:ea typeface="Aptos" pitchFamily="34" charset="-122"/>
                <a:cs typeface="Aptos" pitchFamily="34" charset="-120"/>
              </a:rPr>
              <a:t>actions.</a:t>
            </a:r>
            <a:endParaRPr lang="en-US" sz="1400" dirty="0">
              <a:latin typeface="Aptos" panose="020B0004020202020204" pitchFamily="34" charset="0"/>
            </a:endParaRPr>
          </a:p>
        </p:txBody>
      </p:sp>
      <p:sp>
        <p:nvSpPr>
          <p:cNvPr id="18" name="Text 8">
            <a:extLst>
              <a:ext uri="{FF2B5EF4-FFF2-40B4-BE49-F238E27FC236}">
                <a16:creationId xmlns:a16="http://schemas.microsoft.com/office/drawing/2014/main" id="{DE5EDDD2-FDD0-9B22-BD94-EAEB71615DD6}"/>
              </a:ext>
            </a:extLst>
          </p:cNvPr>
          <p:cNvSpPr/>
          <p:nvPr/>
        </p:nvSpPr>
        <p:spPr>
          <a:xfrm>
            <a:off x="713232" y="2769365"/>
            <a:ext cx="146304" cy="164592"/>
          </a:xfrm>
          <a:prstGeom prst="rect">
            <a:avLst/>
          </a:prstGeom>
          <a:noFill/>
          <a:ln/>
        </p:spPr>
        <p:txBody>
          <a:bodyPr wrap="square" lIns="0" tIns="0" rIns="0" bIns="0" rtlCol="0" anchor="t">
            <a:noAutofit/>
          </a:bodyPr>
          <a:lstStyle/>
          <a:p>
            <a:pPr marL="0" indent="0" algn="l">
              <a:buNone/>
            </a:pPr>
            <a:r>
              <a:rPr lang="en-US" sz="1400" b="1" dirty="0">
                <a:solidFill>
                  <a:srgbClr val="16834A"/>
                </a:solidFill>
                <a:latin typeface="Aptos" panose="020B0004020202020204" pitchFamily="34" charset="0"/>
                <a:ea typeface="Aptos" pitchFamily="34" charset="-122"/>
                <a:cs typeface="Aptos" pitchFamily="34" charset="-120"/>
              </a:rPr>
              <a:t>✓</a:t>
            </a:r>
            <a:endParaRPr lang="en-US" sz="1400" dirty="0">
              <a:latin typeface="Aptos" panose="020B0004020202020204" pitchFamily="34" charset="0"/>
            </a:endParaRPr>
          </a:p>
        </p:txBody>
      </p:sp>
      <p:sp>
        <p:nvSpPr>
          <p:cNvPr id="19" name="Text 9">
            <a:extLst>
              <a:ext uri="{FF2B5EF4-FFF2-40B4-BE49-F238E27FC236}">
                <a16:creationId xmlns:a16="http://schemas.microsoft.com/office/drawing/2014/main" id="{281DFB99-4FC4-9AE7-F663-A62375B0B828}"/>
              </a:ext>
            </a:extLst>
          </p:cNvPr>
          <p:cNvSpPr/>
          <p:nvPr/>
        </p:nvSpPr>
        <p:spPr>
          <a:xfrm>
            <a:off x="941832" y="2760221"/>
            <a:ext cx="4960620" cy="347472"/>
          </a:xfrm>
          <a:prstGeom prst="rect">
            <a:avLst/>
          </a:prstGeom>
          <a:noFill/>
          <a:ln/>
        </p:spPr>
        <p:txBody>
          <a:bodyPr wrap="square" lIns="0" tIns="0" rIns="0" bIns="0" rtlCol="0" anchor="t">
            <a:normAutofit/>
          </a:bodyPr>
          <a:lstStyle/>
          <a:p>
            <a:pPr marL="0" indent="0" algn="l">
              <a:buNone/>
            </a:pPr>
            <a:r>
              <a:rPr lang="en-US" sz="1400" dirty="0">
                <a:solidFill>
                  <a:srgbClr val="000000"/>
                </a:solidFill>
                <a:latin typeface="Aptos" panose="020B0004020202020204" pitchFamily="34" charset="0"/>
                <a:ea typeface="Aptos" pitchFamily="34" charset="-122"/>
                <a:cs typeface="Aptos" pitchFamily="34" charset="-120"/>
              </a:rPr>
              <a:t>Support missing document uploads and manual reviews.</a:t>
            </a:r>
            <a:endParaRPr lang="en-US" sz="1400" dirty="0">
              <a:latin typeface="Aptos" panose="020B0004020202020204" pitchFamily="34" charset="0"/>
            </a:endParaRPr>
          </a:p>
        </p:txBody>
      </p:sp>
      <p:sp>
        <p:nvSpPr>
          <p:cNvPr id="20" name="Text 10">
            <a:extLst>
              <a:ext uri="{FF2B5EF4-FFF2-40B4-BE49-F238E27FC236}">
                <a16:creationId xmlns:a16="http://schemas.microsoft.com/office/drawing/2014/main" id="{10BD1232-2E23-669A-A7A9-62A400E8444E}"/>
              </a:ext>
            </a:extLst>
          </p:cNvPr>
          <p:cNvSpPr/>
          <p:nvPr/>
        </p:nvSpPr>
        <p:spPr>
          <a:xfrm>
            <a:off x="713232" y="3336293"/>
            <a:ext cx="146304" cy="164592"/>
          </a:xfrm>
          <a:prstGeom prst="rect">
            <a:avLst/>
          </a:prstGeom>
          <a:noFill/>
          <a:ln/>
        </p:spPr>
        <p:txBody>
          <a:bodyPr wrap="square" lIns="0" tIns="0" rIns="0" bIns="0" rtlCol="0" anchor="t">
            <a:noAutofit/>
          </a:bodyPr>
          <a:lstStyle/>
          <a:p>
            <a:pPr marL="0" indent="0" algn="l">
              <a:buNone/>
            </a:pPr>
            <a:r>
              <a:rPr lang="en-US" sz="1400" b="1" dirty="0">
                <a:solidFill>
                  <a:srgbClr val="16834A"/>
                </a:solidFill>
                <a:latin typeface="Aptos" panose="020B0004020202020204" pitchFamily="34" charset="0"/>
                <a:ea typeface="Aptos" pitchFamily="34" charset="-122"/>
                <a:cs typeface="Aptos" pitchFamily="34" charset="-120"/>
              </a:rPr>
              <a:t>✓</a:t>
            </a:r>
            <a:endParaRPr lang="en-US" sz="1400" dirty="0">
              <a:latin typeface="Aptos" panose="020B0004020202020204" pitchFamily="34" charset="0"/>
            </a:endParaRPr>
          </a:p>
        </p:txBody>
      </p:sp>
      <p:sp>
        <p:nvSpPr>
          <p:cNvPr id="21" name="Text 11">
            <a:extLst>
              <a:ext uri="{FF2B5EF4-FFF2-40B4-BE49-F238E27FC236}">
                <a16:creationId xmlns:a16="http://schemas.microsoft.com/office/drawing/2014/main" id="{1395396B-D728-EFA1-D99D-94BCB1740013}"/>
              </a:ext>
            </a:extLst>
          </p:cNvPr>
          <p:cNvSpPr/>
          <p:nvPr/>
        </p:nvSpPr>
        <p:spPr>
          <a:xfrm>
            <a:off x="941832" y="3327149"/>
            <a:ext cx="4960620" cy="347472"/>
          </a:xfrm>
          <a:prstGeom prst="rect">
            <a:avLst/>
          </a:prstGeom>
          <a:noFill/>
          <a:ln/>
        </p:spPr>
        <p:txBody>
          <a:bodyPr wrap="square" lIns="0" tIns="0" rIns="0" bIns="0" rtlCol="0" anchor="t">
            <a:noAutofit/>
          </a:bodyPr>
          <a:lstStyle/>
          <a:p>
            <a:pPr marL="0" indent="0" algn="l">
              <a:buNone/>
            </a:pPr>
            <a:r>
              <a:rPr lang="en-US" sz="1400" dirty="0">
                <a:solidFill>
                  <a:srgbClr val="000000"/>
                </a:solidFill>
                <a:latin typeface="Aptos" panose="020B0004020202020204" pitchFamily="34" charset="0"/>
                <a:ea typeface="Aptos" pitchFamily="34" charset="-122"/>
                <a:cs typeface="Aptos" pitchFamily="34" charset="-120"/>
              </a:rPr>
              <a:t>Guarantee no duplicate charges, shipments, or premature</a:t>
            </a:r>
            <a:endParaRPr lang="en-US" sz="1400" dirty="0">
              <a:latin typeface="Aptos" panose="020B0004020202020204" pitchFamily="34" charset="0"/>
            </a:endParaRPr>
          </a:p>
          <a:p>
            <a:pPr marL="0" indent="0" algn="l">
              <a:buNone/>
            </a:pPr>
            <a:r>
              <a:rPr lang="en-US" sz="1400" dirty="0">
                <a:solidFill>
                  <a:srgbClr val="000000"/>
                </a:solidFill>
                <a:latin typeface="Aptos" panose="020B0004020202020204" pitchFamily="34" charset="0"/>
                <a:ea typeface="Aptos" pitchFamily="34" charset="-122"/>
                <a:cs typeface="Aptos" pitchFamily="34" charset="-120"/>
              </a:rPr>
              <a:t>activations.</a:t>
            </a:r>
            <a:endParaRPr lang="en-US" sz="1400" dirty="0">
              <a:latin typeface="Aptos" panose="020B0004020202020204" pitchFamily="34" charset="0"/>
            </a:endParaRPr>
          </a:p>
        </p:txBody>
      </p:sp>
      <p:sp>
        <p:nvSpPr>
          <p:cNvPr id="22" name="Text 12">
            <a:extLst>
              <a:ext uri="{FF2B5EF4-FFF2-40B4-BE49-F238E27FC236}">
                <a16:creationId xmlns:a16="http://schemas.microsoft.com/office/drawing/2014/main" id="{A2B4AE33-EE4D-7C45-3AAA-06FD20E20884}"/>
              </a:ext>
            </a:extLst>
          </p:cNvPr>
          <p:cNvSpPr/>
          <p:nvPr/>
        </p:nvSpPr>
        <p:spPr>
          <a:xfrm>
            <a:off x="6332220" y="2184149"/>
            <a:ext cx="109728" cy="164592"/>
          </a:xfrm>
          <a:prstGeom prst="rect">
            <a:avLst/>
          </a:prstGeom>
          <a:noFill/>
          <a:ln/>
        </p:spPr>
        <p:txBody>
          <a:bodyPr wrap="square" lIns="0" tIns="0" rIns="0" bIns="0" rtlCol="0" anchor="t">
            <a:noAutofit/>
          </a:bodyPr>
          <a:lstStyle/>
          <a:p>
            <a:pPr marL="0" indent="0" algn="l">
              <a:buNone/>
            </a:pPr>
            <a:r>
              <a:rPr lang="en-US" sz="1400" dirty="0">
                <a:solidFill>
                  <a:srgbClr val="000000"/>
                </a:solidFill>
                <a:latin typeface="Aptos" panose="020B0004020202020204" pitchFamily="34" charset="0"/>
                <a:ea typeface="Aptos" pitchFamily="34" charset="-122"/>
                <a:cs typeface="Aptos" pitchFamily="34" charset="-120"/>
              </a:rPr>
              <a:t>•</a:t>
            </a:r>
            <a:endParaRPr lang="en-US" sz="1400" dirty="0">
              <a:latin typeface="Aptos" panose="020B0004020202020204" pitchFamily="34" charset="0"/>
            </a:endParaRPr>
          </a:p>
        </p:txBody>
      </p:sp>
      <p:sp>
        <p:nvSpPr>
          <p:cNvPr id="23" name="Text 13">
            <a:extLst>
              <a:ext uri="{FF2B5EF4-FFF2-40B4-BE49-F238E27FC236}">
                <a16:creationId xmlns:a16="http://schemas.microsoft.com/office/drawing/2014/main" id="{32B46CAF-C2A5-9B7B-D642-053D8E220F71}"/>
              </a:ext>
            </a:extLst>
          </p:cNvPr>
          <p:cNvSpPr/>
          <p:nvPr/>
        </p:nvSpPr>
        <p:spPr>
          <a:xfrm>
            <a:off x="6533388" y="2184149"/>
            <a:ext cx="4869180" cy="201168"/>
          </a:xfrm>
          <a:prstGeom prst="rect">
            <a:avLst/>
          </a:prstGeom>
          <a:noFill/>
          <a:ln/>
        </p:spPr>
        <p:txBody>
          <a:bodyPr wrap="square" lIns="0" tIns="0" rIns="0" bIns="0" rtlCol="0" anchor="ctr">
            <a:noAutofit/>
          </a:bodyPr>
          <a:lstStyle/>
          <a:p>
            <a:pPr marL="0" indent="0">
              <a:buNone/>
            </a:pPr>
            <a:r>
              <a:rPr lang="en-US" sz="1400" b="1" dirty="0">
                <a:solidFill>
                  <a:srgbClr val="000000"/>
                </a:solidFill>
                <a:latin typeface="Aptos" panose="020B0004020202020204" pitchFamily="34" charset="0"/>
                <a:ea typeface="Aptos" pitchFamily="34" charset="-122"/>
                <a:cs typeface="Aptos" pitchFamily="34" charset="-120"/>
              </a:rPr>
              <a:t>Team:</a:t>
            </a:r>
            <a:r>
              <a:rPr lang="en-US" sz="1400" dirty="0">
                <a:solidFill>
                  <a:srgbClr val="000000"/>
                </a:solidFill>
                <a:latin typeface="Aptos" panose="020B0004020202020204" pitchFamily="34" charset="0"/>
                <a:ea typeface="Aptos" pitchFamily="34" charset="-122"/>
                <a:cs typeface="Aptos" pitchFamily="34" charset="-120"/>
              </a:rPr>
              <a:t> 2 Platform Engineers (AWS/Managed Kubernetes).</a:t>
            </a:r>
            <a:endParaRPr lang="en-US" sz="1400" dirty="0">
              <a:latin typeface="Aptos" panose="020B0004020202020204" pitchFamily="34" charset="0"/>
            </a:endParaRPr>
          </a:p>
        </p:txBody>
      </p:sp>
      <p:sp>
        <p:nvSpPr>
          <p:cNvPr id="24" name="Text 14">
            <a:extLst>
              <a:ext uri="{FF2B5EF4-FFF2-40B4-BE49-F238E27FC236}">
                <a16:creationId xmlns:a16="http://schemas.microsoft.com/office/drawing/2014/main" id="{485F5021-53E8-2A2A-8D18-E16FCC47245E}"/>
              </a:ext>
            </a:extLst>
          </p:cNvPr>
          <p:cNvSpPr/>
          <p:nvPr/>
        </p:nvSpPr>
        <p:spPr>
          <a:xfrm>
            <a:off x="6332220" y="2577341"/>
            <a:ext cx="109728" cy="164592"/>
          </a:xfrm>
          <a:prstGeom prst="rect">
            <a:avLst/>
          </a:prstGeom>
          <a:noFill/>
          <a:ln/>
        </p:spPr>
        <p:txBody>
          <a:bodyPr wrap="square" lIns="0" tIns="0" rIns="0" bIns="0" rtlCol="0" anchor="t">
            <a:noAutofit/>
          </a:bodyPr>
          <a:lstStyle/>
          <a:p>
            <a:pPr marL="0" indent="0" algn="l">
              <a:buNone/>
            </a:pPr>
            <a:r>
              <a:rPr lang="en-US" sz="1400" dirty="0">
                <a:solidFill>
                  <a:srgbClr val="000000"/>
                </a:solidFill>
                <a:latin typeface="Aptos" panose="020B0004020202020204" pitchFamily="34" charset="0"/>
                <a:ea typeface="Aptos" pitchFamily="34" charset="-122"/>
                <a:cs typeface="Aptos" pitchFamily="34" charset="-120"/>
              </a:rPr>
              <a:t>•</a:t>
            </a:r>
            <a:endParaRPr lang="en-US" sz="1400" dirty="0">
              <a:latin typeface="Aptos" panose="020B0004020202020204" pitchFamily="34" charset="0"/>
            </a:endParaRPr>
          </a:p>
        </p:txBody>
      </p:sp>
      <p:sp>
        <p:nvSpPr>
          <p:cNvPr id="25" name="Text 15">
            <a:extLst>
              <a:ext uri="{FF2B5EF4-FFF2-40B4-BE49-F238E27FC236}">
                <a16:creationId xmlns:a16="http://schemas.microsoft.com/office/drawing/2014/main" id="{D103A29F-7E66-A75E-E7B8-4558E7B115B7}"/>
              </a:ext>
            </a:extLst>
          </p:cNvPr>
          <p:cNvSpPr/>
          <p:nvPr/>
        </p:nvSpPr>
        <p:spPr>
          <a:xfrm>
            <a:off x="6533388" y="2671631"/>
            <a:ext cx="4869180" cy="201168"/>
          </a:xfrm>
          <a:prstGeom prst="rect">
            <a:avLst/>
          </a:prstGeom>
          <a:noFill/>
          <a:ln/>
        </p:spPr>
        <p:txBody>
          <a:bodyPr wrap="square" lIns="0" tIns="0" rIns="0" bIns="0" rtlCol="0" anchor="ctr">
            <a:noAutofit/>
          </a:bodyPr>
          <a:lstStyle/>
          <a:p>
            <a:pPr marL="0" indent="0">
              <a:buNone/>
            </a:pPr>
            <a:r>
              <a:rPr lang="en-US" sz="1400" b="1" dirty="0">
                <a:solidFill>
                  <a:srgbClr val="000000"/>
                </a:solidFill>
                <a:latin typeface="Aptos" panose="020B0004020202020204" pitchFamily="34" charset="0"/>
                <a:ea typeface="Aptos" pitchFamily="34" charset="-122"/>
                <a:cs typeface="Aptos" pitchFamily="34" charset="-120"/>
              </a:rPr>
              <a:t>Resilience:</a:t>
            </a:r>
            <a:r>
              <a:rPr lang="en-US" sz="1400" dirty="0">
                <a:solidFill>
                  <a:srgbClr val="000000"/>
                </a:solidFill>
                <a:latin typeface="Aptos" panose="020B0004020202020204" pitchFamily="34" charset="0"/>
                <a:ea typeface="Aptos" pitchFamily="34" charset="-122"/>
                <a:cs typeface="Aptos" pitchFamily="34" charset="-120"/>
              </a:rPr>
              <a:t> 99.9% Availability · RPO &lt; 1 minute · RTO &lt; 10 minutes.</a:t>
            </a:r>
            <a:endParaRPr lang="en-US" sz="1400" dirty="0">
              <a:latin typeface="Aptos" panose="020B0004020202020204" pitchFamily="34" charset="0"/>
            </a:endParaRPr>
          </a:p>
        </p:txBody>
      </p:sp>
      <p:sp>
        <p:nvSpPr>
          <p:cNvPr id="26" name="Text 16">
            <a:extLst>
              <a:ext uri="{FF2B5EF4-FFF2-40B4-BE49-F238E27FC236}">
                <a16:creationId xmlns:a16="http://schemas.microsoft.com/office/drawing/2014/main" id="{7D9D7E11-DD5D-A244-F0DF-1BEA4AF6E759}"/>
              </a:ext>
            </a:extLst>
          </p:cNvPr>
          <p:cNvSpPr/>
          <p:nvPr/>
        </p:nvSpPr>
        <p:spPr>
          <a:xfrm>
            <a:off x="6332220" y="3058090"/>
            <a:ext cx="109728" cy="164592"/>
          </a:xfrm>
          <a:prstGeom prst="rect">
            <a:avLst/>
          </a:prstGeom>
          <a:noFill/>
          <a:ln/>
        </p:spPr>
        <p:txBody>
          <a:bodyPr wrap="square" lIns="0" tIns="0" rIns="0" bIns="0" rtlCol="0" anchor="t">
            <a:noAutofit/>
          </a:bodyPr>
          <a:lstStyle/>
          <a:p>
            <a:pPr marL="0" indent="0" algn="l">
              <a:buNone/>
            </a:pPr>
            <a:r>
              <a:rPr lang="en-US" sz="1400" dirty="0">
                <a:solidFill>
                  <a:srgbClr val="000000"/>
                </a:solidFill>
                <a:latin typeface="Aptos" panose="020B0004020202020204" pitchFamily="34" charset="0"/>
                <a:ea typeface="Aptos" pitchFamily="34" charset="-122"/>
                <a:cs typeface="Aptos" pitchFamily="34" charset="-120"/>
              </a:rPr>
              <a:t>•</a:t>
            </a:r>
            <a:endParaRPr lang="en-US" sz="1400" dirty="0">
              <a:latin typeface="Aptos" panose="020B0004020202020204" pitchFamily="34" charset="0"/>
            </a:endParaRPr>
          </a:p>
        </p:txBody>
      </p:sp>
      <p:sp>
        <p:nvSpPr>
          <p:cNvPr id="27" name="Text 17">
            <a:extLst>
              <a:ext uri="{FF2B5EF4-FFF2-40B4-BE49-F238E27FC236}">
                <a16:creationId xmlns:a16="http://schemas.microsoft.com/office/drawing/2014/main" id="{719A9995-BF66-A417-A71F-003E084E3DB0}"/>
              </a:ext>
            </a:extLst>
          </p:cNvPr>
          <p:cNvSpPr/>
          <p:nvPr/>
        </p:nvSpPr>
        <p:spPr>
          <a:xfrm>
            <a:off x="6533388" y="3058090"/>
            <a:ext cx="4869180" cy="201168"/>
          </a:xfrm>
          <a:prstGeom prst="rect">
            <a:avLst/>
          </a:prstGeom>
          <a:noFill/>
          <a:ln/>
        </p:spPr>
        <p:txBody>
          <a:bodyPr wrap="square" lIns="0" tIns="0" rIns="0" bIns="0" rtlCol="0" anchor="ctr">
            <a:noAutofit/>
          </a:bodyPr>
          <a:lstStyle/>
          <a:p>
            <a:pPr marL="0" indent="0">
              <a:buNone/>
            </a:pPr>
            <a:r>
              <a:rPr lang="en-US" sz="1400" b="1" dirty="0">
                <a:solidFill>
                  <a:srgbClr val="000000"/>
                </a:solidFill>
                <a:latin typeface="Aptos" panose="020B0004020202020204" pitchFamily="34" charset="0"/>
                <a:ea typeface="Aptos" pitchFamily="34" charset="-122"/>
                <a:cs typeface="Aptos" pitchFamily="34" charset="-120"/>
              </a:rPr>
              <a:t>Security:</a:t>
            </a:r>
            <a:r>
              <a:rPr lang="en-US" sz="1400" dirty="0">
                <a:solidFill>
                  <a:srgbClr val="000000"/>
                </a:solidFill>
                <a:latin typeface="Aptos" panose="020B0004020202020204" pitchFamily="34" charset="0"/>
                <a:ea typeface="Aptos" pitchFamily="34" charset="-122"/>
                <a:cs typeface="Aptos" pitchFamily="34" charset="-120"/>
              </a:rPr>
              <a:t> Confidential data must remain in the selected region.</a:t>
            </a:r>
            <a:endParaRPr lang="en-US" sz="1400" dirty="0">
              <a:latin typeface="Aptos" panose="020B0004020202020204" pitchFamily="34" charset="0"/>
            </a:endParaRPr>
          </a:p>
        </p:txBody>
      </p:sp>
      <p:sp>
        <p:nvSpPr>
          <p:cNvPr id="28" name="Text 18">
            <a:extLst>
              <a:ext uri="{FF2B5EF4-FFF2-40B4-BE49-F238E27FC236}">
                <a16:creationId xmlns:a16="http://schemas.microsoft.com/office/drawing/2014/main" id="{0CBE7BB7-3E4C-38F6-E10C-1AC21957C196}"/>
              </a:ext>
            </a:extLst>
          </p:cNvPr>
          <p:cNvSpPr/>
          <p:nvPr/>
        </p:nvSpPr>
        <p:spPr>
          <a:xfrm>
            <a:off x="6332220" y="3363725"/>
            <a:ext cx="109728" cy="164592"/>
          </a:xfrm>
          <a:prstGeom prst="rect">
            <a:avLst/>
          </a:prstGeom>
          <a:noFill/>
          <a:ln/>
        </p:spPr>
        <p:txBody>
          <a:bodyPr wrap="square" lIns="0" tIns="0" rIns="0" bIns="0" rtlCol="0" anchor="t">
            <a:noAutofit/>
          </a:bodyPr>
          <a:lstStyle/>
          <a:p>
            <a:pPr marL="0" indent="0" algn="l">
              <a:buNone/>
            </a:pPr>
            <a:r>
              <a:rPr lang="en-US" sz="1400" dirty="0">
                <a:solidFill>
                  <a:srgbClr val="000000"/>
                </a:solidFill>
                <a:latin typeface="Aptos" panose="020B0004020202020204" pitchFamily="34" charset="0"/>
                <a:ea typeface="Aptos" pitchFamily="34" charset="-122"/>
                <a:cs typeface="Aptos" pitchFamily="34" charset="-120"/>
              </a:rPr>
              <a:t>•</a:t>
            </a:r>
            <a:endParaRPr lang="en-US" sz="1400" dirty="0">
              <a:latin typeface="Aptos" panose="020B0004020202020204" pitchFamily="34" charset="0"/>
            </a:endParaRPr>
          </a:p>
        </p:txBody>
      </p:sp>
      <p:sp>
        <p:nvSpPr>
          <p:cNvPr id="29" name="Text 19">
            <a:extLst>
              <a:ext uri="{FF2B5EF4-FFF2-40B4-BE49-F238E27FC236}">
                <a16:creationId xmlns:a16="http://schemas.microsoft.com/office/drawing/2014/main" id="{0CFD474E-2174-8C9B-9B23-FEB3C65FE757}"/>
              </a:ext>
            </a:extLst>
          </p:cNvPr>
          <p:cNvSpPr/>
          <p:nvPr/>
        </p:nvSpPr>
        <p:spPr>
          <a:xfrm>
            <a:off x="6533388" y="3363725"/>
            <a:ext cx="4869180" cy="384048"/>
          </a:xfrm>
          <a:prstGeom prst="rect">
            <a:avLst/>
          </a:prstGeom>
          <a:noFill/>
          <a:ln/>
        </p:spPr>
        <p:txBody>
          <a:bodyPr wrap="square" lIns="0" tIns="0" rIns="0" bIns="0" rtlCol="0" anchor="ctr">
            <a:noAutofit/>
          </a:bodyPr>
          <a:lstStyle/>
          <a:p>
            <a:pPr marL="0" indent="0">
              <a:buNone/>
            </a:pPr>
            <a:r>
              <a:rPr lang="en-US" sz="1400" b="1" dirty="0">
                <a:solidFill>
                  <a:srgbClr val="000000"/>
                </a:solidFill>
                <a:latin typeface="Aptos" panose="020B0004020202020204" pitchFamily="34" charset="0"/>
                <a:ea typeface="Aptos" pitchFamily="34" charset="-122"/>
                <a:cs typeface="Aptos" pitchFamily="34" charset="-120"/>
              </a:rPr>
              <a:t>To Confirm (Assumptions):</a:t>
            </a:r>
            <a:r>
              <a:rPr lang="en-US" sz="1400" dirty="0">
                <a:solidFill>
                  <a:srgbClr val="000000"/>
                </a:solidFill>
                <a:latin typeface="Aptos" panose="020B0004020202020204" pitchFamily="34" charset="0"/>
                <a:ea typeface="Aptos" pitchFamily="34" charset="-122"/>
                <a:cs typeface="Aptos" pitchFamily="34" charset="-120"/>
              </a:rPr>
              <a:t> Single-AZ failure scope, provider guarantees, and regional model availability at launch.</a:t>
            </a:r>
            <a:endParaRPr lang="en-US" sz="1400" dirty="0">
              <a:latin typeface="Aptos" panose="020B0004020202020204" pitchFamily="34" charset="0"/>
            </a:endParaRPr>
          </a:p>
        </p:txBody>
      </p:sp>
    </p:spTree>
    <p:extLst>
      <p:ext uri="{BB962C8B-B14F-4D97-AF65-F5344CB8AC3E}">
        <p14:creationId xmlns:p14="http://schemas.microsoft.com/office/powerpoint/2010/main" val="2156928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8B468-D167-FFC7-5742-E4102E13883C}"/>
            </a:ext>
          </a:extLst>
        </p:cNvPr>
        <p:cNvGrpSpPr/>
        <p:nvPr/>
      </p:nvGrpSpPr>
      <p:grpSpPr>
        <a:xfrm>
          <a:off x="0" y="0"/>
          <a:ext cx="0" cy="0"/>
          <a:chOff x="0" y="0"/>
          <a:chExt cx="0" cy="0"/>
        </a:xfrm>
      </p:grpSpPr>
      <p:sp>
        <p:nvSpPr>
          <p:cNvPr id="62" name="Rettangolo 61">
            <a:extLst>
              <a:ext uri="{FF2B5EF4-FFF2-40B4-BE49-F238E27FC236}">
                <a16:creationId xmlns:a16="http://schemas.microsoft.com/office/drawing/2014/main" id="{33C1FBD2-823C-EA97-652B-046145C9FA7D}"/>
              </a:ext>
            </a:extLst>
          </p:cNvPr>
          <p:cNvSpPr/>
          <p:nvPr/>
        </p:nvSpPr>
        <p:spPr>
          <a:xfrm>
            <a:off x="5279665" y="4438904"/>
            <a:ext cx="3419061" cy="109518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ext 0">
            <a:extLst>
              <a:ext uri="{FF2B5EF4-FFF2-40B4-BE49-F238E27FC236}">
                <a16:creationId xmlns:a16="http://schemas.microsoft.com/office/drawing/2014/main" id="{3E15522E-53CB-7012-CCE6-38E75C71FD6F}"/>
              </a:ext>
            </a:extLst>
          </p:cNvPr>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sp>
        <p:nvSpPr>
          <p:cNvPr id="3" name="Text 1">
            <a:extLst>
              <a:ext uri="{FF2B5EF4-FFF2-40B4-BE49-F238E27FC236}">
                <a16:creationId xmlns:a16="http://schemas.microsoft.com/office/drawing/2014/main" id="{E3F25205-E3AC-5B83-9477-D6E628C2F812}"/>
              </a:ext>
            </a:extLst>
          </p:cNvPr>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Requirements and Open Points </a:t>
            </a:r>
            <a:endParaRPr lang="en-US" sz="2750" dirty="0"/>
          </a:p>
        </p:txBody>
      </p:sp>
      <p:sp>
        <p:nvSpPr>
          <p:cNvPr id="5" name="Shape 3">
            <a:extLst>
              <a:ext uri="{FF2B5EF4-FFF2-40B4-BE49-F238E27FC236}">
                <a16:creationId xmlns:a16="http://schemas.microsoft.com/office/drawing/2014/main" id="{141217C4-9B75-229A-111D-1C565A91AC08}"/>
              </a:ext>
            </a:extLst>
          </p:cNvPr>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6" name="Shape 4">
            <a:extLst>
              <a:ext uri="{FF2B5EF4-FFF2-40B4-BE49-F238E27FC236}">
                <a16:creationId xmlns:a16="http://schemas.microsoft.com/office/drawing/2014/main" id="{9E6655DC-D4CD-69AF-6AC1-2C33D6295021}"/>
              </a:ext>
            </a:extLst>
          </p:cNvPr>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7" name="Text 5">
            <a:extLst>
              <a:ext uri="{FF2B5EF4-FFF2-40B4-BE49-F238E27FC236}">
                <a16:creationId xmlns:a16="http://schemas.microsoft.com/office/drawing/2014/main" id="{6E0E2BCA-1273-17AD-E085-801223C17CBB}"/>
              </a:ext>
            </a:extLst>
          </p:cNvPr>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1/10</a:t>
            </a:r>
            <a:endParaRPr lang="en-US" sz="850" dirty="0"/>
          </a:p>
        </p:txBody>
      </p:sp>
      <p:sp>
        <p:nvSpPr>
          <p:cNvPr id="11" name="Shape 9">
            <a:extLst>
              <a:ext uri="{FF2B5EF4-FFF2-40B4-BE49-F238E27FC236}">
                <a16:creationId xmlns:a16="http://schemas.microsoft.com/office/drawing/2014/main" id="{F42BF54E-57E3-9FC9-29F6-E6766B4216FD}"/>
              </a:ext>
            </a:extLst>
          </p:cNvPr>
          <p:cNvSpPr/>
          <p:nvPr/>
        </p:nvSpPr>
        <p:spPr>
          <a:xfrm>
            <a:off x="1423194" y="4695119"/>
            <a:ext cx="1253955" cy="520844"/>
          </a:xfrm>
          <a:prstGeom prst="roundRect">
            <a:avLst>
              <a:gd name="adj" fmla="val 10959"/>
            </a:avLst>
          </a:prstGeom>
          <a:solidFill>
            <a:srgbClr val="EAF5FF"/>
          </a:solidFill>
          <a:ln w="13970">
            <a:solidFill>
              <a:srgbClr val="0B63E5"/>
            </a:solidFill>
            <a:prstDash val="solid"/>
          </a:ln>
        </p:spPr>
        <p:txBody>
          <a:bodyPr/>
          <a:lstStyle/>
          <a:p>
            <a:endParaRPr lang="it-IT"/>
          </a:p>
        </p:txBody>
      </p:sp>
      <p:sp>
        <p:nvSpPr>
          <p:cNvPr id="12" name="Text 10">
            <a:extLst>
              <a:ext uri="{FF2B5EF4-FFF2-40B4-BE49-F238E27FC236}">
                <a16:creationId xmlns:a16="http://schemas.microsoft.com/office/drawing/2014/main" id="{8BDC3146-0ABA-D3BF-697F-0A697901BE7D}"/>
              </a:ext>
            </a:extLst>
          </p:cNvPr>
          <p:cNvSpPr/>
          <p:nvPr/>
        </p:nvSpPr>
        <p:spPr>
          <a:xfrm>
            <a:off x="1423194" y="4837149"/>
            <a:ext cx="1253955" cy="211093"/>
          </a:xfrm>
          <a:prstGeom prst="rect">
            <a:avLst/>
          </a:prstGeom>
          <a:noFill/>
          <a:ln/>
        </p:spPr>
        <p:txBody>
          <a:bodyPr wrap="square" lIns="0" tIns="0" rIns="0" bIns="0" rtlCol="0" anchor="ctr">
            <a:normAutofit/>
          </a:bodyPr>
          <a:lstStyle/>
          <a:p>
            <a:pPr marL="0" indent="0" algn="ctr">
              <a:buNone/>
            </a:pPr>
            <a:r>
              <a:rPr lang="en-US" sz="1220" b="1" dirty="0">
                <a:solidFill>
                  <a:srgbClr val="07133D"/>
                </a:solidFill>
              </a:rPr>
              <a:t>Chat/Offer</a:t>
            </a:r>
            <a:endParaRPr lang="en-US" sz="1220" dirty="0"/>
          </a:p>
        </p:txBody>
      </p:sp>
      <p:sp>
        <p:nvSpPr>
          <p:cNvPr id="14" name="Shape 12">
            <a:extLst>
              <a:ext uri="{FF2B5EF4-FFF2-40B4-BE49-F238E27FC236}">
                <a16:creationId xmlns:a16="http://schemas.microsoft.com/office/drawing/2014/main" id="{0A7D5E93-04A9-DE1D-566B-4588B24D7726}"/>
              </a:ext>
            </a:extLst>
          </p:cNvPr>
          <p:cNvSpPr/>
          <p:nvPr/>
        </p:nvSpPr>
        <p:spPr>
          <a:xfrm>
            <a:off x="2838146" y="4938058"/>
            <a:ext cx="400746" cy="0"/>
          </a:xfrm>
          <a:prstGeom prst="line">
            <a:avLst/>
          </a:prstGeom>
          <a:noFill/>
          <a:ln w="17780">
            <a:solidFill>
              <a:srgbClr val="0B63E5"/>
            </a:solidFill>
            <a:prstDash val="solid"/>
            <a:tailEnd type="triangle"/>
          </a:ln>
        </p:spPr>
        <p:txBody>
          <a:bodyPr/>
          <a:lstStyle/>
          <a:p>
            <a:endParaRPr lang="it-IT"/>
          </a:p>
        </p:txBody>
      </p:sp>
      <p:sp>
        <p:nvSpPr>
          <p:cNvPr id="51" name="Shape 9">
            <a:extLst>
              <a:ext uri="{FF2B5EF4-FFF2-40B4-BE49-F238E27FC236}">
                <a16:creationId xmlns:a16="http://schemas.microsoft.com/office/drawing/2014/main" id="{BC21055B-DB02-637B-3162-EC9BB8D185C2}"/>
              </a:ext>
            </a:extLst>
          </p:cNvPr>
          <p:cNvSpPr/>
          <p:nvPr/>
        </p:nvSpPr>
        <p:spPr>
          <a:xfrm>
            <a:off x="3399889" y="4695119"/>
            <a:ext cx="1253955" cy="520844"/>
          </a:xfrm>
          <a:prstGeom prst="roundRect">
            <a:avLst>
              <a:gd name="adj" fmla="val 10959"/>
            </a:avLst>
          </a:prstGeom>
          <a:solidFill>
            <a:srgbClr val="EAF5FF"/>
          </a:solidFill>
          <a:ln w="13970">
            <a:solidFill>
              <a:srgbClr val="0B63E5"/>
            </a:solidFill>
            <a:prstDash val="solid"/>
          </a:ln>
        </p:spPr>
        <p:txBody>
          <a:bodyPr/>
          <a:lstStyle/>
          <a:p>
            <a:endParaRPr lang="it-IT"/>
          </a:p>
        </p:txBody>
      </p:sp>
      <p:sp>
        <p:nvSpPr>
          <p:cNvPr id="52" name="Text 10">
            <a:extLst>
              <a:ext uri="{FF2B5EF4-FFF2-40B4-BE49-F238E27FC236}">
                <a16:creationId xmlns:a16="http://schemas.microsoft.com/office/drawing/2014/main" id="{1C91CD19-078E-4A41-37ED-8AEDDAE88A53}"/>
              </a:ext>
            </a:extLst>
          </p:cNvPr>
          <p:cNvSpPr/>
          <p:nvPr/>
        </p:nvSpPr>
        <p:spPr>
          <a:xfrm>
            <a:off x="3399889" y="4837149"/>
            <a:ext cx="1253955" cy="211093"/>
          </a:xfrm>
          <a:prstGeom prst="rect">
            <a:avLst/>
          </a:prstGeom>
          <a:noFill/>
          <a:ln/>
        </p:spPr>
        <p:txBody>
          <a:bodyPr wrap="square" lIns="0" tIns="0" rIns="0" bIns="0" rtlCol="0" anchor="ctr">
            <a:normAutofit/>
          </a:bodyPr>
          <a:lstStyle/>
          <a:p>
            <a:pPr marL="0" indent="0" algn="ctr">
              <a:buNone/>
            </a:pPr>
            <a:r>
              <a:rPr lang="en-US" sz="1220" b="1" dirty="0">
                <a:solidFill>
                  <a:srgbClr val="07133D"/>
                </a:solidFill>
              </a:rPr>
              <a:t>Identity Check</a:t>
            </a:r>
            <a:endParaRPr lang="en-US" sz="1220" dirty="0"/>
          </a:p>
        </p:txBody>
      </p:sp>
      <p:sp>
        <p:nvSpPr>
          <p:cNvPr id="53" name="Shape 12">
            <a:extLst>
              <a:ext uri="{FF2B5EF4-FFF2-40B4-BE49-F238E27FC236}">
                <a16:creationId xmlns:a16="http://schemas.microsoft.com/office/drawing/2014/main" id="{43E21168-FBB3-CA9E-771E-571250A0E8F0}"/>
              </a:ext>
            </a:extLst>
          </p:cNvPr>
          <p:cNvSpPr/>
          <p:nvPr/>
        </p:nvSpPr>
        <p:spPr>
          <a:xfrm>
            <a:off x="4814841" y="4938058"/>
            <a:ext cx="400746" cy="0"/>
          </a:xfrm>
          <a:prstGeom prst="line">
            <a:avLst/>
          </a:prstGeom>
          <a:noFill/>
          <a:ln w="17780">
            <a:solidFill>
              <a:srgbClr val="0B63E5"/>
            </a:solidFill>
            <a:prstDash val="solid"/>
            <a:tailEnd type="triangle"/>
          </a:ln>
        </p:spPr>
        <p:txBody>
          <a:bodyPr/>
          <a:lstStyle/>
          <a:p>
            <a:endParaRPr lang="it-IT"/>
          </a:p>
        </p:txBody>
      </p:sp>
      <p:sp>
        <p:nvSpPr>
          <p:cNvPr id="54" name="Shape 9">
            <a:extLst>
              <a:ext uri="{FF2B5EF4-FFF2-40B4-BE49-F238E27FC236}">
                <a16:creationId xmlns:a16="http://schemas.microsoft.com/office/drawing/2014/main" id="{159226B5-739F-FE57-9631-6342E313FBBD}"/>
              </a:ext>
            </a:extLst>
          </p:cNvPr>
          <p:cNvSpPr/>
          <p:nvPr/>
        </p:nvSpPr>
        <p:spPr>
          <a:xfrm>
            <a:off x="5376584" y="4695119"/>
            <a:ext cx="1253955" cy="520844"/>
          </a:xfrm>
          <a:prstGeom prst="roundRect">
            <a:avLst>
              <a:gd name="adj" fmla="val 10959"/>
            </a:avLst>
          </a:prstGeom>
          <a:solidFill>
            <a:srgbClr val="EAF5FF"/>
          </a:solidFill>
          <a:ln w="13970">
            <a:solidFill>
              <a:srgbClr val="0B63E5"/>
            </a:solidFill>
            <a:prstDash val="solid"/>
          </a:ln>
        </p:spPr>
        <p:txBody>
          <a:bodyPr/>
          <a:lstStyle/>
          <a:p>
            <a:endParaRPr lang="it-IT"/>
          </a:p>
        </p:txBody>
      </p:sp>
      <p:sp>
        <p:nvSpPr>
          <p:cNvPr id="55" name="Text 10">
            <a:extLst>
              <a:ext uri="{FF2B5EF4-FFF2-40B4-BE49-F238E27FC236}">
                <a16:creationId xmlns:a16="http://schemas.microsoft.com/office/drawing/2014/main" id="{196CC21B-2DAE-DA67-4BC3-3EBB1DDA1D7B}"/>
              </a:ext>
            </a:extLst>
          </p:cNvPr>
          <p:cNvSpPr/>
          <p:nvPr/>
        </p:nvSpPr>
        <p:spPr>
          <a:xfrm>
            <a:off x="5376583" y="4846979"/>
            <a:ext cx="1253955" cy="211093"/>
          </a:xfrm>
          <a:prstGeom prst="rect">
            <a:avLst/>
          </a:prstGeom>
          <a:noFill/>
          <a:ln/>
        </p:spPr>
        <p:txBody>
          <a:bodyPr wrap="square" lIns="0" tIns="0" rIns="0" bIns="0" rtlCol="0" anchor="ctr">
            <a:normAutofit/>
          </a:bodyPr>
          <a:lstStyle/>
          <a:p>
            <a:pPr marL="0" indent="0" algn="ctr">
              <a:buNone/>
            </a:pPr>
            <a:r>
              <a:rPr lang="en-US" sz="1220" b="1" dirty="0"/>
              <a:t>Payment</a:t>
            </a:r>
          </a:p>
        </p:txBody>
      </p:sp>
      <p:sp>
        <p:nvSpPr>
          <p:cNvPr id="56" name="Shape 12">
            <a:extLst>
              <a:ext uri="{FF2B5EF4-FFF2-40B4-BE49-F238E27FC236}">
                <a16:creationId xmlns:a16="http://schemas.microsoft.com/office/drawing/2014/main" id="{51B8A5CB-3E02-DB3E-BBEA-FBCEA6FD8919}"/>
              </a:ext>
            </a:extLst>
          </p:cNvPr>
          <p:cNvSpPr/>
          <p:nvPr/>
        </p:nvSpPr>
        <p:spPr>
          <a:xfrm>
            <a:off x="6791536" y="4953171"/>
            <a:ext cx="400746" cy="0"/>
          </a:xfrm>
          <a:prstGeom prst="line">
            <a:avLst/>
          </a:prstGeom>
          <a:noFill/>
          <a:ln w="17780">
            <a:solidFill>
              <a:srgbClr val="0B63E5"/>
            </a:solidFill>
            <a:prstDash val="solid"/>
            <a:tailEnd type="triangle"/>
          </a:ln>
        </p:spPr>
        <p:txBody>
          <a:bodyPr/>
          <a:lstStyle/>
          <a:p>
            <a:endParaRPr lang="it-IT"/>
          </a:p>
        </p:txBody>
      </p:sp>
      <p:sp>
        <p:nvSpPr>
          <p:cNvPr id="57" name="Shape 9">
            <a:extLst>
              <a:ext uri="{FF2B5EF4-FFF2-40B4-BE49-F238E27FC236}">
                <a16:creationId xmlns:a16="http://schemas.microsoft.com/office/drawing/2014/main" id="{766514C3-87ED-E305-69BB-F525FE177547}"/>
              </a:ext>
            </a:extLst>
          </p:cNvPr>
          <p:cNvSpPr/>
          <p:nvPr/>
        </p:nvSpPr>
        <p:spPr>
          <a:xfrm>
            <a:off x="7353279" y="4710232"/>
            <a:ext cx="1253955" cy="520844"/>
          </a:xfrm>
          <a:prstGeom prst="roundRect">
            <a:avLst>
              <a:gd name="adj" fmla="val 10959"/>
            </a:avLst>
          </a:prstGeom>
          <a:solidFill>
            <a:srgbClr val="EAF5FF"/>
          </a:solidFill>
          <a:ln w="13970">
            <a:solidFill>
              <a:srgbClr val="0B63E5"/>
            </a:solidFill>
            <a:prstDash val="solid"/>
          </a:ln>
        </p:spPr>
        <p:txBody>
          <a:bodyPr/>
          <a:lstStyle/>
          <a:p>
            <a:endParaRPr lang="it-IT"/>
          </a:p>
        </p:txBody>
      </p:sp>
      <p:sp>
        <p:nvSpPr>
          <p:cNvPr id="58" name="Text 10">
            <a:extLst>
              <a:ext uri="{FF2B5EF4-FFF2-40B4-BE49-F238E27FC236}">
                <a16:creationId xmlns:a16="http://schemas.microsoft.com/office/drawing/2014/main" id="{80E53288-1FEB-C1EC-1AA2-475BD5712CA5}"/>
              </a:ext>
            </a:extLst>
          </p:cNvPr>
          <p:cNvSpPr/>
          <p:nvPr/>
        </p:nvSpPr>
        <p:spPr>
          <a:xfrm>
            <a:off x="7353278" y="4862092"/>
            <a:ext cx="1253955" cy="211093"/>
          </a:xfrm>
          <a:prstGeom prst="rect">
            <a:avLst/>
          </a:prstGeom>
          <a:noFill/>
          <a:ln/>
        </p:spPr>
        <p:txBody>
          <a:bodyPr wrap="square" lIns="0" tIns="0" rIns="0" bIns="0" rtlCol="0" anchor="ctr">
            <a:normAutofit/>
          </a:bodyPr>
          <a:lstStyle/>
          <a:p>
            <a:pPr marL="0" indent="0" algn="ctr">
              <a:buNone/>
            </a:pPr>
            <a:r>
              <a:rPr lang="en-US" sz="1220" b="1" dirty="0"/>
              <a:t>SIM Delivery</a:t>
            </a:r>
          </a:p>
        </p:txBody>
      </p:sp>
      <p:sp>
        <p:nvSpPr>
          <p:cNvPr id="59" name="Shape 12">
            <a:extLst>
              <a:ext uri="{FF2B5EF4-FFF2-40B4-BE49-F238E27FC236}">
                <a16:creationId xmlns:a16="http://schemas.microsoft.com/office/drawing/2014/main" id="{6F2763B6-18DB-BD3A-C478-17243463FD75}"/>
              </a:ext>
            </a:extLst>
          </p:cNvPr>
          <p:cNvSpPr/>
          <p:nvPr/>
        </p:nvSpPr>
        <p:spPr>
          <a:xfrm>
            <a:off x="8768230" y="4968284"/>
            <a:ext cx="400746" cy="0"/>
          </a:xfrm>
          <a:prstGeom prst="line">
            <a:avLst/>
          </a:prstGeom>
          <a:noFill/>
          <a:ln w="17780">
            <a:solidFill>
              <a:srgbClr val="0B63E5"/>
            </a:solidFill>
            <a:prstDash val="solid"/>
            <a:tailEnd type="triangle"/>
          </a:ln>
        </p:spPr>
        <p:txBody>
          <a:bodyPr/>
          <a:lstStyle/>
          <a:p>
            <a:endParaRPr lang="it-IT"/>
          </a:p>
        </p:txBody>
      </p:sp>
      <p:sp>
        <p:nvSpPr>
          <p:cNvPr id="60" name="Shape 9">
            <a:extLst>
              <a:ext uri="{FF2B5EF4-FFF2-40B4-BE49-F238E27FC236}">
                <a16:creationId xmlns:a16="http://schemas.microsoft.com/office/drawing/2014/main" id="{7DC85934-BA63-C9A0-7BFB-441FB06E3335}"/>
              </a:ext>
            </a:extLst>
          </p:cNvPr>
          <p:cNvSpPr/>
          <p:nvPr/>
        </p:nvSpPr>
        <p:spPr>
          <a:xfrm>
            <a:off x="9329973" y="4725345"/>
            <a:ext cx="1253955" cy="520844"/>
          </a:xfrm>
          <a:prstGeom prst="roundRect">
            <a:avLst>
              <a:gd name="adj" fmla="val 10959"/>
            </a:avLst>
          </a:prstGeom>
          <a:solidFill>
            <a:srgbClr val="EAF5FF"/>
          </a:solidFill>
          <a:ln w="13970">
            <a:solidFill>
              <a:srgbClr val="0B63E5"/>
            </a:solidFill>
            <a:prstDash val="solid"/>
          </a:ln>
        </p:spPr>
        <p:txBody>
          <a:bodyPr/>
          <a:lstStyle/>
          <a:p>
            <a:endParaRPr lang="it-IT"/>
          </a:p>
        </p:txBody>
      </p:sp>
      <p:sp>
        <p:nvSpPr>
          <p:cNvPr id="61" name="Text 10">
            <a:extLst>
              <a:ext uri="{FF2B5EF4-FFF2-40B4-BE49-F238E27FC236}">
                <a16:creationId xmlns:a16="http://schemas.microsoft.com/office/drawing/2014/main" id="{8FBC5C73-270B-D6C9-202A-D59D06757333}"/>
              </a:ext>
            </a:extLst>
          </p:cNvPr>
          <p:cNvSpPr/>
          <p:nvPr/>
        </p:nvSpPr>
        <p:spPr>
          <a:xfrm>
            <a:off x="9329972" y="4877205"/>
            <a:ext cx="1253955" cy="211093"/>
          </a:xfrm>
          <a:prstGeom prst="rect">
            <a:avLst/>
          </a:prstGeom>
          <a:noFill/>
          <a:ln/>
        </p:spPr>
        <p:txBody>
          <a:bodyPr wrap="square" lIns="0" tIns="0" rIns="0" bIns="0" rtlCol="0" anchor="ctr">
            <a:normAutofit/>
          </a:bodyPr>
          <a:lstStyle/>
          <a:p>
            <a:pPr marL="0" indent="0" algn="ctr">
              <a:buNone/>
            </a:pPr>
            <a:r>
              <a:rPr lang="en-US" sz="1220" b="1" dirty="0"/>
              <a:t>Activation</a:t>
            </a:r>
          </a:p>
        </p:txBody>
      </p:sp>
      <p:sp>
        <p:nvSpPr>
          <p:cNvPr id="63" name="CasellaDiTesto 62">
            <a:extLst>
              <a:ext uri="{FF2B5EF4-FFF2-40B4-BE49-F238E27FC236}">
                <a16:creationId xmlns:a16="http://schemas.microsoft.com/office/drawing/2014/main" id="{4B8C0E55-AD9E-A0E4-8B4B-0810DB09CDD4}"/>
              </a:ext>
            </a:extLst>
          </p:cNvPr>
          <p:cNvSpPr txBox="1"/>
          <p:nvPr/>
        </p:nvSpPr>
        <p:spPr>
          <a:xfrm>
            <a:off x="5015214" y="5643430"/>
            <a:ext cx="5006820" cy="677108"/>
          </a:xfrm>
          <a:prstGeom prst="rect">
            <a:avLst/>
          </a:prstGeom>
          <a:noFill/>
        </p:spPr>
        <p:txBody>
          <a:bodyPr wrap="none" rtlCol="0">
            <a:spAutoFit/>
          </a:bodyPr>
          <a:lstStyle/>
          <a:p>
            <a:r>
              <a:rPr lang="it-IT" sz="1400" b="1" dirty="0"/>
              <a:t>Wait State</a:t>
            </a:r>
            <a:r>
              <a:rPr lang="it-IT" sz="1400" dirty="0"/>
              <a:t>: The </a:t>
            </a:r>
            <a:r>
              <a:rPr lang="en-GB" sz="1400" noProof="0" dirty="0"/>
              <a:t>transition</a:t>
            </a:r>
            <a:r>
              <a:rPr lang="it-IT" sz="1400" dirty="0"/>
              <a:t> can be </a:t>
            </a:r>
            <a:r>
              <a:rPr lang="it-IT" sz="1400" dirty="0" err="1"/>
              <a:t>blocked</a:t>
            </a:r>
            <a:r>
              <a:rPr lang="it-IT" sz="1400" dirty="0"/>
              <a:t> for weeks </a:t>
            </a:r>
          </a:p>
          <a:p>
            <a:pPr marL="742950" lvl="1" indent="-285750">
              <a:buFont typeface="Arial" panose="020B0604020202020204" pitchFamily="34" charset="0"/>
              <a:buChar char="•"/>
            </a:pPr>
            <a:r>
              <a:rPr lang="it-IT" sz="1200" dirty="0" err="1"/>
              <a:t>Orchestration</a:t>
            </a:r>
            <a:r>
              <a:rPr lang="it-IT" sz="1200" dirty="0"/>
              <a:t> </a:t>
            </a:r>
            <a:r>
              <a:rPr lang="it-IT" sz="1200" dirty="0" err="1"/>
              <a:t>decoupled</a:t>
            </a:r>
            <a:r>
              <a:rPr lang="it-IT" sz="1200" dirty="0"/>
              <a:t> from </a:t>
            </a:r>
            <a:r>
              <a:rPr lang="it-IT" sz="1200" dirty="0" err="1"/>
              <a:t>active</a:t>
            </a:r>
            <a:r>
              <a:rPr lang="it-IT" sz="1200" dirty="0"/>
              <a:t> chat session</a:t>
            </a:r>
          </a:p>
          <a:p>
            <a:pPr marL="742950" lvl="1" indent="-285750">
              <a:buFont typeface="Arial" panose="020B0604020202020204" pitchFamily="34" charset="0"/>
              <a:buChar char="•"/>
            </a:pPr>
            <a:r>
              <a:rPr lang="it-IT" sz="1200" dirty="0"/>
              <a:t>Memory </a:t>
            </a:r>
            <a:r>
              <a:rPr lang="it-IT" sz="1200" dirty="0" err="1"/>
              <a:t>should</a:t>
            </a:r>
            <a:r>
              <a:rPr lang="it-IT" sz="1200" dirty="0"/>
              <a:t> be </a:t>
            </a:r>
            <a:r>
              <a:rPr lang="it-IT" sz="1200" dirty="0" err="1"/>
              <a:t>externalized</a:t>
            </a:r>
            <a:r>
              <a:rPr lang="it-IT" sz="1200" dirty="0"/>
              <a:t> from chatbot-app component</a:t>
            </a:r>
          </a:p>
        </p:txBody>
      </p:sp>
      <p:sp>
        <p:nvSpPr>
          <p:cNvPr id="4" name="Shape 0">
            <a:extLst>
              <a:ext uri="{FF2B5EF4-FFF2-40B4-BE49-F238E27FC236}">
                <a16:creationId xmlns:a16="http://schemas.microsoft.com/office/drawing/2014/main" id="{D887FD83-4A41-295E-B7ED-7B1ED173E323}"/>
              </a:ext>
            </a:extLst>
          </p:cNvPr>
          <p:cNvSpPr/>
          <p:nvPr/>
        </p:nvSpPr>
        <p:spPr>
          <a:xfrm>
            <a:off x="548640" y="1498349"/>
            <a:ext cx="5554980" cy="438912"/>
          </a:xfrm>
          <a:prstGeom prst="rect">
            <a:avLst/>
          </a:prstGeom>
          <a:solidFill>
            <a:srgbClr val="07133D"/>
          </a:solidFill>
          <a:ln w="6350">
            <a:solidFill>
              <a:srgbClr val="FFFFFF"/>
            </a:solidFill>
            <a:prstDash val="solid"/>
          </a:ln>
        </p:spPr>
        <p:txBody>
          <a:bodyPr/>
          <a:lstStyle/>
          <a:p>
            <a:endParaRPr lang="it-IT" dirty="0"/>
          </a:p>
        </p:txBody>
      </p:sp>
      <p:sp>
        <p:nvSpPr>
          <p:cNvPr id="8" name="Shape 1">
            <a:extLst>
              <a:ext uri="{FF2B5EF4-FFF2-40B4-BE49-F238E27FC236}">
                <a16:creationId xmlns:a16="http://schemas.microsoft.com/office/drawing/2014/main" id="{8984B2B0-458D-B56E-E577-D063037C82E7}"/>
              </a:ext>
            </a:extLst>
          </p:cNvPr>
          <p:cNvSpPr/>
          <p:nvPr/>
        </p:nvSpPr>
        <p:spPr>
          <a:xfrm>
            <a:off x="6103620" y="1498349"/>
            <a:ext cx="5554980" cy="438912"/>
          </a:xfrm>
          <a:prstGeom prst="rect">
            <a:avLst/>
          </a:prstGeom>
          <a:solidFill>
            <a:srgbClr val="07133D"/>
          </a:solidFill>
          <a:ln w="6350">
            <a:solidFill>
              <a:srgbClr val="FFFFFF"/>
            </a:solidFill>
            <a:prstDash val="solid"/>
          </a:ln>
        </p:spPr>
        <p:txBody>
          <a:bodyPr/>
          <a:lstStyle/>
          <a:p>
            <a:endParaRPr lang="it-IT"/>
          </a:p>
        </p:txBody>
      </p:sp>
      <p:sp>
        <p:nvSpPr>
          <p:cNvPr id="9" name="Shape 2">
            <a:extLst>
              <a:ext uri="{FF2B5EF4-FFF2-40B4-BE49-F238E27FC236}">
                <a16:creationId xmlns:a16="http://schemas.microsoft.com/office/drawing/2014/main" id="{B66AAA0D-A4F4-1FBA-F61F-849170D51A83}"/>
              </a:ext>
            </a:extLst>
          </p:cNvPr>
          <p:cNvSpPr/>
          <p:nvPr/>
        </p:nvSpPr>
        <p:spPr>
          <a:xfrm>
            <a:off x="548640" y="1937261"/>
            <a:ext cx="5554980" cy="2057400"/>
          </a:xfrm>
          <a:prstGeom prst="rect">
            <a:avLst/>
          </a:prstGeom>
          <a:solidFill>
            <a:srgbClr val="F4F8FC"/>
          </a:solidFill>
          <a:ln w="11430">
            <a:solidFill>
              <a:srgbClr val="1F2D3D"/>
            </a:solidFill>
            <a:prstDash val="solid"/>
          </a:ln>
        </p:spPr>
        <p:txBody>
          <a:bodyPr/>
          <a:lstStyle/>
          <a:p>
            <a:endParaRPr lang="it-IT" sz="1400">
              <a:latin typeface="Aptos" panose="020B0004020202020204" pitchFamily="34" charset="0"/>
            </a:endParaRPr>
          </a:p>
        </p:txBody>
      </p:sp>
      <p:sp>
        <p:nvSpPr>
          <p:cNvPr id="10" name="Shape 3">
            <a:extLst>
              <a:ext uri="{FF2B5EF4-FFF2-40B4-BE49-F238E27FC236}">
                <a16:creationId xmlns:a16="http://schemas.microsoft.com/office/drawing/2014/main" id="{6CF7549D-195A-BE6B-8E4C-D2EA204AEF3E}"/>
              </a:ext>
            </a:extLst>
          </p:cNvPr>
          <p:cNvSpPr/>
          <p:nvPr/>
        </p:nvSpPr>
        <p:spPr>
          <a:xfrm>
            <a:off x="6103620" y="1937261"/>
            <a:ext cx="5554980" cy="2057400"/>
          </a:xfrm>
          <a:prstGeom prst="rect">
            <a:avLst/>
          </a:prstGeom>
          <a:solidFill>
            <a:srgbClr val="F4F8FC"/>
          </a:solidFill>
          <a:ln w="11430">
            <a:solidFill>
              <a:srgbClr val="1F2D3D"/>
            </a:solidFill>
            <a:prstDash val="solid"/>
          </a:ln>
        </p:spPr>
        <p:txBody>
          <a:bodyPr/>
          <a:lstStyle/>
          <a:p>
            <a:endParaRPr lang="it-IT" sz="1400">
              <a:latin typeface="Aptos" panose="020B0004020202020204" pitchFamily="34" charset="0"/>
            </a:endParaRPr>
          </a:p>
        </p:txBody>
      </p:sp>
      <p:sp>
        <p:nvSpPr>
          <p:cNvPr id="13" name="Text 4">
            <a:extLst>
              <a:ext uri="{FF2B5EF4-FFF2-40B4-BE49-F238E27FC236}">
                <a16:creationId xmlns:a16="http://schemas.microsoft.com/office/drawing/2014/main" id="{F3B63F24-762E-73D7-1395-F66BF026708E}"/>
              </a:ext>
            </a:extLst>
          </p:cNvPr>
          <p:cNvSpPr/>
          <p:nvPr/>
        </p:nvSpPr>
        <p:spPr>
          <a:xfrm>
            <a:off x="685800" y="1617221"/>
            <a:ext cx="5280660" cy="201168"/>
          </a:xfrm>
          <a:prstGeom prst="rect">
            <a:avLst/>
          </a:prstGeom>
          <a:noFill/>
          <a:ln/>
        </p:spPr>
        <p:txBody>
          <a:bodyPr wrap="square" lIns="0" tIns="0" rIns="0" bIns="0" rtlCol="0" anchor="t">
            <a:noAutofit/>
          </a:bodyPr>
          <a:lstStyle/>
          <a:p>
            <a:pPr marL="0" indent="0" algn="l">
              <a:buNone/>
            </a:pPr>
            <a:r>
              <a:rPr lang="en-US" sz="1400" b="1" dirty="0">
                <a:solidFill>
                  <a:schemeClr val="bg1"/>
                </a:solidFill>
                <a:latin typeface="Aptos" panose="020B0004020202020204" pitchFamily="34" charset="0"/>
                <a:ea typeface="Aptos" pitchFamily="34" charset="-122"/>
                <a:cs typeface="Aptos" pitchFamily="34" charset="-120"/>
              </a:rPr>
              <a:t>Platform Goals</a:t>
            </a:r>
            <a:endParaRPr lang="en-US" sz="1400" dirty="0">
              <a:solidFill>
                <a:schemeClr val="bg1"/>
              </a:solidFill>
              <a:latin typeface="Aptos" panose="020B0004020202020204" pitchFamily="34" charset="0"/>
            </a:endParaRPr>
          </a:p>
        </p:txBody>
      </p:sp>
      <p:sp>
        <p:nvSpPr>
          <p:cNvPr id="15" name="Text 5">
            <a:extLst>
              <a:ext uri="{FF2B5EF4-FFF2-40B4-BE49-F238E27FC236}">
                <a16:creationId xmlns:a16="http://schemas.microsoft.com/office/drawing/2014/main" id="{1459177D-5E7E-4919-F58F-71633E950550}"/>
              </a:ext>
            </a:extLst>
          </p:cNvPr>
          <p:cNvSpPr/>
          <p:nvPr/>
        </p:nvSpPr>
        <p:spPr>
          <a:xfrm>
            <a:off x="6240780" y="1617221"/>
            <a:ext cx="5280660" cy="201168"/>
          </a:xfrm>
          <a:prstGeom prst="rect">
            <a:avLst/>
          </a:prstGeom>
          <a:noFill/>
          <a:ln/>
        </p:spPr>
        <p:txBody>
          <a:bodyPr wrap="square" lIns="0" tIns="0" rIns="0" bIns="0" rtlCol="0" anchor="t">
            <a:noAutofit/>
          </a:bodyPr>
          <a:lstStyle/>
          <a:p>
            <a:pPr marL="0" indent="0" algn="l">
              <a:buNone/>
            </a:pPr>
            <a:r>
              <a:rPr lang="en-US" sz="1400" b="1" dirty="0">
                <a:solidFill>
                  <a:schemeClr val="bg1"/>
                </a:solidFill>
                <a:latin typeface="Aptos" panose="020B0004020202020204" pitchFamily="34" charset="0"/>
                <a:ea typeface="Aptos" pitchFamily="34" charset="-122"/>
                <a:cs typeface="Aptos" pitchFamily="34" charset="-120"/>
              </a:rPr>
              <a:t>Hard Constraints</a:t>
            </a:r>
            <a:endParaRPr lang="en-US" sz="1400" dirty="0">
              <a:solidFill>
                <a:schemeClr val="bg1"/>
              </a:solidFill>
              <a:latin typeface="Aptos" panose="020B0004020202020204" pitchFamily="34" charset="0"/>
            </a:endParaRPr>
          </a:p>
        </p:txBody>
      </p:sp>
      <p:sp>
        <p:nvSpPr>
          <p:cNvPr id="16" name="Text 6">
            <a:extLst>
              <a:ext uri="{FF2B5EF4-FFF2-40B4-BE49-F238E27FC236}">
                <a16:creationId xmlns:a16="http://schemas.microsoft.com/office/drawing/2014/main" id="{8A76B419-086D-67A4-62CC-35A1EA591519}"/>
              </a:ext>
            </a:extLst>
          </p:cNvPr>
          <p:cNvSpPr/>
          <p:nvPr/>
        </p:nvSpPr>
        <p:spPr>
          <a:xfrm>
            <a:off x="713232" y="2202437"/>
            <a:ext cx="146304" cy="164592"/>
          </a:xfrm>
          <a:prstGeom prst="rect">
            <a:avLst/>
          </a:prstGeom>
          <a:noFill/>
          <a:ln/>
        </p:spPr>
        <p:txBody>
          <a:bodyPr wrap="square" lIns="0" tIns="0" rIns="0" bIns="0" rtlCol="0" anchor="t">
            <a:noAutofit/>
          </a:bodyPr>
          <a:lstStyle/>
          <a:p>
            <a:pPr marL="0" indent="0" algn="l">
              <a:buNone/>
            </a:pPr>
            <a:r>
              <a:rPr lang="en-US" sz="1400" b="1" dirty="0">
                <a:solidFill>
                  <a:srgbClr val="16834A"/>
                </a:solidFill>
                <a:latin typeface="Aptos" panose="020B0004020202020204" pitchFamily="34" charset="0"/>
                <a:ea typeface="Aptos" pitchFamily="34" charset="-122"/>
                <a:cs typeface="Aptos" pitchFamily="34" charset="-120"/>
              </a:rPr>
              <a:t>✓</a:t>
            </a:r>
            <a:endParaRPr lang="en-US" sz="1400" dirty="0">
              <a:latin typeface="Aptos" panose="020B0004020202020204" pitchFamily="34" charset="0"/>
            </a:endParaRPr>
          </a:p>
        </p:txBody>
      </p:sp>
      <p:sp>
        <p:nvSpPr>
          <p:cNvPr id="17" name="Text 7">
            <a:extLst>
              <a:ext uri="{FF2B5EF4-FFF2-40B4-BE49-F238E27FC236}">
                <a16:creationId xmlns:a16="http://schemas.microsoft.com/office/drawing/2014/main" id="{B0E3CD11-04EB-D921-D3F3-3F2ADE520CD8}"/>
              </a:ext>
            </a:extLst>
          </p:cNvPr>
          <p:cNvSpPr/>
          <p:nvPr/>
        </p:nvSpPr>
        <p:spPr>
          <a:xfrm>
            <a:off x="941832" y="2193293"/>
            <a:ext cx="4960620" cy="347472"/>
          </a:xfrm>
          <a:prstGeom prst="rect">
            <a:avLst/>
          </a:prstGeom>
          <a:noFill/>
          <a:ln/>
        </p:spPr>
        <p:txBody>
          <a:bodyPr wrap="square" lIns="0" tIns="0" rIns="0" bIns="0" rtlCol="0" anchor="t">
            <a:noAutofit/>
          </a:bodyPr>
          <a:lstStyle/>
          <a:p>
            <a:pPr marL="0" indent="0" algn="l">
              <a:buNone/>
            </a:pPr>
            <a:r>
              <a:rPr lang="en-US" sz="1400" dirty="0">
                <a:solidFill>
                  <a:srgbClr val="000000"/>
                </a:solidFill>
                <a:latin typeface="Aptos" panose="020B0004020202020204" pitchFamily="34" charset="0"/>
                <a:ea typeface="Aptos" pitchFamily="34" charset="-122"/>
                <a:cs typeface="Aptos" pitchFamily="34" charset="-120"/>
              </a:rPr>
              <a:t>Resume conversations without losing progress or repeating</a:t>
            </a:r>
            <a:endParaRPr lang="en-US" sz="1400" dirty="0">
              <a:latin typeface="Aptos" panose="020B0004020202020204" pitchFamily="34" charset="0"/>
            </a:endParaRPr>
          </a:p>
          <a:p>
            <a:pPr marL="0" indent="0" algn="l">
              <a:buNone/>
            </a:pPr>
            <a:r>
              <a:rPr lang="en-US" sz="1400" dirty="0">
                <a:solidFill>
                  <a:srgbClr val="000000"/>
                </a:solidFill>
                <a:latin typeface="Aptos" panose="020B0004020202020204" pitchFamily="34" charset="0"/>
                <a:ea typeface="Aptos" pitchFamily="34" charset="-122"/>
                <a:cs typeface="Aptos" pitchFamily="34" charset="-120"/>
              </a:rPr>
              <a:t>actions.</a:t>
            </a:r>
            <a:endParaRPr lang="en-US" sz="1400" dirty="0">
              <a:latin typeface="Aptos" panose="020B0004020202020204" pitchFamily="34" charset="0"/>
            </a:endParaRPr>
          </a:p>
        </p:txBody>
      </p:sp>
      <p:sp>
        <p:nvSpPr>
          <p:cNvPr id="18" name="Text 8">
            <a:extLst>
              <a:ext uri="{FF2B5EF4-FFF2-40B4-BE49-F238E27FC236}">
                <a16:creationId xmlns:a16="http://schemas.microsoft.com/office/drawing/2014/main" id="{D3DD33A5-BD20-5047-10D3-FD3B6101136B}"/>
              </a:ext>
            </a:extLst>
          </p:cNvPr>
          <p:cNvSpPr/>
          <p:nvPr/>
        </p:nvSpPr>
        <p:spPr>
          <a:xfrm>
            <a:off x="713232" y="2769365"/>
            <a:ext cx="146304" cy="164592"/>
          </a:xfrm>
          <a:prstGeom prst="rect">
            <a:avLst/>
          </a:prstGeom>
          <a:noFill/>
          <a:ln/>
        </p:spPr>
        <p:txBody>
          <a:bodyPr wrap="square" lIns="0" tIns="0" rIns="0" bIns="0" rtlCol="0" anchor="t">
            <a:noAutofit/>
          </a:bodyPr>
          <a:lstStyle/>
          <a:p>
            <a:pPr marL="0" indent="0" algn="l">
              <a:buNone/>
            </a:pPr>
            <a:r>
              <a:rPr lang="en-US" sz="1400" b="1" dirty="0">
                <a:solidFill>
                  <a:srgbClr val="16834A"/>
                </a:solidFill>
                <a:latin typeface="Aptos" panose="020B0004020202020204" pitchFamily="34" charset="0"/>
                <a:ea typeface="Aptos" pitchFamily="34" charset="-122"/>
                <a:cs typeface="Aptos" pitchFamily="34" charset="-120"/>
              </a:rPr>
              <a:t>✓</a:t>
            </a:r>
            <a:endParaRPr lang="en-US" sz="1400" dirty="0">
              <a:latin typeface="Aptos" panose="020B0004020202020204" pitchFamily="34" charset="0"/>
            </a:endParaRPr>
          </a:p>
        </p:txBody>
      </p:sp>
      <p:sp>
        <p:nvSpPr>
          <p:cNvPr id="19" name="Text 9">
            <a:extLst>
              <a:ext uri="{FF2B5EF4-FFF2-40B4-BE49-F238E27FC236}">
                <a16:creationId xmlns:a16="http://schemas.microsoft.com/office/drawing/2014/main" id="{DE768DFA-869E-2E5B-F080-941D75BAC1A2}"/>
              </a:ext>
            </a:extLst>
          </p:cNvPr>
          <p:cNvSpPr/>
          <p:nvPr/>
        </p:nvSpPr>
        <p:spPr>
          <a:xfrm>
            <a:off x="941832" y="2760221"/>
            <a:ext cx="4960620" cy="347472"/>
          </a:xfrm>
          <a:prstGeom prst="rect">
            <a:avLst/>
          </a:prstGeom>
          <a:noFill/>
          <a:ln/>
        </p:spPr>
        <p:txBody>
          <a:bodyPr wrap="square" lIns="0" tIns="0" rIns="0" bIns="0" rtlCol="0" anchor="t">
            <a:normAutofit/>
          </a:bodyPr>
          <a:lstStyle/>
          <a:p>
            <a:pPr marL="0" indent="0" algn="l">
              <a:buNone/>
            </a:pPr>
            <a:r>
              <a:rPr lang="en-US" sz="1400" dirty="0">
                <a:solidFill>
                  <a:srgbClr val="000000"/>
                </a:solidFill>
                <a:latin typeface="Aptos" panose="020B0004020202020204" pitchFamily="34" charset="0"/>
                <a:ea typeface="Aptos" pitchFamily="34" charset="-122"/>
                <a:cs typeface="Aptos" pitchFamily="34" charset="-120"/>
              </a:rPr>
              <a:t>Support missing document uploads and manual reviews.</a:t>
            </a:r>
            <a:endParaRPr lang="en-US" sz="1400" dirty="0">
              <a:latin typeface="Aptos" panose="020B0004020202020204" pitchFamily="34" charset="0"/>
            </a:endParaRPr>
          </a:p>
        </p:txBody>
      </p:sp>
      <p:sp>
        <p:nvSpPr>
          <p:cNvPr id="20" name="Text 10">
            <a:extLst>
              <a:ext uri="{FF2B5EF4-FFF2-40B4-BE49-F238E27FC236}">
                <a16:creationId xmlns:a16="http://schemas.microsoft.com/office/drawing/2014/main" id="{F3E1CB56-ED7A-AAB8-C7F8-3B88852EF856}"/>
              </a:ext>
            </a:extLst>
          </p:cNvPr>
          <p:cNvSpPr/>
          <p:nvPr/>
        </p:nvSpPr>
        <p:spPr>
          <a:xfrm>
            <a:off x="713232" y="3336293"/>
            <a:ext cx="146304" cy="164592"/>
          </a:xfrm>
          <a:prstGeom prst="rect">
            <a:avLst/>
          </a:prstGeom>
          <a:noFill/>
          <a:ln/>
        </p:spPr>
        <p:txBody>
          <a:bodyPr wrap="square" lIns="0" tIns="0" rIns="0" bIns="0" rtlCol="0" anchor="t">
            <a:noAutofit/>
          </a:bodyPr>
          <a:lstStyle/>
          <a:p>
            <a:pPr marL="0" indent="0" algn="l">
              <a:buNone/>
            </a:pPr>
            <a:r>
              <a:rPr lang="en-US" sz="1400" b="1" dirty="0">
                <a:solidFill>
                  <a:srgbClr val="16834A"/>
                </a:solidFill>
                <a:latin typeface="Aptos" panose="020B0004020202020204" pitchFamily="34" charset="0"/>
                <a:ea typeface="Aptos" pitchFamily="34" charset="-122"/>
                <a:cs typeface="Aptos" pitchFamily="34" charset="-120"/>
              </a:rPr>
              <a:t>✓</a:t>
            </a:r>
            <a:endParaRPr lang="en-US" sz="1400" dirty="0">
              <a:latin typeface="Aptos" panose="020B0004020202020204" pitchFamily="34" charset="0"/>
            </a:endParaRPr>
          </a:p>
        </p:txBody>
      </p:sp>
      <p:sp>
        <p:nvSpPr>
          <p:cNvPr id="21" name="Text 11">
            <a:extLst>
              <a:ext uri="{FF2B5EF4-FFF2-40B4-BE49-F238E27FC236}">
                <a16:creationId xmlns:a16="http://schemas.microsoft.com/office/drawing/2014/main" id="{C834B63E-6CE3-0559-DAD3-9C157C9843D8}"/>
              </a:ext>
            </a:extLst>
          </p:cNvPr>
          <p:cNvSpPr/>
          <p:nvPr/>
        </p:nvSpPr>
        <p:spPr>
          <a:xfrm>
            <a:off x="941832" y="3327149"/>
            <a:ext cx="4960620" cy="347472"/>
          </a:xfrm>
          <a:prstGeom prst="rect">
            <a:avLst/>
          </a:prstGeom>
          <a:noFill/>
          <a:ln/>
        </p:spPr>
        <p:txBody>
          <a:bodyPr wrap="square" lIns="0" tIns="0" rIns="0" bIns="0" rtlCol="0" anchor="t">
            <a:noAutofit/>
          </a:bodyPr>
          <a:lstStyle/>
          <a:p>
            <a:pPr marL="0" indent="0" algn="l">
              <a:buNone/>
            </a:pPr>
            <a:r>
              <a:rPr lang="en-US" sz="1400" dirty="0">
                <a:solidFill>
                  <a:srgbClr val="000000"/>
                </a:solidFill>
                <a:latin typeface="Aptos" panose="020B0004020202020204" pitchFamily="34" charset="0"/>
                <a:ea typeface="Aptos" pitchFamily="34" charset="-122"/>
                <a:cs typeface="Aptos" pitchFamily="34" charset="-120"/>
              </a:rPr>
              <a:t>Guarantee no duplicate charges, shipments, or premature</a:t>
            </a:r>
            <a:endParaRPr lang="en-US" sz="1400" dirty="0">
              <a:latin typeface="Aptos" panose="020B0004020202020204" pitchFamily="34" charset="0"/>
            </a:endParaRPr>
          </a:p>
          <a:p>
            <a:pPr marL="0" indent="0" algn="l">
              <a:buNone/>
            </a:pPr>
            <a:r>
              <a:rPr lang="en-US" sz="1400" dirty="0">
                <a:solidFill>
                  <a:srgbClr val="000000"/>
                </a:solidFill>
                <a:latin typeface="Aptos" panose="020B0004020202020204" pitchFamily="34" charset="0"/>
                <a:ea typeface="Aptos" pitchFamily="34" charset="-122"/>
                <a:cs typeface="Aptos" pitchFamily="34" charset="-120"/>
              </a:rPr>
              <a:t>activations.</a:t>
            </a:r>
            <a:endParaRPr lang="en-US" sz="1400" dirty="0">
              <a:latin typeface="Aptos" panose="020B0004020202020204" pitchFamily="34" charset="0"/>
            </a:endParaRPr>
          </a:p>
        </p:txBody>
      </p:sp>
      <p:sp>
        <p:nvSpPr>
          <p:cNvPr id="22" name="Text 12">
            <a:extLst>
              <a:ext uri="{FF2B5EF4-FFF2-40B4-BE49-F238E27FC236}">
                <a16:creationId xmlns:a16="http://schemas.microsoft.com/office/drawing/2014/main" id="{3C084EC3-1BB3-2C04-7C15-BBDC9A9DB4C6}"/>
              </a:ext>
            </a:extLst>
          </p:cNvPr>
          <p:cNvSpPr/>
          <p:nvPr/>
        </p:nvSpPr>
        <p:spPr>
          <a:xfrm>
            <a:off x="6332220" y="2184149"/>
            <a:ext cx="109728" cy="164592"/>
          </a:xfrm>
          <a:prstGeom prst="rect">
            <a:avLst/>
          </a:prstGeom>
          <a:noFill/>
          <a:ln/>
        </p:spPr>
        <p:txBody>
          <a:bodyPr wrap="square" lIns="0" tIns="0" rIns="0" bIns="0" rtlCol="0" anchor="t">
            <a:noAutofit/>
          </a:bodyPr>
          <a:lstStyle/>
          <a:p>
            <a:pPr marL="0" indent="0" algn="l">
              <a:buNone/>
            </a:pPr>
            <a:r>
              <a:rPr lang="en-US" sz="1400" dirty="0">
                <a:solidFill>
                  <a:srgbClr val="000000"/>
                </a:solidFill>
                <a:latin typeface="Aptos" panose="020B0004020202020204" pitchFamily="34" charset="0"/>
                <a:ea typeface="Aptos" pitchFamily="34" charset="-122"/>
                <a:cs typeface="Aptos" pitchFamily="34" charset="-120"/>
              </a:rPr>
              <a:t>•</a:t>
            </a:r>
            <a:endParaRPr lang="en-US" sz="1400" dirty="0">
              <a:latin typeface="Aptos" panose="020B0004020202020204" pitchFamily="34" charset="0"/>
            </a:endParaRPr>
          </a:p>
        </p:txBody>
      </p:sp>
      <p:sp>
        <p:nvSpPr>
          <p:cNvPr id="23" name="Text 13">
            <a:extLst>
              <a:ext uri="{FF2B5EF4-FFF2-40B4-BE49-F238E27FC236}">
                <a16:creationId xmlns:a16="http://schemas.microsoft.com/office/drawing/2014/main" id="{B009AA71-E817-3018-EE6B-3E66FF66F4B6}"/>
              </a:ext>
            </a:extLst>
          </p:cNvPr>
          <p:cNvSpPr/>
          <p:nvPr/>
        </p:nvSpPr>
        <p:spPr>
          <a:xfrm>
            <a:off x="6533388" y="2184149"/>
            <a:ext cx="4869180" cy="201168"/>
          </a:xfrm>
          <a:prstGeom prst="rect">
            <a:avLst/>
          </a:prstGeom>
          <a:noFill/>
          <a:ln/>
        </p:spPr>
        <p:txBody>
          <a:bodyPr wrap="square" lIns="0" tIns="0" rIns="0" bIns="0" rtlCol="0" anchor="ctr">
            <a:noAutofit/>
          </a:bodyPr>
          <a:lstStyle/>
          <a:p>
            <a:pPr marL="0" indent="0">
              <a:buNone/>
            </a:pPr>
            <a:r>
              <a:rPr lang="en-US" sz="1400" b="1" dirty="0">
                <a:solidFill>
                  <a:srgbClr val="000000"/>
                </a:solidFill>
                <a:latin typeface="Aptos" panose="020B0004020202020204" pitchFamily="34" charset="0"/>
                <a:ea typeface="Aptos" pitchFamily="34" charset="-122"/>
                <a:cs typeface="Aptos" pitchFamily="34" charset="-120"/>
              </a:rPr>
              <a:t>Team:</a:t>
            </a:r>
            <a:r>
              <a:rPr lang="en-US" sz="1400" dirty="0">
                <a:solidFill>
                  <a:srgbClr val="000000"/>
                </a:solidFill>
                <a:latin typeface="Aptos" panose="020B0004020202020204" pitchFamily="34" charset="0"/>
                <a:ea typeface="Aptos" pitchFamily="34" charset="-122"/>
                <a:cs typeface="Aptos" pitchFamily="34" charset="-120"/>
              </a:rPr>
              <a:t> 2 Platform Engineers (AWS/Managed Kubernetes).</a:t>
            </a:r>
            <a:endParaRPr lang="en-US" sz="1400" dirty="0">
              <a:latin typeface="Aptos" panose="020B0004020202020204" pitchFamily="34" charset="0"/>
            </a:endParaRPr>
          </a:p>
        </p:txBody>
      </p:sp>
      <p:sp>
        <p:nvSpPr>
          <p:cNvPr id="24" name="Text 14">
            <a:extLst>
              <a:ext uri="{FF2B5EF4-FFF2-40B4-BE49-F238E27FC236}">
                <a16:creationId xmlns:a16="http://schemas.microsoft.com/office/drawing/2014/main" id="{78D3B71D-58A0-7148-07DC-CD4A356FBADC}"/>
              </a:ext>
            </a:extLst>
          </p:cNvPr>
          <p:cNvSpPr/>
          <p:nvPr/>
        </p:nvSpPr>
        <p:spPr>
          <a:xfrm>
            <a:off x="6332220" y="2577341"/>
            <a:ext cx="109728" cy="164592"/>
          </a:xfrm>
          <a:prstGeom prst="rect">
            <a:avLst/>
          </a:prstGeom>
          <a:noFill/>
          <a:ln/>
        </p:spPr>
        <p:txBody>
          <a:bodyPr wrap="square" lIns="0" tIns="0" rIns="0" bIns="0" rtlCol="0" anchor="t">
            <a:noAutofit/>
          </a:bodyPr>
          <a:lstStyle/>
          <a:p>
            <a:pPr marL="0" indent="0" algn="l">
              <a:buNone/>
            </a:pPr>
            <a:r>
              <a:rPr lang="en-US" sz="1400" dirty="0">
                <a:solidFill>
                  <a:srgbClr val="000000"/>
                </a:solidFill>
                <a:latin typeface="Aptos" panose="020B0004020202020204" pitchFamily="34" charset="0"/>
                <a:ea typeface="Aptos" pitchFamily="34" charset="-122"/>
                <a:cs typeface="Aptos" pitchFamily="34" charset="-120"/>
              </a:rPr>
              <a:t>•</a:t>
            </a:r>
            <a:endParaRPr lang="en-US" sz="1400" dirty="0">
              <a:latin typeface="Aptos" panose="020B0004020202020204" pitchFamily="34" charset="0"/>
            </a:endParaRPr>
          </a:p>
        </p:txBody>
      </p:sp>
      <p:sp>
        <p:nvSpPr>
          <p:cNvPr id="25" name="Text 15">
            <a:extLst>
              <a:ext uri="{FF2B5EF4-FFF2-40B4-BE49-F238E27FC236}">
                <a16:creationId xmlns:a16="http://schemas.microsoft.com/office/drawing/2014/main" id="{E34F7EDE-C16C-64AF-0739-036A6189DB69}"/>
              </a:ext>
            </a:extLst>
          </p:cNvPr>
          <p:cNvSpPr/>
          <p:nvPr/>
        </p:nvSpPr>
        <p:spPr>
          <a:xfrm>
            <a:off x="6533388" y="2671631"/>
            <a:ext cx="4869180" cy="201168"/>
          </a:xfrm>
          <a:prstGeom prst="rect">
            <a:avLst/>
          </a:prstGeom>
          <a:noFill/>
          <a:ln/>
        </p:spPr>
        <p:txBody>
          <a:bodyPr wrap="square" lIns="0" tIns="0" rIns="0" bIns="0" rtlCol="0" anchor="ctr">
            <a:noAutofit/>
          </a:bodyPr>
          <a:lstStyle/>
          <a:p>
            <a:pPr marL="0" indent="0">
              <a:buNone/>
            </a:pPr>
            <a:r>
              <a:rPr lang="en-US" sz="1400" b="1" dirty="0">
                <a:solidFill>
                  <a:srgbClr val="000000"/>
                </a:solidFill>
                <a:latin typeface="Aptos" panose="020B0004020202020204" pitchFamily="34" charset="0"/>
                <a:ea typeface="Aptos" pitchFamily="34" charset="-122"/>
                <a:cs typeface="Aptos" pitchFamily="34" charset="-120"/>
              </a:rPr>
              <a:t>Resilience:</a:t>
            </a:r>
            <a:r>
              <a:rPr lang="en-US" sz="1400" dirty="0">
                <a:solidFill>
                  <a:srgbClr val="000000"/>
                </a:solidFill>
                <a:latin typeface="Aptos" panose="020B0004020202020204" pitchFamily="34" charset="0"/>
                <a:ea typeface="Aptos" pitchFamily="34" charset="-122"/>
                <a:cs typeface="Aptos" pitchFamily="34" charset="-120"/>
              </a:rPr>
              <a:t> 99.9% Availability · RPO &lt; 1 minute · RTO &lt; 10 minutes.</a:t>
            </a:r>
            <a:endParaRPr lang="en-US" sz="1400" dirty="0">
              <a:latin typeface="Aptos" panose="020B0004020202020204" pitchFamily="34" charset="0"/>
            </a:endParaRPr>
          </a:p>
        </p:txBody>
      </p:sp>
      <p:sp>
        <p:nvSpPr>
          <p:cNvPr id="26" name="Text 16">
            <a:extLst>
              <a:ext uri="{FF2B5EF4-FFF2-40B4-BE49-F238E27FC236}">
                <a16:creationId xmlns:a16="http://schemas.microsoft.com/office/drawing/2014/main" id="{55FD5ED4-7B2E-8C72-1AED-0FA021A5CDF0}"/>
              </a:ext>
            </a:extLst>
          </p:cNvPr>
          <p:cNvSpPr/>
          <p:nvPr/>
        </p:nvSpPr>
        <p:spPr>
          <a:xfrm>
            <a:off x="6332220" y="3058090"/>
            <a:ext cx="109728" cy="164592"/>
          </a:xfrm>
          <a:prstGeom prst="rect">
            <a:avLst/>
          </a:prstGeom>
          <a:noFill/>
          <a:ln/>
        </p:spPr>
        <p:txBody>
          <a:bodyPr wrap="square" lIns="0" tIns="0" rIns="0" bIns="0" rtlCol="0" anchor="t">
            <a:noAutofit/>
          </a:bodyPr>
          <a:lstStyle/>
          <a:p>
            <a:pPr marL="0" indent="0" algn="l">
              <a:buNone/>
            </a:pPr>
            <a:r>
              <a:rPr lang="en-US" sz="1400" dirty="0">
                <a:solidFill>
                  <a:srgbClr val="000000"/>
                </a:solidFill>
                <a:latin typeface="Aptos" panose="020B0004020202020204" pitchFamily="34" charset="0"/>
                <a:ea typeface="Aptos" pitchFamily="34" charset="-122"/>
                <a:cs typeface="Aptos" pitchFamily="34" charset="-120"/>
              </a:rPr>
              <a:t>•</a:t>
            </a:r>
            <a:endParaRPr lang="en-US" sz="1400" dirty="0">
              <a:latin typeface="Aptos" panose="020B0004020202020204" pitchFamily="34" charset="0"/>
            </a:endParaRPr>
          </a:p>
        </p:txBody>
      </p:sp>
      <p:sp>
        <p:nvSpPr>
          <p:cNvPr id="27" name="Text 17">
            <a:extLst>
              <a:ext uri="{FF2B5EF4-FFF2-40B4-BE49-F238E27FC236}">
                <a16:creationId xmlns:a16="http://schemas.microsoft.com/office/drawing/2014/main" id="{1496E4D3-5E2E-EE7D-4001-3CEC23602988}"/>
              </a:ext>
            </a:extLst>
          </p:cNvPr>
          <p:cNvSpPr/>
          <p:nvPr/>
        </p:nvSpPr>
        <p:spPr>
          <a:xfrm>
            <a:off x="6533388" y="3058090"/>
            <a:ext cx="4869180" cy="201168"/>
          </a:xfrm>
          <a:prstGeom prst="rect">
            <a:avLst/>
          </a:prstGeom>
          <a:noFill/>
          <a:ln/>
        </p:spPr>
        <p:txBody>
          <a:bodyPr wrap="square" lIns="0" tIns="0" rIns="0" bIns="0" rtlCol="0" anchor="ctr">
            <a:noAutofit/>
          </a:bodyPr>
          <a:lstStyle/>
          <a:p>
            <a:pPr marL="0" indent="0">
              <a:buNone/>
            </a:pPr>
            <a:r>
              <a:rPr lang="en-US" sz="1400" b="1" dirty="0">
                <a:solidFill>
                  <a:srgbClr val="000000"/>
                </a:solidFill>
                <a:latin typeface="Aptos" panose="020B0004020202020204" pitchFamily="34" charset="0"/>
                <a:ea typeface="Aptos" pitchFamily="34" charset="-122"/>
                <a:cs typeface="Aptos" pitchFamily="34" charset="-120"/>
              </a:rPr>
              <a:t>Security:</a:t>
            </a:r>
            <a:r>
              <a:rPr lang="en-US" sz="1400" dirty="0">
                <a:solidFill>
                  <a:srgbClr val="000000"/>
                </a:solidFill>
                <a:latin typeface="Aptos" panose="020B0004020202020204" pitchFamily="34" charset="0"/>
                <a:ea typeface="Aptos" pitchFamily="34" charset="-122"/>
                <a:cs typeface="Aptos" pitchFamily="34" charset="-120"/>
              </a:rPr>
              <a:t> Confidential data must remain in the selected region.</a:t>
            </a:r>
            <a:endParaRPr lang="en-US" sz="1400" dirty="0">
              <a:latin typeface="Aptos" panose="020B0004020202020204" pitchFamily="34" charset="0"/>
            </a:endParaRPr>
          </a:p>
        </p:txBody>
      </p:sp>
      <p:sp>
        <p:nvSpPr>
          <p:cNvPr id="28" name="Text 18">
            <a:extLst>
              <a:ext uri="{FF2B5EF4-FFF2-40B4-BE49-F238E27FC236}">
                <a16:creationId xmlns:a16="http://schemas.microsoft.com/office/drawing/2014/main" id="{253FEDD8-7751-BA7F-822A-8CD4497AA491}"/>
              </a:ext>
            </a:extLst>
          </p:cNvPr>
          <p:cNvSpPr/>
          <p:nvPr/>
        </p:nvSpPr>
        <p:spPr>
          <a:xfrm>
            <a:off x="6332220" y="3363725"/>
            <a:ext cx="109728" cy="164592"/>
          </a:xfrm>
          <a:prstGeom prst="rect">
            <a:avLst/>
          </a:prstGeom>
          <a:noFill/>
          <a:ln/>
        </p:spPr>
        <p:txBody>
          <a:bodyPr wrap="square" lIns="0" tIns="0" rIns="0" bIns="0" rtlCol="0" anchor="t">
            <a:noAutofit/>
          </a:bodyPr>
          <a:lstStyle/>
          <a:p>
            <a:pPr marL="0" indent="0" algn="l">
              <a:buNone/>
            </a:pPr>
            <a:r>
              <a:rPr lang="en-US" sz="1400" dirty="0">
                <a:solidFill>
                  <a:srgbClr val="000000"/>
                </a:solidFill>
                <a:latin typeface="Aptos" panose="020B0004020202020204" pitchFamily="34" charset="0"/>
                <a:ea typeface="Aptos" pitchFamily="34" charset="-122"/>
                <a:cs typeface="Aptos" pitchFamily="34" charset="-120"/>
              </a:rPr>
              <a:t>•</a:t>
            </a:r>
            <a:endParaRPr lang="en-US" sz="1400" dirty="0">
              <a:latin typeface="Aptos" panose="020B0004020202020204" pitchFamily="34" charset="0"/>
            </a:endParaRPr>
          </a:p>
        </p:txBody>
      </p:sp>
      <p:sp>
        <p:nvSpPr>
          <p:cNvPr id="29" name="Text 19">
            <a:extLst>
              <a:ext uri="{FF2B5EF4-FFF2-40B4-BE49-F238E27FC236}">
                <a16:creationId xmlns:a16="http://schemas.microsoft.com/office/drawing/2014/main" id="{850B340C-E27C-5763-54C7-026C5AD0DCA6}"/>
              </a:ext>
            </a:extLst>
          </p:cNvPr>
          <p:cNvSpPr/>
          <p:nvPr/>
        </p:nvSpPr>
        <p:spPr>
          <a:xfrm>
            <a:off x="6533388" y="3363725"/>
            <a:ext cx="4869180" cy="384048"/>
          </a:xfrm>
          <a:prstGeom prst="rect">
            <a:avLst/>
          </a:prstGeom>
          <a:noFill/>
          <a:ln/>
        </p:spPr>
        <p:txBody>
          <a:bodyPr wrap="square" lIns="0" tIns="0" rIns="0" bIns="0" rtlCol="0" anchor="ctr">
            <a:noAutofit/>
          </a:bodyPr>
          <a:lstStyle/>
          <a:p>
            <a:pPr marL="0" indent="0">
              <a:buNone/>
            </a:pPr>
            <a:r>
              <a:rPr lang="en-US" sz="1400" b="1" dirty="0">
                <a:solidFill>
                  <a:srgbClr val="000000"/>
                </a:solidFill>
                <a:latin typeface="Aptos" panose="020B0004020202020204" pitchFamily="34" charset="0"/>
                <a:ea typeface="Aptos" pitchFamily="34" charset="-122"/>
                <a:cs typeface="Aptos" pitchFamily="34" charset="-120"/>
              </a:rPr>
              <a:t>To Confirm (Assumptions):</a:t>
            </a:r>
            <a:r>
              <a:rPr lang="en-US" sz="1400" dirty="0">
                <a:solidFill>
                  <a:srgbClr val="000000"/>
                </a:solidFill>
                <a:latin typeface="Aptos" panose="020B0004020202020204" pitchFamily="34" charset="0"/>
                <a:ea typeface="Aptos" pitchFamily="34" charset="-122"/>
                <a:cs typeface="Aptos" pitchFamily="34" charset="-120"/>
              </a:rPr>
              <a:t> Single-AZ failure scope, provider guarantees, and regional model availability at launch.</a:t>
            </a:r>
            <a:endParaRPr lang="en-US" sz="1400" dirty="0">
              <a:latin typeface="Aptos" panose="020B0004020202020204" pitchFamily="34" charset="0"/>
            </a:endParaRPr>
          </a:p>
        </p:txBody>
      </p:sp>
    </p:spTree>
    <p:extLst>
      <p:ext uri="{BB962C8B-B14F-4D97-AF65-F5344CB8AC3E}">
        <p14:creationId xmlns:p14="http://schemas.microsoft.com/office/powerpoint/2010/main" val="3110494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sp>
        <p:nvSpPr>
          <p:cNvPr id="3" name="Text 1"/>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High Level Architecture: Components and </a:t>
            </a:r>
            <a:r>
              <a:rPr lang="en-US" sz="2750" b="1" dirty="0" err="1">
                <a:solidFill>
                  <a:srgbClr val="07133D"/>
                </a:solidFill>
                <a:latin typeface="Aptos Display" pitchFamily="34" charset="0"/>
                <a:ea typeface="Aptos Display" pitchFamily="34" charset="-122"/>
                <a:cs typeface="Aptos Display" pitchFamily="34" charset="-120"/>
              </a:rPr>
              <a:t>Responsabilities</a:t>
            </a:r>
            <a:endParaRPr lang="en-US" sz="2750" b="1" dirty="0">
              <a:solidFill>
                <a:srgbClr val="07133D"/>
              </a:solidFill>
              <a:latin typeface="Aptos Display" pitchFamily="34" charset="0"/>
              <a:ea typeface="Aptos Display" pitchFamily="34" charset="-122"/>
              <a:cs typeface="Aptos Display" pitchFamily="34" charset="-120"/>
            </a:endParaRPr>
          </a:p>
        </p:txBody>
      </p:sp>
      <p:sp>
        <p:nvSpPr>
          <p:cNvPr id="5" name="Shape 3"/>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6" name="Shape 4"/>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7" name="Text 5"/>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2/10</a:t>
            </a:r>
            <a:endParaRPr lang="en-US" sz="850" dirty="0"/>
          </a:p>
        </p:txBody>
      </p:sp>
      <p:pic>
        <p:nvPicPr>
          <p:cNvPr id="70" name="Immagine 69">
            <a:extLst>
              <a:ext uri="{FF2B5EF4-FFF2-40B4-BE49-F238E27FC236}">
                <a16:creationId xmlns:a16="http://schemas.microsoft.com/office/drawing/2014/main" id="{7250F835-67B5-34F6-CB3F-7B1BB0DDBB7B}"/>
              </a:ext>
            </a:extLst>
          </p:cNvPr>
          <p:cNvPicPr>
            <a:picLocks noChangeAspect="1"/>
          </p:cNvPicPr>
          <p:nvPr/>
        </p:nvPicPr>
        <p:blipFill>
          <a:blip r:embed="rId3"/>
          <a:srcRect t="14113" b="15541"/>
          <a:stretch>
            <a:fillRect/>
          </a:stretch>
        </p:blipFill>
        <p:spPr>
          <a:xfrm>
            <a:off x="1148227" y="1623656"/>
            <a:ext cx="9649644" cy="38203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F8DD5-D889-92F3-BF91-0CB70C0F925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DA8B026-6292-703D-1693-E96A9FD61FA5}"/>
              </a:ext>
            </a:extLst>
          </p:cNvPr>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sp>
        <p:nvSpPr>
          <p:cNvPr id="3" name="Text 1">
            <a:extLst>
              <a:ext uri="{FF2B5EF4-FFF2-40B4-BE49-F238E27FC236}">
                <a16:creationId xmlns:a16="http://schemas.microsoft.com/office/drawing/2014/main" id="{6DACA089-19FA-D7C6-B9C2-5E1910A8C50C}"/>
              </a:ext>
            </a:extLst>
          </p:cNvPr>
          <p:cNvSpPr/>
          <p:nvPr/>
        </p:nvSpPr>
        <p:spPr>
          <a:xfrm>
            <a:off x="502920" y="438912"/>
            <a:ext cx="10972800" cy="438912"/>
          </a:xfrm>
          <a:prstGeom prst="rect">
            <a:avLst/>
          </a:prstGeom>
          <a:noFill/>
          <a:ln/>
        </p:spPr>
        <p:txBody>
          <a:bodyPr wrap="square" lIns="0" tIns="0" rIns="0" bIns="0" rtlCol="0" anchor="ctr">
            <a:normAutofit/>
          </a:bodyPr>
          <a:lstStyle/>
          <a:p>
            <a:r>
              <a:rPr lang="en-US" sz="2750" b="1" dirty="0">
                <a:solidFill>
                  <a:srgbClr val="07133D"/>
                </a:solidFill>
                <a:latin typeface="Aptos Display" pitchFamily="34" charset="0"/>
                <a:ea typeface="Aptos Display" pitchFamily="34" charset="-122"/>
                <a:cs typeface="Aptos Display" pitchFamily="34" charset="-120"/>
              </a:rPr>
              <a:t>High Level Architecture: Components and </a:t>
            </a:r>
            <a:r>
              <a:rPr lang="en-US" sz="2750" b="1" dirty="0" err="1">
                <a:solidFill>
                  <a:srgbClr val="07133D"/>
                </a:solidFill>
                <a:latin typeface="Aptos Display" pitchFamily="34" charset="0"/>
                <a:ea typeface="Aptos Display" pitchFamily="34" charset="-122"/>
                <a:cs typeface="Aptos Display" pitchFamily="34" charset="-120"/>
              </a:rPr>
              <a:t>Responsabilities</a:t>
            </a:r>
            <a:endParaRPr lang="en-US" sz="2750" b="1" dirty="0">
              <a:solidFill>
                <a:srgbClr val="07133D"/>
              </a:solidFill>
              <a:latin typeface="Aptos Display" pitchFamily="34" charset="0"/>
              <a:ea typeface="Aptos Display" pitchFamily="34" charset="-122"/>
              <a:cs typeface="Aptos Display" pitchFamily="34" charset="-120"/>
            </a:endParaRPr>
          </a:p>
        </p:txBody>
      </p:sp>
      <p:sp>
        <p:nvSpPr>
          <p:cNvPr id="5" name="Shape 3">
            <a:extLst>
              <a:ext uri="{FF2B5EF4-FFF2-40B4-BE49-F238E27FC236}">
                <a16:creationId xmlns:a16="http://schemas.microsoft.com/office/drawing/2014/main" id="{661EB7EE-555E-DADD-DB82-705CF6FBA229}"/>
              </a:ext>
            </a:extLst>
          </p:cNvPr>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6" name="Shape 4">
            <a:extLst>
              <a:ext uri="{FF2B5EF4-FFF2-40B4-BE49-F238E27FC236}">
                <a16:creationId xmlns:a16="http://schemas.microsoft.com/office/drawing/2014/main" id="{33FC6AFE-CCAA-1661-740E-AB0CF28541CD}"/>
              </a:ext>
            </a:extLst>
          </p:cNvPr>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7" name="Text 5">
            <a:extLst>
              <a:ext uri="{FF2B5EF4-FFF2-40B4-BE49-F238E27FC236}">
                <a16:creationId xmlns:a16="http://schemas.microsoft.com/office/drawing/2014/main" id="{08CF3E28-3EF0-A4E5-04D5-688DAFD5B420}"/>
              </a:ext>
            </a:extLst>
          </p:cNvPr>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2/10</a:t>
            </a:r>
            <a:endParaRPr lang="en-US" sz="850" dirty="0"/>
          </a:p>
        </p:txBody>
      </p:sp>
      <p:pic>
        <p:nvPicPr>
          <p:cNvPr id="70" name="Immagine 69">
            <a:extLst>
              <a:ext uri="{FF2B5EF4-FFF2-40B4-BE49-F238E27FC236}">
                <a16:creationId xmlns:a16="http://schemas.microsoft.com/office/drawing/2014/main" id="{25472025-B0EC-BA89-8100-EF9B34EF9498}"/>
              </a:ext>
            </a:extLst>
          </p:cNvPr>
          <p:cNvPicPr>
            <a:picLocks noChangeAspect="1"/>
          </p:cNvPicPr>
          <p:nvPr/>
        </p:nvPicPr>
        <p:blipFill>
          <a:blip r:embed="rId3"/>
          <a:srcRect t="14113" b="15541"/>
          <a:stretch>
            <a:fillRect/>
          </a:stretch>
        </p:blipFill>
        <p:spPr>
          <a:xfrm>
            <a:off x="1148227" y="1623656"/>
            <a:ext cx="9649644" cy="3820367"/>
          </a:xfrm>
          <a:prstGeom prst="rect">
            <a:avLst/>
          </a:prstGeom>
        </p:spPr>
      </p:pic>
      <p:sp>
        <p:nvSpPr>
          <p:cNvPr id="4" name="Rettangolo 3">
            <a:extLst>
              <a:ext uri="{FF2B5EF4-FFF2-40B4-BE49-F238E27FC236}">
                <a16:creationId xmlns:a16="http://schemas.microsoft.com/office/drawing/2014/main" id="{F630F762-0619-3630-30C0-68E4FF320DC1}"/>
              </a:ext>
            </a:extLst>
          </p:cNvPr>
          <p:cNvSpPr/>
          <p:nvPr/>
        </p:nvSpPr>
        <p:spPr>
          <a:xfrm>
            <a:off x="3283889" y="2711395"/>
            <a:ext cx="985961" cy="938254"/>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Rettangolo 7">
            <a:extLst>
              <a:ext uri="{FF2B5EF4-FFF2-40B4-BE49-F238E27FC236}">
                <a16:creationId xmlns:a16="http://schemas.microsoft.com/office/drawing/2014/main" id="{F675EA34-7611-ADDD-5A9D-61CA08DB0F32}"/>
              </a:ext>
            </a:extLst>
          </p:cNvPr>
          <p:cNvSpPr/>
          <p:nvPr/>
        </p:nvSpPr>
        <p:spPr>
          <a:xfrm>
            <a:off x="5328699" y="2711395"/>
            <a:ext cx="985961" cy="938254"/>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Rettangolo 8">
            <a:extLst>
              <a:ext uri="{FF2B5EF4-FFF2-40B4-BE49-F238E27FC236}">
                <a16:creationId xmlns:a16="http://schemas.microsoft.com/office/drawing/2014/main" id="{4FC2CF46-DA5D-B136-DC06-C6FBABC331A9}"/>
              </a:ext>
            </a:extLst>
          </p:cNvPr>
          <p:cNvSpPr/>
          <p:nvPr/>
        </p:nvSpPr>
        <p:spPr>
          <a:xfrm>
            <a:off x="8183219" y="2711395"/>
            <a:ext cx="1056198" cy="938254"/>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FE41D5FD-5483-5607-8C8F-EDB4D75AC7CE}"/>
              </a:ext>
            </a:extLst>
          </p:cNvPr>
          <p:cNvSpPr txBox="1"/>
          <p:nvPr/>
        </p:nvSpPr>
        <p:spPr>
          <a:xfrm>
            <a:off x="2788920" y="5715412"/>
            <a:ext cx="2539779" cy="307777"/>
          </a:xfrm>
          <a:prstGeom prst="rect">
            <a:avLst/>
          </a:prstGeom>
          <a:noFill/>
        </p:spPr>
        <p:txBody>
          <a:bodyPr wrap="square" rtlCol="0">
            <a:spAutoFit/>
          </a:bodyPr>
          <a:lstStyle/>
          <a:p>
            <a:r>
              <a:rPr lang="it-IT" sz="1400" dirty="0"/>
              <a:t>Components </a:t>
            </a:r>
            <a:r>
              <a:rPr lang="it-IT" sz="1400" dirty="0" err="1"/>
              <a:t>deployed</a:t>
            </a:r>
            <a:r>
              <a:rPr lang="it-IT" sz="1400" dirty="0"/>
              <a:t> on EKS</a:t>
            </a:r>
          </a:p>
        </p:txBody>
      </p:sp>
      <p:sp>
        <p:nvSpPr>
          <p:cNvPr id="11" name="Rettangolo 10">
            <a:extLst>
              <a:ext uri="{FF2B5EF4-FFF2-40B4-BE49-F238E27FC236}">
                <a16:creationId xmlns:a16="http://schemas.microsoft.com/office/drawing/2014/main" id="{F2E948F7-04F1-04AF-5CBF-185E9646637C}"/>
              </a:ext>
            </a:extLst>
          </p:cNvPr>
          <p:cNvSpPr/>
          <p:nvPr/>
        </p:nvSpPr>
        <p:spPr>
          <a:xfrm>
            <a:off x="2413222" y="5767937"/>
            <a:ext cx="284258" cy="202728"/>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567124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57D37-D84E-0870-A872-E25BED2DF5C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A41EFAB-2102-2CE6-054C-163B575525E0}"/>
              </a:ext>
            </a:extLst>
          </p:cNvPr>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sp>
        <p:nvSpPr>
          <p:cNvPr id="3" name="Text 1">
            <a:extLst>
              <a:ext uri="{FF2B5EF4-FFF2-40B4-BE49-F238E27FC236}">
                <a16:creationId xmlns:a16="http://schemas.microsoft.com/office/drawing/2014/main" id="{92B72697-0F86-D77A-1104-C6C11ADDAC87}"/>
              </a:ext>
            </a:extLst>
          </p:cNvPr>
          <p:cNvSpPr/>
          <p:nvPr/>
        </p:nvSpPr>
        <p:spPr>
          <a:xfrm>
            <a:off x="502920" y="438912"/>
            <a:ext cx="10972800" cy="438912"/>
          </a:xfrm>
          <a:prstGeom prst="rect">
            <a:avLst/>
          </a:prstGeom>
          <a:noFill/>
          <a:ln/>
        </p:spPr>
        <p:txBody>
          <a:bodyPr wrap="square" lIns="0" tIns="0" rIns="0" bIns="0" rtlCol="0" anchor="ctr">
            <a:normAutofit/>
          </a:bodyPr>
          <a:lstStyle/>
          <a:p>
            <a:r>
              <a:rPr lang="en-US" sz="2750" b="1" dirty="0">
                <a:solidFill>
                  <a:srgbClr val="07133D"/>
                </a:solidFill>
                <a:latin typeface="Aptos Display" pitchFamily="34" charset="0"/>
                <a:ea typeface="Aptos Display" pitchFamily="34" charset="-122"/>
                <a:cs typeface="Aptos Display" pitchFamily="34" charset="-120"/>
              </a:rPr>
              <a:t>High Level Architecture: Components and </a:t>
            </a:r>
            <a:r>
              <a:rPr lang="en-US" sz="2750" b="1" dirty="0" err="1">
                <a:solidFill>
                  <a:srgbClr val="07133D"/>
                </a:solidFill>
                <a:latin typeface="Aptos Display" pitchFamily="34" charset="0"/>
                <a:ea typeface="Aptos Display" pitchFamily="34" charset="-122"/>
                <a:cs typeface="Aptos Display" pitchFamily="34" charset="-120"/>
              </a:rPr>
              <a:t>Responsabilities</a:t>
            </a:r>
            <a:endParaRPr lang="en-US" sz="2750" b="1" dirty="0">
              <a:solidFill>
                <a:srgbClr val="07133D"/>
              </a:solidFill>
              <a:latin typeface="Aptos Display" pitchFamily="34" charset="0"/>
              <a:ea typeface="Aptos Display" pitchFamily="34" charset="-122"/>
              <a:cs typeface="Aptos Display" pitchFamily="34" charset="-120"/>
            </a:endParaRPr>
          </a:p>
        </p:txBody>
      </p:sp>
      <p:sp>
        <p:nvSpPr>
          <p:cNvPr id="5" name="Shape 3">
            <a:extLst>
              <a:ext uri="{FF2B5EF4-FFF2-40B4-BE49-F238E27FC236}">
                <a16:creationId xmlns:a16="http://schemas.microsoft.com/office/drawing/2014/main" id="{5E17FDE1-34EB-68DA-332C-E44B347184F2}"/>
              </a:ext>
            </a:extLst>
          </p:cNvPr>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6" name="Shape 4">
            <a:extLst>
              <a:ext uri="{FF2B5EF4-FFF2-40B4-BE49-F238E27FC236}">
                <a16:creationId xmlns:a16="http://schemas.microsoft.com/office/drawing/2014/main" id="{00D243D8-5525-7048-4993-E36080B4B1C0}"/>
              </a:ext>
            </a:extLst>
          </p:cNvPr>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7" name="Text 5">
            <a:extLst>
              <a:ext uri="{FF2B5EF4-FFF2-40B4-BE49-F238E27FC236}">
                <a16:creationId xmlns:a16="http://schemas.microsoft.com/office/drawing/2014/main" id="{C63EECB3-AA7D-3DD5-6B16-B5DB0F36F73D}"/>
              </a:ext>
            </a:extLst>
          </p:cNvPr>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2/10</a:t>
            </a:r>
            <a:endParaRPr lang="en-US" sz="850" dirty="0"/>
          </a:p>
        </p:txBody>
      </p:sp>
      <p:pic>
        <p:nvPicPr>
          <p:cNvPr id="70" name="Immagine 69">
            <a:extLst>
              <a:ext uri="{FF2B5EF4-FFF2-40B4-BE49-F238E27FC236}">
                <a16:creationId xmlns:a16="http://schemas.microsoft.com/office/drawing/2014/main" id="{8893AD11-75FA-7478-DEB7-F7006D1E9907}"/>
              </a:ext>
            </a:extLst>
          </p:cNvPr>
          <p:cNvPicPr>
            <a:picLocks noChangeAspect="1"/>
          </p:cNvPicPr>
          <p:nvPr/>
        </p:nvPicPr>
        <p:blipFill>
          <a:blip r:embed="rId3"/>
          <a:srcRect t="14113" b="15541"/>
          <a:stretch>
            <a:fillRect/>
          </a:stretch>
        </p:blipFill>
        <p:spPr>
          <a:xfrm>
            <a:off x="1148227" y="1623656"/>
            <a:ext cx="9649644" cy="3820367"/>
          </a:xfrm>
          <a:prstGeom prst="rect">
            <a:avLst/>
          </a:prstGeom>
        </p:spPr>
      </p:pic>
      <p:sp>
        <p:nvSpPr>
          <p:cNvPr id="4" name="Rettangolo 3">
            <a:extLst>
              <a:ext uri="{FF2B5EF4-FFF2-40B4-BE49-F238E27FC236}">
                <a16:creationId xmlns:a16="http://schemas.microsoft.com/office/drawing/2014/main" id="{62BE13ED-7D1E-EDB9-58F5-21801FBF1E89}"/>
              </a:ext>
            </a:extLst>
          </p:cNvPr>
          <p:cNvSpPr/>
          <p:nvPr/>
        </p:nvSpPr>
        <p:spPr>
          <a:xfrm>
            <a:off x="4318885" y="2711395"/>
            <a:ext cx="985961" cy="938254"/>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Rettangolo 7">
            <a:extLst>
              <a:ext uri="{FF2B5EF4-FFF2-40B4-BE49-F238E27FC236}">
                <a16:creationId xmlns:a16="http://schemas.microsoft.com/office/drawing/2014/main" id="{61CDE2D3-E53F-860E-31B6-0BE8DC9F0B83}"/>
              </a:ext>
            </a:extLst>
          </p:cNvPr>
          <p:cNvSpPr/>
          <p:nvPr/>
        </p:nvSpPr>
        <p:spPr>
          <a:xfrm>
            <a:off x="6312306" y="2711395"/>
            <a:ext cx="923382" cy="938254"/>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Rettangolo 8">
            <a:extLst>
              <a:ext uri="{FF2B5EF4-FFF2-40B4-BE49-F238E27FC236}">
                <a16:creationId xmlns:a16="http://schemas.microsoft.com/office/drawing/2014/main" id="{D78FF020-F944-A8B1-350B-6875EE28A99D}"/>
              </a:ext>
            </a:extLst>
          </p:cNvPr>
          <p:cNvSpPr/>
          <p:nvPr/>
        </p:nvSpPr>
        <p:spPr>
          <a:xfrm>
            <a:off x="7290315" y="2711395"/>
            <a:ext cx="859772" cy="938254"/>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2C85AEDC-37D6-34B8-0B63-BA87291A34FE}"/>
              </a:ext>
            </a:extLst>
          </p:cNvPr>
          <p:cNvSpPr txBox="1"/>
          <p:nvPr/>
        </p:nvSpPr>
        <p:spPr>
          <a:xfrm>
            <a:off x="2788920" y="5715412"/>
            <a:ext cx="2539779" cy="307777"/>
          </a:xfrm>
          <a:prstGeom prst="rect">
            <a:avLst/>
          </a:prstGeom>
          <a:noFill/>
        </p:spPr>
        <p:txBody>
          <a:bodyPr wrap="square" rtlCol="0">
            <a:spAutoFit/>
          </a:bodyPr>
          <a:lstStyle/>
          <a:p>
            <a:r>
              <a:rPr lang="it-IT" sz="1400" dirty="0" err="1"/>
              <a:t>Managed</a:t>
            </a:r>
            <a:r>
              <a:rPr lang="it-IT" sz="1400" dirty="0"/>
              <a:t> Services</a:t>
            </a:r>
          </a:p>
        </p:txBody>
      </p:sp>
      <p:sp>
        <p:nvSpPr>
          <p:cNvPr id="11" name="Rettangolo 10">
            <a:extLst>
              <a:ext uri="{FF2B5EF4-FFF2-40B4-BE49-F238E27FC236}">
                <a16:creationId xmlns:a16="http://schemas.microsoft.com/office/drawing/2014/main" id="{403544D0-6E4D-0697-A382-5DB4EAD45E50}"/>
              </a:ext>
            </a:extLst>
          </p:cNvPr>
          <p:cNvSpPr/>
          <p:nvPr/>
        </p:nvSpPr>
        <p:spPr>
          <a:xfrm>
            <a:off x="2413222" y="5767937"/>
            <a:ext cx="284258" cy="202728"/>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Rettangolo 11">
            <a:extLst>
              <a:ext uri="{FF2B5EF4-FFF2-40B4-BE49-F238E27FC236}">
                <a16:creationId xmlns:a16="http://schemas.microsoft.com/office/drawing/2014/main" id="{D7D33578-1670-F6FF-B515-81A40146A444}"/>
              </a:ext>
            </a:extLst>
          </p:cNvPr>
          <p:cNvSpPr/>
          <p:nvPr/>
        </p:nvSpPr>
        <p:spPr>
          <a:xfrm>
            <a:off x="5065937" y="4157736"/>
            <a:ext cx="1621109" cy="851586"/>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755433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874D4-254D-6126-D4E8-3651357985C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09F7CD1-1A66-A931-99FA-EE7241E8311C}"/>
              </a:ext>
            </a:extLst>
          </p:cNvPr>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sp>
        <p:nvSpPr>
          <p:cNvPr id="3" name="Text 1">
            <a:extLst>
              <a:ext uri="{FF2B5EF4-FFF2-40B4-BE49-F238E27FC236}">
                <a16:creationId xmlns:a16="http://schemas.microsoft.com/office/drawing/2014/main" id="{E66DCA6A-7AF5-9211-48CE-7D5C5B93D373}"/>
              </a:ext>
            </a:extLst>
          </p:cNvPr>
          <p:cNvSpPr/>
          <p:nvPr/>
        </p:nvSpPr>
        <p:spPr>
          <a:xfrm>
            <a:off x="502920" y="438912"/>
            <a:ext cx="10972800" cy="438912"/>
          </a:xfrm>
          <a:prstGeom prst="rect">
            <a:avLst/>
          </a:prstGeom>
          <a:noFill/>
          <a:ln/>
        </p:spPr>
        <p:txBody>
          <a:bodyPr wrap="square" lIns="0" tIns="0" rIns="0" bIns="0" rtlCol="0" anchor="ctr">
            <a:normAutofit/>
          </a:bodyPr>
          <a:lstStyle/>
          <a:p>
            <a:r>
              <a:rPr lang="en-US" sz="2750" b="1" dirty="0">
                <a:solidFill>
                  <a:srgbClr val="07133D"/>
                </a:solidFill>
                <a:latin typeface="Aptos Display" pitchFamily="34" charset="0"/>
                <a:ea typeface="Aptos Display" pitchFamily="34" charset="-122"/>
                <a:cs typeface="Aptos Display" pitchFamily="34" charset="-120"/>
              </a:rPr>
              <a:t>High Level Architecture: Components and </a:t>
            </a:r>
            <a:r>
              <a:rPr lang="en-US" sz="2750" b="1" dirty="0" err="1">
                <a:solidFill>
                  <a:srgbClr val="07133D"/>
                </a:solidFill>
                <a:latin typeface="Aptos Display" pitchFamily="34" charset="0"/>
                <a:ea typeface="Aptos Display" pitchFamily="34" charset="-122"/>
                <a:cs typeface="Aptos Display" pitchFamily="34" charset="-120"/>
              </a:rPr>
              <a:t>Responsabilities</a:t>
            </a:r>
            <a:endParaRPr lang="en-US" sz="2750" b="1" dirty="0">
              <a:solidFill>
                <a:srgbClr val="07133D"/>
              </a:solidFill>
              <a:latin typeface="Aptos Display" pitchFamily="34" charset="0"/>
              <a:ea typeface="Aptos Display" pitchFamily="34" charset="-122"/>
              <a:cs typeface="Aptos Display" pitchFamily="34" charset="-120"/>
            </a:endParaRPr>
          </a:p>
        </p:txBody>
      </p:sp>
      <p:sp>
        <p:nvSpPr>
          <p:cNvPr id="5" name="Shape 3">
            <a:extLst>
              <a:ext uri="{FF2B5EF4-FFF2-40B4-BE49-F238E27FC236}">
                <a16:creationId xmlns:a16="http://schemas.microsoft.com/office/drawing/2014/main" id="{93F20F8F-A1DD-6279-43F7-3C2D49ADFE07}"/>
              </a:ext>
            </a:extLst>
          </p:cNvPr>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6" name="Shape 4">
            <a:extLst>
              <a:ext uri="{FF2B5EF4-FFF2-40B4-BE49-F238E27FC236}">
                <a16:creationId xmlns:a16="http://schemas.microsoft.com/office/drawing/2014/main" id="{0C8D12CE-874E-0C26-2FB6-3DE3E859EF85}"/>
              </a:ext>
            </a:extLst>
          </p:cNvPr>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7" name="Text 5">
            <a:extLst>
              <a:ext uri="{FF2B5EF4-FFF2-40B4-BE49-F238E27FC236}">
                <a16:creationId xmlns:a16="http://schemas.microsoft.com/office/drawing/2014/main" id="{15B73C65-E31A-1367-9422-C0FD00D92275}"/>
              </a:ext>
            </a:extLst>
          </p:cNvPr>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2/10</a:t>
            </a:r>
            <a:endParaRPr lang="en-US" sz="850" dirty="0"/>
          </a:p>
        </p:txBody>
      </p:sp>
      <p:pic>
        <p:nvPicPr>
          <p:cNvPr id="70" name="Immagine 69">
            <a:extLst>
              <a:ext uri="{FF2B5EF4-FFF2-40B4-BE49-F238E27FC236}">
                <a16:creationId xmlns:a16="http://schemas.microsoft.com/office/drawing/2014/main" id="{F0CB514B-FC3C-0478-7D01-E015B5F0E41C}"/>
              </a:ext>
            </a:extLst>
          </p:cNvPr>
          <p:cNvPicPr>
            <a:picLocks noChangeAspect="1"/>
          </p:cNvPicPr>
          <p:nvPr/>
        </p:nvPicPr>
        <p:blipFill>
          <a:blip r:embed="rId3"/>
          <a:srcRect t="14113" b="15541"/>
          <a:stretch>
            <a:fillRect/>
          </a:stretch>
        </p:blipFill>
        <p:spPr>
          <a:xfrm>
            <a:off x="1148227" y="1623656"/>
            <a:ext cx="9649644" cy="3820367"/>
          </a:xfrm>
          <a:prstGeom prst="rect">
            <a:avLst/>
          </a:prstGeom>
        </p:spPr>
      </p:pic>
      <p:sp>
        <p:nvSpPr>
          <p:cNvPr id="4" name="Rettangolo 3">
            <a:extLst>
              <a:ext uri="{FF2B5EF4-FFF2-40B4-BE49-F238E27FC236}">
                <a16:creationId xmlns:a16="http://schemas.microsoft.com/office/drawing/2014/main" id="{42D77139-D22E-D23F-CD2F-00DFBFF14EC8}"/>
              </a:ext>
            </a:extLst>
          </p:cNvPr>
          <p:cNvSpPr/>
          <p:nvPr/>
        </p:nvSpPr>
        <p:spPr>
          <a:xfrm>
            <a:off x="9336157" y="1658082"/>
            <a:ext cx="1461714" cy="3367141"/>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9FB5EA6A-F15E-11CD-6004-5E6A509D730B}"/>
              </a:ext>
            </a:extLst>
          </p:cNvPr>
          <p:cNvSpPr txBox="1"/>
          <p:nvPr/>
        </p:nvSpPr>
        <p:spPr>
          <a:xfrm>
            <a:off x="2788920" y="5715412"/>
            <a:ext cx="2539779" cy="307777"/>
          </a:xfrm>
          <a:prstGeom prst="rect">
            <a:avLst/>
          </a:prstGeom>
          <a:noFill/>
        </p:spPr>
        <p:txBody>
          <a:bodyPr wrap="square" rtlCol="0">
            <a:spAutoFit/>
          </a:bodyPr>
          <a:lstStyle/>
          <a:p>
            <a:r>
              <a:rPr lang="it-IT" sz="1400" dirty="0" err="1"/>
              <a:t>External</a:t>
            </a:r>
            <a:r>
              <a:rPr lang="it-IT" sz="1400" dirty="0"/>
              <a:t> providers</a:t>
            </a:r>
          </a:p>
        </p:txBody>
      </p:sp>
      <p:sp>
        <p:nvSpPr>
          <p:cNvPr id="11" name="Rettangolo 10">
            <a:extLst>
              <a:ext uri="{FF2B5EF4-FFF2-40B4-BE49-F238E27FC236}">
                <a16:creationId xmlns:a16="http://schemas.microsoft.com/office/drawing/2014/main" id="{13136D4D-E522-7A13-FD72-FDB8AAF0DD7D}"/>
              </a:ext>
            </a:extLst>
          </p:cNvPr>
          <p:cNvSpPr/>
          <p:nvPr/>
        </p:nvSpPr>
        <p:spPr>
          <a:xfrm>
            <a:off x="2413222" y="5767937"/>
            <a:ext cx="284258" cy="202728"/>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656343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sp>
        <p:nvSpPr>
          <p:cNvPr id="3" name="Text 1"/>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Choices and their trade-offs</a:t>
            </a:r>
            <a:endParaRPr lang="en-US" sz="2750" dirty="0"/>
          </a:p>
        </p:txBody>
      </p:sp>
      <p:sp>
        <p:nvSpPr>
          <p:cNvPr id="4" name="Shape 2"/>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5" name="Shape 3"/>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6" name="Text 4"/>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3/10 </a:t>
            </a:r>
            <a:endParaRPr lang="en-US" sz="850" dirty="0"/>
          </a:p>
        </p:txBody>
      </p:sp>
      <p:sp>
        <p:nvSpPr>
          <p:cNvPr id="52" name="Shape 3">
            <a:extLst>
              <a:ext uri="{FF2B5EF4-FFF2-40B4-BE49-F238E27FC236}">
                <a16:creationId xmlns:a16="http://schemas.microsoft.com/office/drawing/2014/main" id="{2A1A996A-1EC5-C5FF-5AEA-8BB6DD259FE3}"/>
              </a:ext>
            </a:extLst>
          </p:cNvPr>
          <p:cNvSpPr/>
          <p:nvPr/>
        </p:nvSpPr>
        <p:spPr>
          <a:xfrm>
            <a:off x="765710" y="1847089"/>
            <a:ext cx="2770632" cy="347472"/>
          </a:xfrm>
          <a:prstGeom prst="rect">
            <a:avLst/>
          </a:prstGeom>
          <a:solidFill>
            <a:srgbClr val="07133D"/>
          </a:solidFill>
          <a:ln w="6350">
            <a:solidFill>
              <a:srgbClr val="FFFFFF"/>
            </a:solidFill>
            <a:prstDash val="solid"/>
          </a:ln>
        </p:spPr>
        <p:txBody>
          <a:bodyPr/>
          <a:lstStyle/>
          <a:p>
            <a:endParaRPr lang="it-IT" sz="1100"/>
          </a:p>
        </p:txBody>
      </p:sp>
      <p:sp>
        <p:nvSpPr>
          <p:cNvPr id="53" name="Text 4">
            <a:extLst>
              <a:ext uri="{FF2B5EF4-FFF2-40B4-BE49-F238E27FC236}">
                <a16:creationId xmlns:a16="http://schemas.microsoft.com/office/drawing/2014/main" id="{182F6D18-64E5-B8F2-FB40-27E40C2FDA03}"/>
              </a:ext>
            </a:extLst>
          </p:cNvPr>
          <p:cNvSpPr/>
          <p:nvPr/>
        </p:nvSpPr>
        <p:spPr>
          <a:xfrm>
            <a:off x="875438" y="1929385"/>
            <a:ext cx="2551176" cy="164592"/>
          </a:xfrm>
          <a:prstGeom prst="rect">
            <a:avLst/>
          </a:prstGeom>
          <a:noFill/>
          <a:ln/>
        </p:spPr>
        <p:txBody>
          <a:bodyPr wrap="square" lIns="0" tIns="0" rIns="0" bIns="0" rtlCol="0" anchor="t">
            <a:noAutofit/>
          </a:bodyPr>
          <a:lstStyle/>
          <a:p>
            <a:pPr marL="0" indent="0" algn="l">
              <a:buNone/>
            </a:pPr>
            <a:r>
              <a:rPr lang="en-US" sz="1200" b="1" dirty="0">
                <a:solidFill>
                  <a:srgbClr val="FFFFFF"/>
                </a:solidFill>
                <a:latin typeface="Aptos" pitchFamily="34" charset="0"/>
                <a:ea typeface="Aptos" pitchFamily="34" charset="-122"/>
                <a:cs typeface="Aptos" pitchFamily="34" charset="-120"/>
              </a:rPr>
              <a:t>Decision</a:t>
            </a:r>
            <a:endParaRPr lang="en-US" sz="1200" dirty="0"/>
          </a:p>
        </p:txBody>
      </p:sp>
      <p:sp>
        <p:nvSpPr>
          <p:cNvPr id="54" name="Shape 5">
            <a:extLst>
              <a:ext uri="{FF2B5EF4-FFF2-40B4-BE49-F238E27FC236}">
                <a16:creationId xmlns:a16="http://schemas.microsoft.com/office/drawing/2014/main" id="{5BFE5AE5-889D-D75F-956A-BAA7CB86C627}"/>
              </a:ext>
            </a:extLst>
          </p:cNvPr>
          <p:cNvSpPr/>
          <p:nvPr/>
        </p:nvSpPr>
        <p:spPr>
          <a:xfrm>
            <a:off x="3536342" y="1847089"/>
            <a:ext cx="3081528" cy="347472"/>
          </a:xfrm>
          <a:prstGeom prst="rect">
            <a:avLst/>
          </a:prstGeom>
          <a:solidFill>
            <a:srgbClr val="07133D"/>
          </a:solidFill>
          <a:ln w="6350">
            <a:solidFill>
              <a:srgbClr val="FFFFFF"/>
            </a:solidFill>
            <a:prstDash val="solid"/>
          </a:ln>
        </p:spPr>
        <p:txBody>
          <a:bodyPr/>
          <a:lstStyle/>
          <a:p>
            <a:endParaRPr lang="it-IT" sz="1100"/>
          </a:p>
        </p:txBody>
      </p:sp>
      <p:sp>
        <p:nvSpPr>
          <p:cNvPr id="55" name="Text 6">
            <a:extLst>
              <a:ext uri="{FF2B5EF4-FFF2-40B4-BE49-F238E27FC236}">
                <a16:creationId xmlns:a16="http://schemas.microsoft.com/office/drawing/2014/main" id="{A75E0297-10CA-BFE5-9B0D-8CCF02FDF79E}"/>
              </a:ext>
            </a:extLst>
          </p:cNvPr>
          <p:cNvSpPr/>
          <p:nvPr/>
        </p:nvSpPr>
        <p:spPr>
          <a:xfrm>
            <a:off x="3646070" y="1929385"/>
            <a:ext cx="2862072" cy="164592"/>
          </a:xfrm>
          <a:prstGeom prst="rect">
            <a:avLst/>
          </a:prstGeom>
          <a:noFill/>
          <a:ln/>
        </p:spPr>
        <p:txBody>
          <a:bodyPr wrap="square" lIns="0" tIns="0" rIns="0" bIns="0" rtlCol="0" anchor="t">
            <a:noAutofit/>
          </a:bodyPr>
          <a:lstStyle/>
          <a:p>
            <a:pPr marL="0" indent="0" algn="l">
              <a:buNone/>
            </a:pPr>
            <a:r>
              <a:rPr lang="en-US" sz="1200" b="1" dirty="0">
                <a:solidFill>
                  <a:srgbClr val="FFFFFF"/>
                </a:solidFill>
                <a:latin typeface="Aptos" pitchFamily="34" charset="0"/>
                <a:ea typeface="Aptos" pitchFamily="34" charset="-122"/>
                <a:cs typeface="Aptos" pitchFamily="34" charset="-120"/>
              </a:rPr>
              <a:t>Why</a:t>
            </a:r>
            <a:endParaRPr lang="en-US" sz="1200" dirty="0"/>
          </a:p>
        </p:txBody>
      </p:sp>
      <p:sp>
        <p:nvSpPr>
          <p:cNvPr id="56" name="Shape 7">
            <a:extLst>
              <a:ext uri="{FF2B5EF4-FFF2-40B4-BE49-F238E27FC236}">
                <a16:creationId xmlns:a16="http://schemas.microsoft.com/office/drawing/2014/main" id="{207F4FFF-92AC-7007-7724-8C74665821F0}"/>
              </a:ext>
            </a:extLst>
          </p:cNvPr>
          <p:cNvSpPr/>
          <p:nvPr/>
        </p:nvSpPr>
        <p:spPr>
          <a:xfrm>
            <a:off x="6617870" y="1847089"/>
            <a:ext cx="2816352" cy="347472"/>
          </a:xfrm>
          <a:prstGeom prst="rect">
            <a:avLst/>
          </a:prstGeom>
          <a:solidFill>
            <a:srgbClr val="07133D"/>
          </a:solidFill>
          <a:ln w="6350">
            <a:solidFill>
              <a:srgbClr val="FFFFFF"/>
            </a:solidFill>
            <a:prstDash val="solid"/>
          </a:ln>
        </p:spPr>
        <p:txBody>
          <a:bodyPr/>
          <a:lstStyle/>
          <a:p>
            <a:endParaRPr lang="it-IT" sz="1100"/>
          </a:p>
        </p:txBody>
      </p:sp>
      <p:sp>
        <p:nvSpPr>
          <p:cNvPr id="57" name="Text 8">
            <a:extLst>
              <a:ext uri="{FF2B5EF4-FFF2-40B4-BE49-F238E27FC236}">
                <a16:creationId xmlns:a16="http://schemas.microsoft.com/office/drawing/2014/main" id="{FE6083CD-D0F9-44D9-5864-EFCB7EB9BD98}"/>
              </a:ext>
            </a:extLst>
          </p:cNvPr>
          <p:cNvSpPr/>
          <p:nvPr/>
        </p:nvSpPr>
        <p:spPr>
          <a:xfrm>
            <a:off x="6727598" y="1929385"/>
            <a:ext cx="2596896" cy="164592"/>
          </a:xfrm>
          <a:prstGeom prst="rect">
            <a:avLst/>
          </a:prstGeom>
          <a:noFill/>
          <a:ln/>
        </p:spPr>
        <p:txBody>
          <a:bodyPr wrap="square" lIns="0" tIns="0" rIns="0" bIns="0" rtlCol="0" anchor="t">
            <a:noAutofit/>
          </a:bodyPr>
          <a:lstStyle/>
          <a:p>
            <a:pPr marL="0" indent="0" algn="l">
              <a:buNone/>
            </a:pPr>
            <a:r>
              <a:rPr lang="en-US" sz="1200" b="1" dirty="0">
                <a:solidFill>
                  <a:srgbClr val="FFFFFF"/>
                </a:solidFill>
                <a:latin typeface="Aptos" pitchFamily="34" charset="0"/>
                <a:ea typeface="Aptos" pitchFamily="34" charset="-122"/>
                <a:cs typeface="Aptos" pitchFamily="34" charset="-120"/>
              </a:rPr>
              <a:t>Alternatives</a:t>
            </a:r>
            <a:endParaRPr lang="en-US" sz="1200" dirty="0"/>
          </a:p>
        </p:txBody>
      </p:sp>
      <p:sp>
        <p:nvSpPr>
          <p:cNvPr id="58" name="Shape 9">
            <a:extLst>
              <a:ext uri="{FF2B5EF4-FFF2-40B4-BE49-F238E27FC236}">
                <a16:creationId xmlns:a16="http://schemas.microsoft.com/office/drawing/2014/main" id="{BA3E7908-71FB-1ADF-DB3D-98DC1F20C54B}"/>
              </a:ext>
            </a:extLst>
          </p:cNvPr>
          <p:cNvSpPr/>
          <p:nvPr/>
        </p:nvSpPr>
        <p:spPr>
          <a:xfrm>
            <a:off x="9434222" y="1847089"/>
            <a:ext cx="1901952" cy="347472"/>
          </a:xfrm>
          <a:prstGeom prst="rect">
            <a:avLst/>
          </a:prstGeom>
          <a:solidFill>
            <a:srgbClr val="07133D"/>
          </a:solidFill>
          <a:ln w="6350">
            <a:solidFill>
              <a:srgbClr val="FFFFFF"/>
            </a:solidFill>
            <a:prstDash val="solid"/>
          </a:ln>
        </p:spPr>
        <p:txBody>
          <a:bodyPr/>
          <a:lstStyle/>
          <a:p>
            <a:endParaRPr lang="it-IT" sz="1100"/>
          </a:p>
        </p:txBody>
      </p:sp>
      <p:sp>
        <p:nvSpPr>
          <p:cNvPr id="59" name="Text 10">
            <a:extLst>
              <a:ext uri="{FF2B5EF4-FFF2-40B4-BE49-F238E27FC236}">
                <a16:creationId xmlns:a16="http://schemas.microsoft.com/office/drawing/2014/main" id="{577D48C1-7748-A0E4-27DB-F54F2AD48029}"/>
              </a:ext>
            </a:extLst>
          </p:cNvPr>
          <p:cNvSpPr/>
          <p:nvPr/>
        </p:nvSpPr>
        <p:spPr>
          <a:xfrm>
            <a:off x="9543950" y="1929385"/>
            <a:ext cx="1682496" cy="164592"/>
          </a:xfrm>
          <a:prstGeom prst="rect">
            <a:avLst/>
          </a:prstGeom>
          <a:noFill/>
          <a:ln/>
        </p:spPr>
        <p:txBody>
          <a:bodyPr wrap="square" lIns="0" tIns="0" rIns="0" bIns="0" rtlCol="0" anchor="t">
            <a:noAutofit/>
          </a:bodyPr>
          <a:lstStyle/>
          <a:p>
            <a:pPr marL="0" indent="0" algn="l">
              <a:buNone/>
            </a:pPr>
            <a:r>
              <a:rPr lang="en-US" sz="1200" b="1" dirty="0">
                <a:solidFill>
                  <a:srgbClr val="FFFFFF"/>
                </a:solidFill>
                <a:latin typeface="Aptos" pitchFamily="34" charset="0"/>
                <a:ea typeface="Aptos" pitchFamily="34" charset="-122"/>
                <a:cs typeface="Aptos" pitchFamily="34" charset="-120"/>
              </a:rPr>
              <a:t>Trade-off</a:t>
            </a:r>
            <a:endParaRPr lang="en-US" sz="1200" dirty="0"/>
          </a:p>
        </p:txBody>
      </p:sp>
      <p:sp>
        <p:nvSpPr>
          <p:cNvPr id="60" name="Shape 11">
            <a:extLst>
              <a:ext uri="{FF2B5EF4-FFF2-40B4-BE49-F238E27FC236}">
                <a16:creationId xmlns:a16="http://schemas.microsoft.com/office/drawing/2014/main" id="{1989E569-6CE8-E09E-50D5-83730DFF3C07}"/>
              </a:ext>
            </a:extLst>
          </p:cNvPr>
          <p:cNvSpPr/>
          <p:nvPr/>
        </p:nvSpPr>
        <p:spPr>
          <a:xfrm>
            <a:off x="765710" y="2194561"/>
            <a:ext cx="2770632" cy="740664"/>
          </a:xfrm>
          <a:prstGeom prst="rect">
            <a:avLst/>
          </a:prstGeom>
          <a:solidFill>
            <a:srgbClr val="FFFFFF"/>
          </a:solidFill>
          <a:ln w="6350">
            <a:solidFill>
              <a:srgbClr val="D9E1EC"/>
            </a:solidFill>
            <a:prstDash val="solid"/>
          </a:ln>
        </p:spPr>
        <p:txBody>
          <a:bodyPr/>
          <a:lstStyle/>
          <a:p>
            <a:endParaRPr lang="it-IT" sz="1100"/>
          </a:p>
        </p:txBody>
      </p:sp>
      <p:sp>
        <p:nvSpPr>
          <p:cNvPr id="61" name="Text 12">
            <a:extLst>
              <a:ext uri="{FF2B5EF4-FFF2-40B4-BE49-F238E27FC236}">
                <a16:creationId xmlns:a16="http://schemas.microsoft.com/office/drawing/2014/main" id="{A44B58A5-2A78-F06F-719F-DB21EE5CE255}"/>
              </a:ext>
            </a:extLst>
          </p:cNvPr>
          <p:cNvSpPr/>
          <p:nvPr/>
        </p:nvSpPr>
        <p:spPr>
          <a:xfrm>
            <a:off x="875438" y="2318005"/>
            <a:ext cx="2551176" cy="539496"/>
          </a:xfrm>
          <a:prstGeom prst="rect">
            <a:avLst/>
          </a:prstGeom>
          <a:noFill/>
          <a:ln/>
        </p:spPr>
        <p:txBody>
          <a:bodyPr wrap="square" lIns="0" tIns="0" rIns="0" bIns="0" rtlCol="0" anchor="ctr">
            <a:normAutofit/>
          </a:bodyPr>
          <a:lstStyle/>
          <a:p>
            <a:pPr marL="0" indent="0" algn="l">
              <a:buNone/>
            </a:pPr>
            <a:r>
              <a:rPr lang="en-US" sz="1100" b="1" dirty="0">
                <a:solidFill>
                  <a:srgbClr val="07133D"/>
                </a:solidFill>
                <a:latin typeface="Aptos" pitchFamily="34" charset="0"/>
                <a:ea typeface="Aptos" pitchFamily="34" charset="-122"/>
                <a:cs typeface="Aptos" pitchFamily="34" charset="-120"/>
              </a:rPr>
              <a:t>Managed orchestration - Step Functions Standard</a:t>
            </a:r>
            <a:endParaRPr lang="en-US" sz="1100" dirty="0"/>
          </a:p>
        </p:txBody>
      </p:sp>
      <p:sp>
        <p:nvSpPr>
          <p:cNvPr id="62" name="Shape 13">
            <a:extLst>
              <a:ext uri="{FF2B5EF4-FFF2-40B4-BE49-F238E27FC236}">
                <a16:creationId xmlns:a16="http://schemas.microsoft.com/office/drawing/2014/main" id="{033822AF-4D20-6F40-209F-30947E83ECC2}"/>
              </a:ext>
            </a:extLst>
          </p:cNvPr>
          <p:cNvSpPr/>
          <p:nvPr/>
        </p:nvSpPr>
        <p:spPr>
          <a:xfrm>
            <a:off x="3536342" y="2194561"/>
            <a:ext cx="3081528" cy="740664"/>
          </a:xfrm>
          <a:prstGeom prst="rect">
            <a:avLst/>
          </a:prstGeom>
          <a:solidFill>
            <a:srgbClr val="FFFFFF"/>
          </a:solidFill>
          <a:ln w="6350">
            <a:solidFill>
              <a:srgbClr val="D9E1EC"/>
            </a:solidFill>
            <a:prstDash val="solid"/>
          </a:ln>
        </p:spPr>
        <p:txBody>
          <a:bodyPr/>
          <a:lstStyle/>
          <a:p>
            <a:endParaRPr lang="it-IT" sz="1100"/>
          </a:p>
        </p:txBody>
      </p:sp>
      <p:sp>
        <p:nvSpPr>
          <p:cNvPr id="63" name="Text 14">
            <a:extLst>
              <a:ext uri="{FF2B5EF4-FFF2-40B4-BE49-F238E27FC236}">
                <a16:creationId xmlns:a16="http://schemas.microsoft.com/office/drawing/2014/main" id="{9673FBD0-7B25-AA11-0C20-1A6C17BC2731}"/>
              </a:ext>
            </a:extLst>
          </p:cNvPr>
          <p:cNvSpPr/>
          <p:nvPr/>
        </p:nvSpPr>
        <p:spPr>
          <a:xfrm>
            <a:off x="3646070" y="2360347"/>
            <a:ext cx="2862072" cy="475489"/>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Manage waits, timers, and resumptions with less software to maintain.</a:t>
            </a:r>
            <a:endParaRPr lang="en-US" sz="1100" dirty="0"/>
          </a:p>
        </p:txBody>
      </p:sp>
      <p:sp>
        <p:nvSpPr>
          <p:cNvPr id="64" name="Shape 15">
            <a:extLst>
              <a:ext uri="{FF2B5EF4-FFF2-40B4-BE49-F238E27FC236}">
                <a16:creationId xmlns:a16="http://schemas.microsoft.com/office/drawing/2014/main" id="{5486611C-F901-F156-4652-BB9C7D5BC3E0}"/>
              </a:ext>
            </a:extLst>
          </p:cNvPr>
          <p:cNvSpPr/>
          <p:nvPr/>
        </p:nvSpPr>
        <p:spPr>
          <a:xfrm>
            <a:off x="6617870" y="2194561"/>
            <a:ext cx="2816352" cy="740664"/>
          </a:xfrm>
          <a:prstGeom prst="rect">
            <a:avLst/>
          </a:prstGeom>
          <a:solidFill>
            <a:srgbClr val="FFFFFF"/>
          </a:solidFill>
          <a:ln w="6350">
            <a:solidFill>
              <a:srgbClr val="D9E1EC"/>
            </a:solidFill>
            <a:prstDash val="solid"/>
          </a:ln>
        </p:spPr>
        <p:txBody>
          <a:bodyPr/>
          <a:lstStyle/>
          <a:p>
            <a:endParaRPr lang="it-IT" sz="1100"/>
          </a:p>
        </p:txBody>
      </p:sp>
      <p:sp>
        <p:nvSpPr>
          <p:cNvPr id="65" name="Text 16">
            <a:extLst>
              <a:ext uri="{FF2B5EF4-FFF2-40B4-BE49-F238E27FC236}">
                <a16:creationId xmlns:a16="http://schemas.microsoft.com/office/drawing/2014/main" id="{1F73F16F-858A-311F-6DCD-7F1F4C5ECC7E}"/>
              </a:ext>
            </a:extLst>
          </p:cNvPr>
          <p:cNvSpPr/>
          <p:nvPr/>
        </p:nvSpPr>
        <p:spPr>
          <a:xfrm>
            <a:off x="6727598" y="2328343"/>
            <a:ext cx="2596896"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Custom workflow in PostgreSQL; Temporal.</a:t>
            </a:r>
            <a:endParaRPr lang="en-US" sz="1100" dirty="0"/>
          </a:p>
        </p:txBody>
      </p:sp>
      <p:sp>
        <p:nvSpPr>
          <p:cNvPr id="66" name="Shape 17">
            <a:extLst>
              <a:ext uri="{FF2B5EF4-FFF2-40B4-BE49-F238E27FC236}">
                <a16:creationId xmlns:a16="http://schemas.microsoft.com/office/drawing/2014/main" id="{EFAA7CD8-FEE1-1DC5-1515-1DD239F2C683}"/>
              </a:ext>
            </a:extLst>
          </p:cNvPr>
          <p:cNvSpPr/>
          <p:nvPr/>
        </p:nvSpPr>
        <p:spPr>
          <a:xfrm>
            <a:off x="9434222" y="2194561"/>
            <a:ext cx="1901952" cy="740664"/>
          </a:xfrm>
          <a:prstGeom prst="rect">
            <a:avLst/>
          </a:prstGeom>
          <a:solidFill>
            <a:srgbClr val="FFFFFF"/>
          </a:solidFill>
          <a:ln w="6350">
            <a:solidFill>
              <a:srgbClr val="D9E1EC"/>
            </a:solidFill>
            <a:prstDash val="solid"/>
          </a:ln>
        </p:spPr>
        <p:txBody>
          <a:bodyPr/>
          <a:lstStyle/>
          <a:p>
            <a:endParaRPr lang="it-IT" sz="1100"/>
          </a:p>
        </p:txBody>
      </p:sp>
      <p:sp>
        <p:nvSpPr>
          <p:cNvPr id="67" name="Text 18">
            <a:extLst>
              <a:ext uri="{FF2B5EF4-FFF2-40B4-BE49-F238E27FC236}">
                <a16:creationId xmlns:a16="http://schemas.microsoft.com/office/drawing/2014/main" id="{B8E3EC93-6754-9216-E7CF-B2741092CE26}"/>
              </a:ext>
            </a:extLst>
          </p:cNvPr>
          <p:cNvSpPr/>
          <p:nvPr/>
        </p:nvSpPr>
        <p:spPr>
          <a:xfrm>
            <a:off x="9543950" y="2304288"/>
            <a:ext cx="1682496"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AWS dependency, transition costs, and expressiveness limits.</a:t>
            </a:r>
            <a:endParaRPr lang="en-US" sz="1100" dirty="0"/>
          </a:p>
        </p:txBody>
      </p:sp>
      <p:sp>
        <p:nvSpPr>
          <p:cNvPr id="68" name="Shape 19">
            <a:extLst>
              <a:ext uri="{FF2B5EF4-FFF2-40B4-BE49-F238E27FC236}">
                <a16:creationId xmlns:a16="http://schemas.microsoft.com/office/drawing/2014/main" id="{1E4C3F7E-2517-BD73-7DAD-7F3343962CD8}"/>
              </a:ext>
            </a:extLst>
          </p:cNvPr>
          <p:cNvSpPr/>
          <p:nvPr/>
        </p:nvSpPr>
        <p:spPr>
          <a:xfrm>
            <a:off x="765710" y="2935225"/>
            <a:ext cx="2770632" cy="740664"/>
          </a:xfrm>
          <a:prstGeom prst="rect">
            <a:avLst/>
          </a:prstGeom>
          <a:solidFill>
            <a:srgbClr val="F7F9FC"/>
          </a:solidFill>
          <a:ln w="6350">
            <a:solidFill>
              <a:srgbClr val="D9E1EC"/>
            </a:solidFill>
            <a:prstDash val="solid"/>
          </a:ln>
        </p:spPr>
        <p:txBody>
          <a:bodyPr/>
          <a:lstStyle/>
          <a:p>
            <a:endParaRPr lang="it-IT" sz="1100"/>
          </a:p>
        </p:txBody>
      </p:sp>
      <p:sp>
        <p:nvSpPr>
          <p:cNvPr id="69" name="Text 20">
            <a:extLst>
              <a:ext uri="{FF2B5EF4-FFF2-40B4-BE49-F238E27FC236}">
                <a16:creationId xmlns:a16="http://schemas.microsoft.com/office/drawing/2014/main" id="{E841A126-7ECA-E822-B9AE-270E4F8EA776}"/>
              </a:ext>
            </a:extLst>
          </p:cNvPr>
          <p:cNvSpPr/>
          <p:nvPr/>
        </p:nvSpPr>
        <p:spPr>
          <a:xfrm>
            <a:off x="875438" y="3044952"/>
            <a:ext cx="2551176" cy="539496"/>
          </a:xfrm>
          <a:prstGeom prst="rect">
            <a:avLst/>
          </a:prstGeom>
          <a:noFill/>
          <a:ln/>
        </p:spPr>
        <p:txBody>
          <a:bodyPr wrap="square" lIns="0" tIns="0" rIns="0" bIns="0" rtlCol="0" anchor="ctr">
            <a:normAutofit/>
          </a:bodyPr>
          <a:lstStyle/>
          <a:p>
            <a:pPr marL="0" indent="0" algn="l">
              <a:buNone/>
            </a:pPr>
            <a:r>
              <a:rPr lang="en-US" sz="1100" b="1" dirty="0">
                <a:solidFill>
                  <a:srgbClr val="07133D"/>
                </a:solidFill>
                <a:latin typeface="Aptos" pitchFamily="34" charset="0"/>
                <a:ea typeface="Aptos" pitchFamily="34" charset="-122"/>
                <a:cs typeface="Aptos" pitchFamily="34" charset="-120"/>
              </a:rPr>
              <a:t>Recoverable state and actions - PostgreSQL, outbox, and idempotency</a:t>
            </a:r>
            <a:endParaRPr lang="en-US" sz="1100" dirty="0"/>
          </a:p>
        </p:txBody>
      </p:sp>
      <p:sp>
        <p:nvSpPr>
          <p:cNvPr id="70" name="Shape 21">
            <a:extLst>
              <a:ext uri="{FF2B5EF4-FFF2-40B4-BE49-F238E27FC236}">
                <a16:creationId xmlns:a16="http://schemas.microsoft.com/office/drawing/2014/main" id="{ADE4E116-B206-7953-746D-90A386F1FDC7}"/>
              </a:ext>
            </a:extLst>
          </p:cNvPr>
          <p:cNvSpPr/>
          <p:nvPr/>
        </p:nvSpPr>
        <p:spPr>
          <a:xfrm>
            <a:off x="3536342" y="2935225"/>
            <a:ext cx="3081528" cy="740664"/>
          </a:xfrm>
          <a:prstGeom prst="rect">
            <a:avLst/>
          </a:prstGeom>
          <a:solidFill>
            <a:srgbClr val="F7F9FC"/>
          </a:solidFill>
          <a:ln w="6350">
            <a:solidFill>
              <a:srgbClr val="D9E1EC"/>
            </a:solidFill>
            <a:prstDash val="solid"/>
          </a:ln>
        </p:spPr>
        <p:txBody>
          <a:bodyPr/>
          <a:lstStyle/>
          <a:p>
            <a:endParaRPr lang="it-IT" sz="1100"/>
          </a:p>
        </p:txBody>
      </p:sp>
      <p:sp>
        <p:nvSpPr>
          <p:cNvPr id="71" name="Text 22">
            <a:extLst>
              <a:ext uri="{FF2B5EF4-FFF2-40B4-BE49-F238E27FC236}">
                <a16:creationId xmlns:a16="http://schemas.microsoft.com/office/drawing/2014/main" id="{EE61FEF7-21C3-0922-C04C-F378A2C2EC1E}"/>
              </a:ext>
            </a:extLst>
          </p:cNvPr>
          <p:cNvSpPr/>
          <p:nvPr/>
        </p:nvSpPr>
        <p:spPr>
          <a:xfrm>
            <a:off x="3646070" y="3058669"/>
            <a:ext cx="2862072"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Preserve progress and pending deliveries; handle duplicates with stable identities and reconciliation.</a:t>
            </a:r>
            <a:endParaRPr lang="en-US" sz="1100" dirty="0"/>
          </a:p>
        </p:txBody>
      </p:sp>
      <p:sp>
        <p:nvSpPr>
          <p:cNvPr id="72" name="Shape 23">
            <a:extLst>
              <a:ext uri="{FF2B5EF4-FFF2-40B4-BE49-F238E27FC236}">
                <a16:creationId xmlns:a16="http://schemas.microsoft.com/office/drawing/2014/main" id="{1611916F-F0F6-4FB6-CB7F-534AE26C96B5}"/>
              </a:ext>
            </a:extLst>
          </p:cNvPr>
          <p:cNvSpPr/>
          <p:nvPr/>
        </p:nvSpPr>
        <p:spPr>
          <a:xfrm>
            <a:off x="6617870" y="2935225"/>
            <a:ext cx="2816352" cy="740664"/>
          </a:xfrm>
          <a:prstGeom prst="rect">
            <a:avLst/>
          </a:prstGeom>
          <a:solidFill>
            <a:srgbClr val="F7F9FC"/>
          </a:solidFill>
          <a:ln w="6350">
            <a:solidFill>
              <a:srgbClr val="D9E1EC"/>
            </a:solidFill>
            <a:prstDash val="solid"/>
          </a:ln>
        </p:spPr>
        <p:txBody>
          <a:bodyPr/>
          <a:lstStyle/>
          <a:p>
            <a:endParaRPr lang="it-IT" sz="1100"/>
          </a:p>
        </p:txBody>
      </p:sp>
      <p:sp>
        <p:nvSpPr>
          <p:cNvPr id="73" name="Text 24">
            <a:extLst>
              <a:ext uri="{FF2B5EF4-FFF2-40B4-BE49-F238E27FC236}">
                <a16:creationId xmlns:a16="http://schemas.microsoft.com/office/drawing/2014/main" id="{1E0F4AD3-631D-BE03-06CC-147FFB1729D0}"/>
              </a:ext>
            </a:extLst>
          </p:cNvPr>
          <p:cNvSpPr/>
          <p:nvPr/>
        </p:nvSpPr>
        <p:spPr>
          <a:xfrm>
            <a:off x="6727598" y="3050720"/>
            <a:ext cx="2596896"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State read from workflow history; separate read store. Both require safeguards for external actions.</a:t>
            </a:r>
            <a:endParaRPr lang="en-US" sz="1100" dirty="0"/>
          </a:p>
        </p:txBody>
      </p:sp>
      <p:sp>
        <p:nvSpPr>
          <p:cNvPr id="74" name="Shape 25">
            <a:extLst>
              <a:ext uri="{FF2B5EF4-FFF2-40B4-BE49-F238E27FC236}">
                <a16:creationId xmlns:a16="http://schemas.microsoft.com/office/drawing/2014/main" id="{B7C196D4-6518-3038-D338-6EA5BC9740C6}"/>
              </a:ext>
            </a:extLst>
          </p:cNvPr>
          <p:cNvSpPr/>
          <p:nvPr/>
        </p:nvSpPr>
        <p:spPr>
          <a:xfrm>
            <a:off x="9434222" y="2935225"/>
            <a:ext cx="1901952" cy="740664"/>
          </a:xfrm>
          <a:prstGeom prst="rect">
            <a:avLst/>
          </a:prstGeom>
          <a:solidFill>
            <a:srgbClr val="F7F9FC"/>
          </a:solidFill>
          <a:ln w="6350">
            <a:solidFill>
              <a:srgbClr val="D9E1EC"/>
            </a:solidFill>
            <a:prstDash val="solid"/>
          </a:ln>
        </p:spPr>
        <p:txBody>
          <a:bodyPr/>
          <a:lstStyle/>
          <a:p>
            <a:endParaRPr lang="it-IT" sz="1100"/>
          </a:p>
        </p:txBody>
      </p:sp>
      <p:sp>
        <p:nvSpPr>
          <p:cNvPr id="75" name="Text 26">
            <a:extLst>
              <a:ext uri="{FF2B5EF4-FFF2-40B4-BE49-F238E27FC236}">
                <a16:creationId xmlns:a16="http://schemas.microsoft.com/office/drawing/2014/main" id="{241CE689-017F-C64F-8F52-7D32A0AD258A}"/>
              </a:ext>
            </a:extLst>
          </p:cNvPr>
          <p:cNvSpPr/>
          <p:nvPr/>
        </p:nvSpPr>
        <p:spPr>
          <a:xfrm>
            <a:off x="9543950" y="3048333"/>
            <a:ext cx="1682496"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Polling, reconciliation logic, and provider guarantees to verify.</a:t>
            </a:r>
            <a:endParaRPr lang="en-US" sz="1100" dirty="0"/>
          </a:p>
        </p:txBody>
      </p:sp>
      <p:sp>
        <p:nvSpPr>
          <p:cNvPr id="76" name="Shape 27">
            <a:extLst>
              <a:ext uri="{FF2B5EF4-FFF2-40B4-BE49-F238E27FC236}">
                <a16:creationId xmlns:a16="http://schemas.microsoft.com/office/drawing/2014/main" id="{0EE9C686-E9C9-3055-6EFB-F119A80D2AA6}"/>
              </a:ext>
            </a:extLst>
          </p:cNvPr>
          <p:cNvSpPr/>
          <p:nvPr/>
        </p:nvSpPr>
        <p:spPr>
          <a:xfrm>
            <a:off x="765710" y="3675889"/>
            <a:ext cx="2770632" cy="740664"/>
          </a:xfrm>
          <a:prstGeom prst="rect">
            <a:avLst/>
          </a:prstGeom>
          <a:solidFill>
            <a:srgbClr val="FFFFFF"/>
          </a:solidFill>
          <a:ln w="6350">
            <a:solidFill>
              <a:srgbClr val="D9E1EC"/>
            </a:solidFill>
            <a:prstDash val="solid"/>
          </a:ln>
        </p:spPr>
        <p:txBody>
          <a:bodyPr/>
          <a:lstStyle/>
          <a:p>
            <a:endParaRPr lang="it-IT" sz="1100"/>
          </a:p>
        </p:txBody>
      </p:sp>
      <p:sp>
        <p:nvSpPr>
          <p:cNvPr id="77" name="Text 28">
            <a:extLst>
              <a:ext uri="{FF2B5EF4-FFF2-40B4-BE49-F238E27FC236}">
                <a16:creationId xmlns:a16="http://schemas.microsoft.com/office/drawing/2014/main" id="{4A79371A-7E13-11E6-3B9F-0A3A18D255DB}"/>
              </a:ext>
            </a:extLst>
          </p:cNvPr>
          <p:cNvSpPr/>
          <p:nvPr/>
        </p:nvSpPr>
        <p:spPr>
          <a:xfrm>
            <a:off x="875438" y="3785616"/>
            <a:ext cx="2551176" cy="539496"/>
          </a:xfrm>
          <a:prstGeom prst="rect">
            <a:avLst/>
          </a:prstGeom>
          <a:noFill/>
          <a:ln/>
        </p:spPr>
        <p:txBody>
          <a:bodyPr wrap="square" lIns="0" tIns="0" rIns="0" bIns="0" rtlCol="0" anchor="ctr">
            <a:normAutofit/>
          </a:bodyPr>
          <a:lstStyle/>
          <a:p>
            <a:pPr marL="0" indent="0" algn="l">
              <a:buNone/>
            </a:pPr>
            <a:r>
              <a:rPr lang="en-US" sz="1100" b="1" dirty="0">
                <a:solidFill>
                  <a:srgbClr val="07133D"/>
                </a:solidFill>
                <a:latin typeface="Aptos" pitchFamily="34" charset="0"/>
                <a:ea typeface="Aptos" pitchFamily="34" charset="-122"/>
                <a:cs typeface="Aptos" pitchFamily="34" charset="-120"/>
              </a:rPr>
              <a:t>Spike absorption - SQS and EKS workers</a:t>
            </a:r>
            <a:endParaRPr lang="en-US" sz="1100" dirty="0"/>
          </a:p>
        </p:txBody>
      </p:sp>
      <p:sp>
        <p:nvSpPr>
          <p:cNvPr id="78" name="Shape 29">
            <a:extLst>
              <a:ext uri="{FF2B5EF4-FFF2-40B4-BE49-F238E27FC236}">
                <a16:creationId xmlns:a16="http://schemas.microsoft.com/office/drawing/2014/main" id="{D70DD9DC-9870-57CD-D8DE-7457BC5087C3}"/>
              </a:ext>
            </a:extLst>
          </p:cNvPr>
          <p:cNvSpPr/>
          <p:nvPr/>
        </p:nvSpPr>
        <p:spPr>
          <a:xfrm>
            <a:off x="3536342" y="3675889"/>
            <a:ext cx="3081528" cy="740664"/>
          </a:xfrm>
          <a:prstGeom prst="rect">
            <a:avLst/>
          </a:prstGeom>
          <a:solidFill>
            <a:srgbClr val="FFFFFF"/>
          </a:solidFill>
          <a:ln w="6350">
            <a:solidFill>
              <a:srgbClr val="D9E1EC"/>
            </a:solidFill>
            <a:prstDash val="solid"/>
          </a:ln>
        </p:spPr>
        <p:txBody>
          <a:bodyPr/>
          <a:lstStyle/>
          <a:p>
            <a:endParaRPr lang="it-IT" sz="1100"/>
          </a:p>
        </p:txBody>
      </p:sp>
      <p:sp>
        <p:nvSpPr>
          <p:cNvPr id="79" name="Text 30">
            <a:extLst>
              <a:ext uri="{FF2B5EF4-FFF2-40B4-BE49-F238E27FC236}">
                <a16:creationId xmlns:a16="http://schemas.microsoft.com/office/drawing/2014/main" id="{026A25CE-9EC6-4FD4-DEEB-F495A041F28A}"/>
              </a:ext>
            </a:extLst>
          </p:cNvPr>
          <p:cNvSpPr/>
          <p:nvPr/>
        </p:nvSpPr>
        <p:spPr>
          <a:xfrm>
            <a:off x="3646070" y="3775278"/>
            <a:ext cx="2862072"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Buffer slow work and scale background processing independently from chat.</a:t>
            </a:r>
            <a:endParaRPr lang="en-US" sz="1100" dirty="0"/>
          </a:p>
        </p:txBody>
      </p:sp>
      <p:sp>
        <p:nvSpPr>
          <p:cNvPr id="80" name="Shape 31">
            <a:extLst>
              <a:ext uri="{FF2B5EF4-FFF2-40B4-BE49-F238E27FC236}">
                <a16:creationId xmlns:a16="http://schemas.microsoft.com/office/drawing/2014/main" id="{45B7BB91-087E-FD81-EF6A-2AE2762C0968}"/>
              </a:ext>
            </a:extLst>
          </p:cNvPr>
          <p:cNvSpPr/>
          <p:nvPr/>
        </p:nvSpPr>
        <p:spPr>
          <a:xfrm>
            <a:off x="6617870" y="3675889"/>
            <a:ext cx="2816352" cy="740664"/>
          </a:xfrm>
          <a:prstGeom prst="rect">
            <a:avLst/>
          </a:prstGeom>
          <a:solidFill>
            <a:srgbClr val="FFFFFF"/>
          </a:solidFill>
          <a:ln w="6350">
            <a:solidFill>
              <a:srgbClr val="D9E1EC"/>
            </a:solidFill>
            <a:prstDash val="solid"/>
          </a:ln>
        </p:spPr>
        <p:txBody>
          <a:bodyPr/>
          <a:lstStyle/>
          <a:p>
            <a:endParaRPr lang="it-IT" sz="1100"/>
          </a:p>
        </p:txBody>
      </p:sp>
      <p:sp>
        <p:nvSpPr>
          <p:cNvPr id="81" name="Text 32">
            <a:extLst>
              <a:ext uri="{FF2B5EF4-FFF2-40B4-BE49-F238E27FC236}">
                <a16:creationId xmlns:a16="http://schemas.microsoft.com/office/drawing/2014/main" id="{946F9932-7A36-66E1-00AD-76FD800A8EA4}"/>
              </a:ext>
            </a:extLst>
          </p:cNvPr>
          <p:cNvSpPr/>
          <p:nvPr/>
        </p:nvSpPr>
        <p:spPr>
          <a:xfrm>
            <a:off x="6727598" y="3776473"/>
            <a:ext cx="2596896"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Processing work inside requests; orchestration for every independent job.</a:t>
            </a:r>
            <a:endParaRPr lang="en-US" sz="1100" dirty="0"/>
          </a:p>
        </p:txBody>
      </p:sp>
      <p:sp>
        <p:nvSpPr>
          <p:cNvPr id="82" name="Shape 33">
            <a:extLst>
              <a:ext uri="{FF2B5EF4-FFF2-40B4-BE49-F238E27FC236}">
                <a16:creationId xmlns:a16="http://schemas.microsoft.com/office/drawing/2014/main" id="{9E88105B-F5EE-7FD3-3B08-D66BFC188362}"/>
              </a:ext>
            </a:extLst>
          </p:cNvPr>
          <p:cNvSpPr/>
          <p:nvPr/>
        </p:nvSpPr>
        <p:spPr>
          <a:xfrm>
            <a:off x="9434222" y="3675889"/>
            <a:ext cx="1901952" cy="740664"/>
          </a:xfrm>
          <a:prstGeom prst="rect">
            <a:avLst/>
          </a:prstGeom>
          <a:solidFill>
            <a:srgbClr val="FFFFFF"/>
          </a:solidFill>
          <a:ln w="6350">
            <a:solidFill>
              <a:srgbClr val="D9E1EC"/>
            </a:solidFill>
            <a:prstDash val="solid"/>
          </a:ln>
        </p:spPr>
        <p:txBody>
          <a:bodyPr/>
          <a:lstStyle/>
          <a:p>
            <a:endParaRPr lang="it-IT" sz="1100"/>
          </a:p>
        </p:txBody>
      </p:sp>
      <p:sp>
        <p:nvSpPr>
          <p:cNvPr id="83" name="Text 34">
            <a:extLst>
              <a:ext uri="{FF2B5EF4-FFF2-40B4-BE49-F238E27FC236}">
                <a16:creationId xmlns:a16="http://schemas.microsoft.com/office/drawing/2014/main" id="{73212D30-5425-C86B-8864-B8A2F26C6EF0}"/>
              </a:ext>
            </a:extLst>
          </p:cNvPr>
          <p:cNvSpPr/>
          <p:nvPr/>
        </p:nvSpPr>
        <p:spPr>
          <a:xfrm>
            <a:off x="9543950" y="3784424"/>
            <a:ext cx="1682496" cy="539496"/>
          </a:xfrm>
          <a:prstGeom prst="rect">
            <a:avLst/>
          </a:prstGeom>
          <a:noFill/>
          <a:ln/>
        </p:spPr>
        <p:txBody>
          <a:bodyPr wrap="square" lIns="0" tIns="0" rIns="0" bIns="0" rtlCol="0" anchor="ctr">
            <a:normAutofit fontScale="92500"/>
          </a:bodyPr>
          <a:lstStyle/>
          <a:p>
            <a:r>
              <a:rPr lang="en-US" sz="1100" dirty="0">
                <a:solidFill>
                  <a:srgbClr val="596579"/>
                </a:solidFill>
                <a:latin typeface="Aptos" pitchFamily="34" charset="0"/>
                <a:ea typeface="Aptos" pitchFamily="34" charset="-122"/>
                <a:cs typeface="Aptos" pitchFamily="34" charset="-120"/>
              </a:rPr>
              <a:t>AWS dependency; Queueing delay, redelivery, and backlog control within provider quotas.</a:t>
            </a:r>
            <a:endParaRPr lang="en-US" sz="1100" dirty="0"/>
          </a:p>
        </p:txBody>
      </p:sp>
      <p:sp>
        <p:nvSpPr>
          <p:cNvPr id="84" name="Shape 35">
            <a:extLst>
              <a:ext uri="{FF2B5EF4-FFF2-40B4-BE49-F238E27FC236}">
                <a16:creationId xmlns:a16="http://schemas.microsoft.com/office/drawing/2014/main" id="{5F10DD6F-34C8-621B-541F-D3B22BAA767F}"/>
              </a:ext>
            </a:extLst>
          </p:cNvPr>
          <p:cNvSpPr/>
          <p:nvPr/>
        </p:nvSpPr>
        <p:spPr>
          <a:xfrm>
            <a:off x="765710" y="4416553"/>
            <a:ext cx="2770632" cy="740664"/>
          </a:xfrm>
          <a:prstGeom prst="rect">
            <a:avLst/>
          </a:prstGeom>
          <a:solidFill>
            <a:srgbClr val="F7F9FC"/>
          </a:solidFill>
          <a:ln w="6350">
            <a:solidFill>
              <a:srgbClr val="D9E1EC"/>
            </a:solidFill>
            <a:prstDash val="solid"/>
          </a:ln>
        </p:spPr>
        <p:txBody>
          <a:bodyPr/>
          <a:lstStyle/>
          <a:p>
            <a:endParaRPr lang="it-IT" sz="1100"/>
          </a:p>
        </p:txBody>
      </p:sp>
      <p:sp>
        <p:nvSpPr>
          <p:cNvPr id="85" name="Text 36">
            <a:extLst>
              <a:ext uri="{FF2B5EF4-FFF2-40B4-BE49-F238E27FC236}">
                <a16:creationId xmlns:a16="http://schemas.microsoft.com/office/drawing/2014/main" id="{BA631359-EDF9-4C7F-A2B9-C4C64863844E}"/>
              </a:ext>
            </a:extLst>
          </p:cNvPr>
          <p:cNvSpPr/>
          <p:nvPr/>
        </p:nvSpPr>
        <p:spPr>
          <a:xfrm>
            <a:off x="875438" y="4507995"/>
            <a:ext cx="2551176" cy="539496"/>
          </a:xfrm>
          <a:prstGeom prst="rect">
            <a:avLst/>
          </a:prstGeom>
          <a:noFill/>
          <a:ln/>
        </p:spPr>
        <p:txBody>
          <a:bodyPr wrap="square" lIns="0" tIns="0" rIns="0" bIns="0" rtlCol="0" anchor="ctr">
            <a:normAutofit/>
          </a:bodyPr>
          <a:lstStyle/>
          <a:p>
            <a:pPr marL="0" indent="0" algn="l">
              <a:buNone/>
            </a:pPr>
            <a:r>
              <a:rPr lang="en-US" sz="1100" b="1" dirty="0">
                <a:solidFill>
                  <a:srgbClr val="07133D"/>
                </a:solidFill>
                <a:latin typeface="Aptos" pitchFamily="34" charset="0"/>
                <a:ea typeface="Aptos" pitchFamily="34" charset="-122"/>
                <a:cs typeface="Aptos" pitchFamily="34" charset="-120"/>
              </a:rPr>
              <a:t>Resilient managed baseline - two AZs and RDS Multi-AZ</a:t>
            </a:r>
            <a:endParaRPr lang="en-US" sz="1100" dirty="0"/>
          </a:p>
        </p:txBody>
      </p:sp>
      <p:sp>
        <p:nvSpPr>
          <p:cNvPr id="86" name="Shape 37">
            <a:extLst>
              <a:ext uri="{FF2B5EF4-FFF2-40B4-BE49-F238E27FC236}">
                <a16:creationId xmlns:a16="http://schemas.microsoft.com/office/drawing/2014/main" id="{082F8CA7-3811-A7EF-E6A7-31F123B9BB9E}"/>
              </a:ext>
            </a:extLst>
          </p:cNvPr>
          <p:cNvSpPr/>
          <p:nvPr/>
        </p:nvSpPr>
        <p:spPr>
          <a:xfrm>
            <a:off x="3536342" y="4416553"/>
            <a:ext cx="3081528" cy="740664"/>
          </a:xfrm>
          <a:prstGeom prst="rect">
            <a:avLst/>
          </a:prstGeom>
          <a:solidFill>
            <a:srgbClr val="F7F9FC"/>
          </a:solidFill>
          <a:ln w="6350">
            <a:solidFill>
              <a:srgbClr val="D9E1EC"/>
            </a:solidFill>
            <a:prstDash val="solid"/>
          </a:ln>
        </p:spPr>
        <p:txBody>
          <a:bodyPr/>
          <a:lstStyle/>
          <a:p>
            <a:endParaRPr lang="it-IT" sz="1100"/>
          </a:p>
        </p:txBody>
      </p:sp>
      <p:sp>
        <p:nvSpPr>
          <p:cNvPr id="87" name="Text 38">
            <a:extLst>
              <a:ext uri="{FF2B5EF4-FFF2-40B4-BE49-F238E27FC236}">
                <a16:creationId xmlns:a16="http://schemas.microsoft.com/office/drawing/2014/main" id="{7C44D0D0-3EBC-3006-571B-40C193979444}"/>
              </a:ext>
            </a:extLst>
          </p:cNvPr>
          <p:cNvSpPr/>
          <p:nvPr/>
        </p:nvSpPr>
        <p:spPr>
          <a:xfrm>
            <a:off x="3646070" y="4533040"/>
            <a:ext cx="2862072"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Reduce maintenance and failure impact for a small team.</a:t>
            </a:r>
            <a:endParaRPr lang="en-US" sz="1100" dirty="0"/>
          </a:p>
        </p:txBody>
      </p:sp>
      <p:sp>
        <p:nvSpPr>
          <p:cNvPr id="88" name="Shape 39">
            <a:extLst>
              <a:ext uri="{FF2B5EF4-FFF2-40B4-BE49-F238E27FC236}">
                <a16:creationId xmlns:a16="http://schemas.microsoft.com/office/drawing/2014/main" id="{BCC05F15-FF8A-8D37-8CBD-86B9A9F52A7F}"/>
              </a:ext>
            </a:extLst>
          </p:cNvPr>
          <p:cNvSpPr/>
          <p:nvPr/>
        </p:nvSpPr>
        <p:spPr>
          <a:xfrm>
            <a:off x="6617870" y="4416553"/>
            <a:ext cx="2816352" cy="740664"/>
          </a:xfrm>
          <a:prstGeom prst="rect">
            <a:avLst/>
          </a:prstGeom>
          <a:solidFill>
            <a:srgbClr val="F7F9FC"/>
          </a:solidFill>
          <a:ln w="6350">
            <a:solidFill>
              <a:srgbClr val="D9E1EC"/>
            </a:solidFill>
            <a:prstDash val="solid"/>
          </a:ln>
        </p:spPr>
        <p:txBody>
          <a:bodyPr/>
          <a:lstStyle/>
          <a:p>
            <a:endParaRPr lang="it-IT" sz="1100"/>
          </a:p>
        </p:txBody>
      </p:sp>
      <p:sp>
        <p:nvSpPr>
          <p:cNvPr id="89" name="Text 40">
            <a:extLst>
              <a:ext uri="{FF2B5EF4-FFF2-40B4-BE49-F238E27FC236}">
                <a16:creationId xmlns:a16="http://schemas.microsoft.com/office/drawing/2014/main" id="{F2D1DB84-2B15-EE83-CCFA-C515853D3B06}"/>
              </a:ext>
            </a:extLst>
          </p:cNvPr>
          <p:cNvSpPr/>
          <p:nvPr/>
        </p:nvSpPr>
        <p:spPr>
          <a:xfrm>
            <a:off x="6727598" y="4525089"/>
            <a:ext cx="2596896"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Single-AZ to save cost; self-managed services for more control.</a:t>
            </a:r>
            <a:endParaRPr lang="en-US" sz="1100" dirty="0"/>
          </a:p>
        </p:txBody>
      </p:sp>
      <p:sp>
        <p:nvSpPr>
          <p:cNvPr id="90" name="Shape 41">
            <a:extLst>
              <a:ext uri="{FF2B5EF4-FFF2-40B4-BE49-F238E27FC236}">
                <a16:creationId xmlns:a16="http://schemas.microsoft.com/office/drawing/2014/main" id="{46F04988-F66D-9D60-5904-B5BA842C47BB}"/>
              </a:ext>
            </a:extLst>
          </p:cNvPr>
          <p:cNvSpPr/>
          <p:nvPr/>
        </p:nvSpPr>
        <p:spPr>
          <a:xfrm>
            <a:off x="9434222" y="4416553"/>
            <a:ext cx="1901952" cy="740664"/>
          </a:xfrm>
          <a:prstGeom prst="rect">
            <a:avLst/>
          </a:prstGeom>
          <a:solidFill>
            <a:srgbClr val="F7F9FC"/>
          </a:solidFill>
          <a:ln w="6350">
            <a:solidFill>
              <a:srgbClr val="D9E1EC"/>
            </a:solidFill>
            <a:prstDash val="solid"/>
          </a:ln>
        </p:spPr>
        <p:txBody>
          <a:bodyPr/>
          <a:lstStyle/>
          <a:p>
            <a:endParaRPr lang="it-IT" sz="1100"/>
          </a:p>
        </p:txBody>
      </p:sp>
      <p:sp>
        <p:nvSpPr>
          <p:cNvPr id="91" name="Text 42">
            <a:extLst>
              <a:ext uri="{FF2B5EF4-FFF2-40B4-BE49-F238E27FC236}">
                <a16:creationId xmlns:a16="http://schemas.microsoft.com/office/drawing/2014/main" id="{E84D1BB9-3BDC-E751-14D7-224FCD7A661A}"/>
              </a:ext>
            </a:extLst>
          </p:cNvPr>
          <p:cNvSpPr/>
          <p:nvPr/>
        </p:nvSpPr>
        <p:spPr>
          <a:xfrm>
            <a:off x="9543950" y="4533040"/>
            <a:ext cx="1682496"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Higher minimum cost and AWS dependency; recovery still to demonstrate.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1B49E-79CE-9EA6-4F0F-CC3E945E477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D374D15-0F04-8F59-1646-D57406AED600}"/>
              </a:ext>
            </a:extLst>
          </p:cNvPr>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sp>
        <p:nvSpPr>
          <p:cNvPr id="3" name="Text 1">
            <a:extLst>
              <a:ext uri="{FF2B5EF4-FFF2-40B4-BE49-F238E27FC236}">
                <a16:creationId xmlns:a16="http://schemas.microsoft.com/office/drawing/2014/main" id="{BBEDBB97-F672-CF70-A89B-5EA5DDE0A731}"/>
              </a:ext>
            </a:extLst>
          </p:cNvPr>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Choices and their trade-offs</a:t>
            </a:r>
            <a:endParaRPr lang="en-US" sz="2750" dirty="0"/>
          </a:p>
        </p:txBody>
      </p:sp>
      <p:sp>
        <p:nvSpPr>
          <p:cNvPr id="4" name="Shape 2">
            <a:extLst>
              <a:ext uri="{FF2B5EF4-FFF2-40B4-BE49-F238E27FC236}">
                <a16:creationId xmlns:a16="http://schemas.microsoft.com/office/drawing/2014/main" id="{BA278ADB-CF95-09F9-5829-0D3A7CED6C05}"/>
              </a:ext>
            </a:extLst>
          </p:cNvPr>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5" name="Shape 3">
            <a:extLst>
              <a:ext uri="{FF2B5EF4-FFF2-40B4-BE49-F238E27FC236}">
                <a16:creationId xmlns:a16="http://schemas.microsoft.com/office/drawing/2014/main" id="{43D5D482-74C2-3F56-B2C8-6F7D4BF86201}"/>
              </a:ext>
            </a:extLst>
          </p:cNvPr>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6" name="Text 4">
            <a:extLst>
              <a:ext uri="{FF2B5EF4-FFF2-40B4-BE49-F238E27FC236}">
                <a16:creationId xmlns:a16="http://schemas.microsoft.com/office/drawing/2014/main" id="{F42FD02D-F19C-E44F-E360-90061553DE4C}"/>
              </a:ext>
            </a:extLst>
          </p:cNvPr>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3/10 </a:t>
            </a:r>
            <a:endParaRPr lang="en-US" sz="850" dirty="0"/>
          </a:p>
        </p:txBody>
      </p:sp>
      <p:sp>
        <p:nvSpPr>
          <p:cNvPr id="52" name="Shape 3">
            <a:extLst>
              <a:ext uri="{FF2B5EF4-FFF2-40B4-BE49-F238E27FC236}">
                <a16:creationId xmlns:a16="http://schemas.microsoft.com/office/drawing/2014/main" id="{9608C989-2EE9-A73D-4740-D9743AF79A67}"/>
              </a:ext>
            </a:extLst>
          </p:cNvPr>
          <p:cNvSpPr/>
          <p:nvPr/>
        </p:nvSpPr>
        <p:spPr>
          <a:xfrm>
            <a:off x="765710" y="1847089"/>
            <a:ext cx="2770632" cy="347472"/>
          </a:xfrm>
          <a:prstGeom prst="rect">
            <a:avLst/>
          </a:prstGeom>
          <a:solidFill>
            <a:srgbClr val="07133D"/>
          </a:solidFill>
          <a:ln w="6350">
            <a:solidFill>
              <a:srgbClr val="FFFFFF"/>
            </a:solidFill>
            <a:prstDash val="solid"/>
          </a:ln>
        </p:spPr>
        <p:txBody>
          <a:bodyPr/>
          <a:lstStyle/>
          <a:p>
            <a:endParaRPr lang="it-IT" sz="1100"/>
          </a:p>
        </p:txBody>
      </p:sp>
      <p:sp>
        <p:nvSpPr>
          <p:cNvPr id="53" name="Text 4">
            <a:extLst>
              <a:ext uri="{FF2B5EF4-FFF2-40B4-BE49-F238E27FC236}">
                <a16:creationId xmlns:a16="http://schemas.microsoft.com/office/drawing/2014/main" id="{51488716-C2B5-A9EA-7AE4-13257E906800}"/>
              </a:ext>
            </a:extLst>
          </p:cNvPr>
          <p:cNvSpPr/>
          <p:nvPr/>
        </p:nvSpPr>
        <p:spPr>
          <a:xfrm>
            <a:off x="875438" y="1929385"/>
            <a:ext cx="2551176" cy="164592"/>
          </a:xfrm>
          <a:prstGeom prst="rect">
            <a:avLst/>
          </a:prstGeom>
          <a:noFill/>
          <a:ln/>
        </p:spPr>
        <p:txBody>
          <a:bodyPr wrap="square" lIns="0" tIns="0" rIns="0" bIns="0" rtlCol="0" anchor="t">
            <a:noAutofit/>
          </a:bodyPr>
          <a:lstStyle/>
          <a:p>
            <a:pPr marL="0" indent="0" algn="l">
              <a:buNone/>
            </a:pPr>
            <a:r>
              <a:rPr lang="en-US" sz="1200" b="1" dirty="0">
                <a:solidFill>
                  <a:srgbClr val="FFFFFF"/>
                </a:solidFill>
                <a:latin typeface="Aptos" pitchFamily="34" charset="0"/>
                <a:ea typeface="Aptos" pitchFamily="34" charset="-122"/>
                <a:cs typeface="Aptos" pitchFamily="34" charset="-120"/>
              </a:rPr>
              <a:t>Decision</a:t>
            </a:r>
            <a:endParaRPr lang="en-US" sz="1200" dirty="0"/>
          </a:p>
        </p:txBody>
      </p:sp>
      <p:sp>
        <p:nvSpPr>
          <p:cNvPr id="54" name="Shape 5">
            <a:extLst>
              <a:ext uri="{FF2B5EF4-FFF2-40B4-BE49-F238E27FC236}">
                <a16:creationId xmlns:a16="http://schemas.microsoft.com/office/drawing/2014/main" id="{ECF75838-D9C2-53A8-19ED-BE699B1AAFF8}"/>
              </a:ext>
            </a:extLst>
          </p:cNvPr>
          <p:cNvSpPr/>
          <p:nvPr/>
        </p:nvSpPr>
        <p:spPr>
          <a:xfrm>
            <a:off x="3536342" y="1847089"/>
            <a:ext cx="3081528" cy="347472"/>
          </a:xfrm>
          <a:prstGeom prst="rect">
            <a:avLst/>
          </a:prstGeom>
          <a:solidFill>
            <a:srgbClr val="07133D"/>
          </a:solidFill>
          <a:ln w="6350">
            <a:solidFill>
              <a:srgbClr val="FFFFFF"/>
            </a:solidFill>
            <a:prstDash val="solid"/>
          </a:ln>
        </p:spPr>
        <p:txBody>
          <a:bodyPr/>
          <a:lstStyle/>
          <a:p>
            <a:endParaRPr lang="it-IT" sz="1100"/>
          </a:p>
        </p:txBody>
      </p:sp>
      <p:sp>
        <p:nvSpPr>
          <p:cNvPr id="55" name="Text 6">
            <a:extLst>
              <a:ext uri="{FF2B5EF4-FFF2-40B4-BE49-F238E27FC236}">
                <a16:creationId xmlns:a16="http://schemas.microsoft.com/office/drawing/2014/main" id="{F1A42F81-FB76-1E03-39FD-37CBF56F4C4E}"/>
              </a:ext>
            </a:extLst>
          </p:cNvPr>
          <p:cNvSpPr/>
          <p:nvPr/>
        </p:nvSpPr>
        <p:spPr>
          <a:xfrm>
            <a:off x="3646070" y="1929385"/>
            <a:ext cx="2862072" cy="164592"/>
          </a:xfrm>
          <a:prstGeom prst="rect">
            <a:avLst/>
          </a:prstGeom>
          <a:noFill/>
          <a:ln/>
        </p:spPr>
        <p:txBody>
          <a:bodyPr wrap="square" lIns="0" tIns="0" rIns="0" bIns="0" rtlCol="0" anchor="t">
            <a:noAutofit/>
          </a:bodyPr>
          <a:lstStyle/>
          <a:p>
            <a:pPr marL="0" indent="0" algn="l">
              <a:buNone/>
            </a:pPr>
            <a:r>
              <a:rPr lang="en-US" sz="1200" b="1" dirty="0">
                <a:solidFill>
                  <a:srgbClr val="FFFFFF"/>
                </a:solidFill>
                <a:latin typeface="Aptos" pitchFamily="34" charset="0"/>
                <a:ea typeface="Aptos" pitchFamily="34" charset="-122"/>
                <a:cs typeface="Aptos" pitchFamily="34" charset="-120"/>
              </a:rPr>
              <a:t>Why</a:t>
            </a:r>
            <a:endParaRPr lang="en-US" sz="1200" dirty="0"/>
          </a:p>
        </p:txBody>
      </p:sp>
      <p:sp>
        <p:nvSpPr>
          <p:cNvPr id="56" name="Shape 7">
            <a:extLst>
              <a:ext uri="{FF2B5EF4-FFF2-40B4-BE49-F238E27FC236}">
                <a16:creationId xmlns:a16="http://schemas.microsoft.com/office/drawing/2014/main" id="{D8250B4C-3456-8D7A-4682-CE2EC55F9DDC}"/>
              </a:ext>
            </a:extLst>
          </p:cNvPr>
          <p:cNvSpPr/>
          <p:nvPr/>
        </p:nvSpPr>
        <p:spPr>
          <a:xfrm>
            <a:off x="6617870" y="1847089"/>
            <a:ext cx="2816352" cy="347472"/>
          </a:xfrm>
          <a:prstGeom prst="rect">
            <a:avLst/>
          </a:prstGeom>
          <a:solidFill>
            <a:srgbClr val="07133D"/>
          </a:solidFill>
          <a:ln w="6350">
            <a:solidFill>
              <a:srgbClr val="FFFFFF"/>
            </a:solidFill>
            <a:prstDash val="solid"/>
          </a:ln>
        </p:spPr>
        <p:txBody>
          <a:bodyPr/>
          <a:lstStyle/>
          <a:p>
            <a:endParaRPr lang="it-IT" sz="1100"/>
          </a:p>
        </p:txBody>
      </p:sp>
      <p:sp>
        <p:nvSpPr>
          <p:cNvPr id="57" name="Text 8">
            <a:extLst>
              <a:ext uri="{FF2B5EF4-FFF2-40B4-BE49-F238E27FC236}">
                <a16:creationId xmlns:a16="http://schemas.microsoft.com/office/drawing/2014/main" id="{1BCEBD53-8616-4045-B87B-3834C975FB87}"/>
              </a:ext>
            </a:extLst>
          </p:cNvPr>
          <p:cNvSpPr/>
          <p:nvPr/>
        </p:nvSpPr>
        <p:spPr>
          <a:xfrm>
            <a:off x="6727598" y="1929385"/>
            <a:ext cx="2596896" cy="164592"/>
          </a:xfrm>
          <a:prstGeom prst="rect">
            <a:avLst/>
          </a:prstGeom>
          <a:noFill/>
          <a:ln/>
        </p:spPr>
        <p:txBody>
          <a:bodyPr wrap="square" lIns="0" tIns="0" rIns="0" bIns="0" rtlCol="0" anchor="t">
            <a:noAutofit/>
          </a:bodyPr>
          <a:lstStyle/>
          <a:p>
            <a:pPr marL="0" indent="0" algn="l">
              <a:buNone/>
            </a:pPr>
            <a:r>
              <a:rPr lang="en-US" sz="1200" b="1" dirty="0">
                <a:solidFill>
                  <a:srgbClr val="FFFFFF"/>
                </a:solidFill>
                <a:latin typeface="Aptos" pitchFamily="34" charset="0"/>
                <a:ea typeface="Aptos" pitchFamily="34" charset="-122"/>
                <a:cs typeface="Aptos" pitchFamily="34" charset="-120"/>
              </a:rPr>
              <a:t>Alternatives</a:t>
            </a:r>
            <a:endParaRPr lang="en-US" sz="1200" dirty="0"/>
          </a:p>
        </p:txBody>
      </p:sp>
      <p:sp>
        <p:nvSpPr>
          <p:cNvPr id="58" name="Shape 9">
            <a:extLst>
              <a:ext uri="{FF2B5EF4-FFF2-40B4-BE49-F238E27FC236}">
                <a16:creationId xmlns:a16="http://schemas.microsoft.com/office/drawing/2014/main" id="{AF47D022-D22E-8A09-DE83-2F0CB16E9A8C}"/>
              </a:ext>
            </a:extLst>
          </p:cNvPr>
          <p:cNvSpPr/>
          <p:nvPr/>
        </p:nvSpPr>
        <p:spPr>
          <a:xfrm>
            <a:off x="9434222" y="1847089"/>
            <a:ext cx="1901952" cy="347472"/>
          </a:xfrm>
          <a:prstGeom prst="rect">
            <a:avLst/>
          </a:prstGeom>
          <a:solidFill>
            <a:srgbClr val="07133D"/>
          </a:solidFill>
          <a:ln w="6350">
            <a:solidFill>
              <a:srgbClr val="FFFFFF"/>
            </a:solidFill>
            <a:prstDash val="solid"/>
          </a:ln>
        </p:spPr>
        <p:txBody>
          <a:bodyPr/>
          <a:lstStyle/>
          <a:p>
            <a:endParaRPr lang="it-IT" sz="1100"/>
          </a:p>
        </p:txBody>
      </p:sp>
      <p:sp>
        <p:nvSpPr>
          <p:cNvPr id="59" name="Text 10">
            <a:extLst>
              <a:ext uri="{FF2B5EF4-FFF2-40B4-BE49-F238E27FC236}">
                <a16:creationId xmlns:a16="http://schemas.microsoft.com/office/drawing/2014/main" id="{8CAAA9EF-076F-3DB6-9B05-F788187F5EB9}"/>
              </a:ext>
            </a:extLst>
          </p:cNvPr>
          <p:cNvSpPr/>
          <p:nvPr/>
        </p:nvSpPr>
        <p:spPr>
          <a:xfrm>
            <a:off x="9543950" y="1929385"/>
            <a:ext cx="1682496" cy="164592"/>
          </a:xfrm>
          <a:prstGeom prst="rect">
            <a:avLst/>
          </a:prstGeom>
          <a:noFill/>
          <a:ln/>
        </p:spPr>
        <p:txBody>
          <a:bodyPr wrap="square" lIns="0" tIns="0" rIns="0" bIns="0" rtlCol="0" anchor="t">
            <a:noAutofit/>
          </a:bodyPr>
          <a:lstStyle/>
          <a:p>
            <a:pPr marL="0" indent="0" algn="l">
              <a:buNone/>
            </a:pPr>
            <a:r>
              <a:rPr lang="en-US" sz="1200" b="1" dirty="0">
                <a:solidFill>
                  <a:srgbClr val="FFFFFF"/>
                </a:solidFill>
                <a:latin typeface="Aptos" pitchFamily="34" charset="0"/>
                <a:ea typeface="Aptos" pitchFamily="34" charset="-122"/>
                <a:cs typeface="Aptos" pitchFamily="34" charset="-120"/>
              </a:rPr>
              <a:t>Trade-off</a:t>
            </a:r>
            <a:endParaRPr lang="en-US" sz="1200" dirty="0"/>
          </a:p>
        </p:txBody>
      </p:sp>
      <p:sp>
        <p:nvSpPr>
          <p:cNvPr id="60" name="Shape 11">
            <a:extLst>
              <a:ext uri="{FF2B5EF4-FFF2-40B4-BE49-F238E27FC236}">
                <a16:creationId xmlns:a16="http://schemas.microsoft.com/office/drawing/2014/main" id="{A908C761-59E7-2F09-7BB6-880AEDEA7A12}"/>
              </a:ext>
            </a:extLst>
          </p:cNvPr>
          <p:cNvSpPr/>
          <p:nvPr/>
        </p:nvSpPr>
        <p:spPr>
          <a:xfrm>
            <a:off x="765710" y="2194561"/>
            <a:ext cx="2770632" cy="740664"/>
          </a:xfrm>
          <a:prstGeom prst="rect">
            <a:avLst/>
          </a:prstGeom>
          <a:solidFill>
            <a:srgbClr val="FFFFFF"/>
          </a:solidFill>
          <a:ln w="6350">
            <a:solidFill>
              <a:srgbClr val="D9E1EC"/>
            </a:solidFill>
            <a:prstDash val="solid"/>
          </a:ln>
        </p:spPr>
        <p:txBody>
          <a:bodyPr/>
          <a:lstStyle/>
          <a:p>
            <a:endParaRPr lang="it-IT" sz="1100"/>
          </a:p>
        </p:txBody>
      </p:sp>
      <p:sp>
        <p:nvSpPr>
          <p:cNvPr id="61" name="Text 12">
            <a:extLst>
              <a:ext uri="{FF2B5EF4-FFF2-40B4-BE49-F238E27FC236}">
                <a16:creationId xmlns:a16="http://schemas.microsoft.com/office/drawing/2014/main" id="{161F6DD7-1B0F-43D1-83C7-D872256983E0}"/>
              </a:ext>
            </a:extLst>
          </p:cNvPr>
          <p:cNvSpPr/>
          <p:nvPr/>
        </p:nvSpPr>
        <p:spPr>
          <a:xfrm>
            <a:off x="875438" y="2318005"/>
            <a:ext cx="2551176" cy="539496"/>
          </a:xfrm>
          <a:prstGeom prst="rect">
            <a:avLst/>
          </a:prstGeom>
          <a:noFill/>
          <a:ln/>
        </p:spPr>
        <p:txBody>
          <a:bodyPr wrap="square" lIns="0" tIns="0" rIns="0" bIns="0" rtlCol="0" anchor="ctr">
            <a:normAutofit/>
          </a:bodyPr>
          <a:lstStyle/>
          <a:p>
            <a:pPr marL="0" indent="0" algn="l">
              <a:buNone/>
            </a:pPr>
            <a:r>
              <a:rPr lang="en-US" sz="1100" b="1" dirty="0">
                <a:solidFill>
                  <a:srgbClr val="07133D"/>
                </a:solidFill>
                <a:latin typeface="Aptos" pitchFamily="34" charset="0"/>
                <a:ea typeface="Aptos" pitchFamily="34" charset="-122"/>
                <a:cs typeface="Aptos" pitchFamily="34" charset="-120"/>
              </a:rPr>
              <a:t>Managed orchestration - </a:t>
            </a:r>
            <a:r>
              <a:rPr lang="en-US" sz="1100" b="1" dirty="0">
                <a:solidFill>
                  <a:srgbClr val="C00000"/>
                </a:solidFill>
                <a:latin typeface="Aptos" pitchFamily="34" charset="0"/>
                <a:ea typeface="Aptos" pitchFamily="34" charset="-122"/>
                <a:cs typeface="Aptos" pitchFamily="34" charset="-120"/>
              </a:rPr>
              <a:t>Step Functions Standard</a:t>
            </a:r>
            <a:endParaRPr lang="en-US" sz="1100" b="1" dirty="0">
              <a:solidFill>
                <a:srgbClr val="C00000"/>
              </a:solidFill>
            </a:endParaRPr>
          </a:p>
        </p:txBody>
      </p:sp>
      <p:sp>
        <p:nvSpPr>
          <p:cNvPr id="62" name="Shape 13">
            <a:extLst>
              <a:ext uri="{FF2B5EF4-FFF2-40B4-BE49-F238E27FC236}">
                <a16:creationId xmlns:a16="http://schemas.microsoft.com/office/drawing/2014/main" id="{25A3131A-C56A-CA45-DD24-ADDBAC840196}"/>
              </a:ext>
            </a:extLst>
          </p:cNvPr>
          <p:cNvSpPr/>
          <p:nvPr/>
        </p:nvSpPr>
        <p:spPr>
          <a:xfrm>
            <a:off x="3536342" y="2194561"/>
            <a:ext cx="3081528" cy="740664"/>
          </a:xfrm>
          <a:prstGeom prst="rect">
            <a:avLst/>
          </a:prstGeom>
          <a:solidFill>
            <a:srgbClr val="FFFFFF"/>
          </a:solidFill>
          <a:ln w="6350">
            <a:solidFill>
              <a:srgbClr val="D9E1EC"/>
            </a:solidFill>
            <a:prstDash val="solid"/>
          </a:ln>
        </p:spPr>
        <p:txBody>
          <a:bodyPr/>
          <a:lstStyle/>
          <a:p>
            <a:endParaRPr lang="it-IT" sz="1100"/>
          </a:p>
        </p:txBody>
      </p:sp>
      <p:sp>
        <p:nvSpPr>
          <p:cNvPr id="63" name="Text 14">
            <a:extLst>
              <a:ext uri="{FF2B5EF4-FFF2-40B4-BE49-F238E27FC236}">
                <a16:creationId xmlns:a16="http://schemas.microsoft.com/office/drawing/2014/main" id="{3402EAF9-4119-394F-1B49-EF752E3816AE}"/>
              </a:ext>
            </a:extLst>
          </p:cNvPr>
          <p:cNvSpPr/>
          <p:nvPr/>
        </p:nvSpPr>
        <p:spPr>
          <a:xfrm>
            <a:off x="3646070" y="2360347"/>
            <a:ext cx="2862072" cy="475489"/>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Manage waits, timers, and resumptions with less software to maintain.</a:t>
            </a:r>
            <a:endParaRPr lang="en-US" sz="1100" dirty="0"/>
          </a:p>
        </p:txBody>
      </p:sp>
      <p:sp>
        <p:nvSpPr>
          <p:cNvPr id="64" name="Shape 15">
            <a:extLst>
              <a:ext uri="{FF2B5EF4-FFF2-40B4-BE49-F238E27FC236}">
                <a16:creationId xmlns:a16="http://schemas.microsoft.com/office/drawing/2014/main" id="{3F927D44-311C-9B50-73B3-E9D986968029}"/>
              </a:ext>
            </a:extLst>
          </p:cNvPr>
          <p:cNvSpPr/>
          <p:nvPr/>
        </p:nvSpPr>
        <p:spPr>
          <a:xfrm>
            <a:off x="6617870" y="2194561"/>
            <a:ext cx="2816352" cy="740664"/>
          </a:xfrm>
          <a:prstGeom prst="rect">
            <a:avLst/>
          </a:prstGeom>
          <a:solidFill>
            <a:srgbClr val="FFFFFF"/>
          </a:solidFill>
          <a:ln w="6350">
            <a:solidFill>
              <a:srgbClr val="D9E1EC"/>
            </a:solidFill>
            <a:prstDash val="solid"/>
          </a:ln>
        </p:spPr>
        <p:txBody>
          <a:bodyPr/>
          <a:lstStyle/>
          <a:p>
            <a:endParaRPr lang="it-IT" sz="1100"/>
          </a:p>
        </p:txBody>
      </p:sp>
      <p:sp>
        <p:nvSpPr>
          <p:cNvPr id="65" name="Text 16">
            <a:extLst>
              <a:ext uri="{FF2B5EF4-FFF2-40B4-BE49-F238E27FC236}">
                <a16:creationId xmlns:a16="http://schemas.microsoft.com/office/drawing/2014/main" id="{3F0A74C9-2FA7-65F5-295F-51BEC84FD04F}"/>
              </a:ext>
            </a:extLst>
          </p:cNvPr>
          <p:cNvSpPr/>
          <p:nvPr/>
        </p:nvSpPr>
        <p:spPr>
          <a:xfrm>
            <a:off x="6727598" y="2328343"/>
            <a:ext cx="2596896"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Custom workflow in PostgreSQL; Temporal.</a:t>
            </a:r>
            <a:endParaRPr lang="en-US" sz="1100" dirty="0"/>
          </a:p>
        </p:txBody>
      </p:sp>
      <p:sp>
        <p:nvSpPr>
          <p:cNvPr id="66" name="Shape 17">
            <a:extLst>
              <a:ext uri="{FF2B5EF4-FFF2-40B4-BE49-F238E27FC236}">
                <a16:creationId xmlns:a16="http://schemas.microsoft.com/office/drawing/2014/main" id="{C970E99F-2BBB-C941-C18A-2F0A67D2195F}"/>
              </a:ext>
            </a:extLst>
          </p:cNvPr>
          <p:cNvSpPr/>
          <p:nvPr/>
        </p:nvSpPr>
        <p:spPr>
          <a:xfrm>
            <a:off x="9434222" y="2194561"/>
            <a:ext cx="1901952" cy="740664"/>
          </a:xfrm>
          <a:prstGeom prst="rect">
            <a:avLst/>
          </a:prstGeom>
          <a:solidFill>
            <a:srgbClr val="FFFFFF"/>
          </a:solidFill>
          <a:ln w="6350">
            <a:solidFill>
              <a:srgbClr val="D9E1EC"/>
            </a:solidFill>
            <a:prstDash val="solid"/>
          </a:ln>
        </p:spPr>
        <p:txBody>
          <a:bodyPr/>
          <a:lstStyle/>
          <a:p>
            <a:endParaRPr lang="it-IT" sz="1100"/>
          </a:p>
        </p:txBody>
      </p:sp>
      <p:sp>
        <p:nvSpPr>
          <p:cNvPr id="67" name="Text 18">
            <a:extLst>
              <a:ext uri="{FF2B5EF4-FFF2-40B4-BE49-F238E27FC236}">
                <a16:creationId xmlns:a16="http://schemas.microsoft.com/office/drawing/2014/main" id="{2DE9E4CA-1D4E-EEFB-7B12-14D5901BA534}"/>
              </a:ext>
            </a:extLst>
          </p:cNvPr>
          <p:cNvSpPr/>
          <p:nvPr/>
        </p:nvSpPr>
        <p:spPr>
          <a:xfrm>
            <a:off x="9543950" y="2304288"/>
            <a:ext cx="1682496" cy="539496"/>
          </a:xfrm>
          <a:prstGeom prst="rect">
            <a:avLst/>
          </a:prstGeom>
          <a:noFill/>
          <a:ln/>
        </p:spPr>
        <p:txBody>
          <a:bodyPr wrap="square" lIns="0" tIns="0" rIns="0" bIns="0" rtlCol="0" anchor="ctr">
            <a:normAutofit/>
          </a:bodyPr>
          <a:lstStyle/>
          <a:p>
            <a:pPr marL="0" indent="0" algn="l">
              <a:buNone/>
            </a:pPr>
            <a:r>
              <a:rPr lang="en-US" sz="1100" b="1" dirty="0">
                <a:solidFill>
                  <a:srgbClr val="C00000"/>
                </a:solidFill>
                <a:latin typeface="Aptos" pitchFamily="34" charset="0"/>
                <a:ea typeface="Aptos" pitchFamily="34" charset="-122"/>
                <a:cs typeface="Aptos" pitchFamily="34" charset="-120"/>
              </a:rPr>
              <a:t>AWS dependency</a:t>
            </a:r>
            <a:r>
              <a:rPr lang="en-US" sz="1100" dirty="0">
                <a:solidFill>
                  <a:srgbClr val="596579"/>
                </a:solidFill>
                <a:latin typeface="Aptos" pitchFamily="34" charset="0"/>
                <a:ea typeface="Aptos" pitchFamily="34" charset="-122"/>
                <a:cs typeface="Aptos" pitchFamily="34" charset="-120"/>
              </a:rPr>
              <a:t>, transition costs, and expressiveness limits.</a:t>
            </a:r>
            <a:endParaRPr lang="en-US" sz="1100" dirty="0"/>
          </a:p>
        </p:txBody>
      </p:sp>
      <p:sp>
        <p:nvSpPr>
          <p:cNvPr id="68" name="Shape 19">
            <a:extLst>
              <a:ext uri="{FF2B5EF4-FFF2-40B4-BE49-F238E27FC236}">
                <a16:creationId xmlns:a16="http://schemas.microsoft.com/office/drawing/2014/main" id="{E30CAF04-9780-D947-A379-ED11368E1C00}"/>
              </a:ext>
            </a:extLst>
          </p:cNvPr>
          <p:cNvSpPr/>
          <p:nvPr/>
        </p:nvSpPr>
        <p:spPr>
          <a:xfrm>
            <a:off x="765710" y="2935225"/>
            <a:ext cx="2770632" cy="740664"/>
          </a:xfrm>
          <a:prstGeom prst="rect">
            <a:avLst/>
          </a:prstGeom>
          <a:solidFill>
            <a:srgbClr val="F7F9FC"/>
          </a:solidFill>
          <a:ln w="6350">
            <a:solidFill>
              <a:srgbClr val="D9E1EC"/>
            </a:solidFill>
            <a:prstDash val="solid"/>
          </a:ln>
        </p:spPr>
        <p:txBody>
          <a:bodyPr/>
          <a:lstStyle/>
          <a:p>
            <a:endParaRPr lang="it-IT" sz="1100"/>
          </a:p>
        </p:txBody>
      </p:sp>
      <p:sp>
        <p:nvSpPr>
          <p:cNvPr id="69" name="Text 20">
            <a:extLst>
              <a:ext uri="{FF2B5EF4-FFF2-40B4-BE49-F238E27FC236}">
                <a16:creationId xmlns:a16="http://schemas.microsoft.com/office/drawing/2014/main" id="{AD031182-D836-7B7C-BD14-9866D11CB261}"/>
              </a:ext>
            </a:extLst>
          </p:cNvPr>
          <p:cNvSpPr/>
          <p:nvPr/>
        </p:nvSpPr>
        <p:spPr>
          <a:xfrm>
            <a:off x="875438" y="3044952"/>
            <a:ext cx="2551176" cy="539496"/>
          </a:xfrm>
          <a:prstGeom prst="rect">
            <a:avLst/>
          </a:prstGeom>
          <a:noFill/>
          <a:ln/>
        </p:spPr>
        <p:txBody>
          <a:bodyPr wrap="square" lIns="0" tIns="0" rIns="0" bIns="0" rtlCol="0" anchor="ctr">
            <a:normAutofit/>
          </a:bodyPr>
          <a:lstStyle/>
          <a:p>
            <a:pPr marL="0" indent="0" algn="l">
              <a:buNone/>
            </a:pPr>
            <a:r>
              <a:rPr lang="en-US" sz="1100" b="1" dirty="0">
                <a:solidFill>
                  <a:srgbClr val="07133D"/>
                </a:solidFill>
                <a:latin typeface="Aptos" pitchFamily="34" charset="0"/>
                <a:ea typeface="Aptos" pitchFamily="34" charset="-122"/>
                <a:cs typeface="Aptos" pitchFamily="34" charset="-120"/>
              </a:rPr>
              <a:t>Recoverable state and actions - PostgreSQL, outbox, and idempotency</a:t>
            </a:r>
            <a:endParaRPr lang="en-US" sz="1100" dirty="0"/>
          </a:p>
        </p:txBody>
      </p:sp>
      <p:sp>
        <p:nvSpPr>
          <p:cNvPr id="70" name="Shape 21">
            <a:extLst>
              <a:ext uri="{FF2B5EF4-FFF2-40B4-BE49-F238E27FC236}">
                <a16:creationId xmlns:a16="http://schemas.microsoft.com/office/drawing/2014/main" id="{CD13B120-A522-8E3D-5BBB-C50BA6FAC742}"/>
              </a:ext>
            </a:extLst>
          </p:cNvPr>
          <p:cNvSpPr/>
          <p:nvPr/>
        </p:nvSpPr>
        <p:spPr>
          <a:xfrm>
            <a:off x="3536342" y="2935225"/>
            <a:ext cx="3081528" cy="740664"/>
          </a:xfrm>
          <a:prstGeom prst="rect">
            <a:avLst/>
          </a:prstGeom>
          <a:solidFill>
            <a:srgbClr val="F7F9FC"/>
          </a:solidFill>
          <a:ln w="6350">
            <a:solidFill>
              <a:srgbClr val="D9E1EC"/>
            </a:solidFill>
            <a:prstDash val="solid"/>
          </a:ln>
        </p:spPr>
        <p:txBody>
          <a:bodyPr/>
          <a:lstStyle/>
          <a:p>
            <a:endParaRPr lang="it-IT" sz="1100"/>
          </a:p>
        </p:txBody>
      </p:sp>
      <p:sp>
        <p:nvSpPr>
          <p:cNvPr id="71" name="Text 22">
            <a:extLst>
              <a:ext uri="{FF2B5EF4-FFF2-40B4-BE49-F238E27FC236}">
                <a16:creationId xmlns:a16="http://schemas.microsoft.com/office/drawing/2014/main" id="{024C5CB2-45FF-AAA7-5E2F-25D9DBCCA9BC}"/>
              </a:ext>
            </a:extLst>
          </p:cNvPr>
          <p:cNvSpPr/>
          <p:nvPr/>
        </p:nvSpPr>
        <p:spPr>
          <a:xfrm>
            <a:off x="3646070" y="3058669"/>
            <a:ext cx="2862072"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Preserve progress and pending deliveries; handle duplicates with stable identities and reconciliation.</a:t>
            </a:r>
            <a:endParaRPr lang="en-US" sz="1100" dirty="0"/>
          </a:p>
        </p:txBody>
      </p:sp>
      <p:sp>
        <p:nvSpPr>
          <p:cNvPr id="72" name="Shape 23">
            <a:extLst>
              <a:ext uri="{FF2B5EF4-FFF2-40B4-BE49-F238E27FC236}">
                <a16:creationId xmlns:a16="http://schemas.microsoft.com/office/drawing/2014/main" id="{18CC1EBD-2201-B2EA-4265-D94D6D471D18}"/>
              </a:ext>
            </a:extLst>
          </p:cNvPr>
          <p:cNvSpPr/>
          <p:nvPr/>
        </p:nvSpPr>
        <p:spPr>
          <a:xfrm>
            <a:off x="6617870" y="2935225"/>
            <a:ext cx="2816352" cy="740664"/>
          </a:xfrm>
          <a:prstGeom prst="rect">
            <a:avLst/>
          </a:prstGeom>
          <a:solidFill>
            <a:srgbClr val="F7F9FC"/>
          </a:solidFill>
          <a:ln w="6350">
            <a:solidFill>
              <a:srgbClr val="D9E1EC"/>
            </a:solidFill>
            <a:prstDash val="solid"/>
          </a:ln>
        </p:spPr>
        <p:txBody>
          <a:bodyPr/>
          <a:lstStyle/>
          <a:p>
            <a:endParaRPr lang="it-IT" sz="1100"/>
          </a:p>
        </p:txBody>
      </p:sp>
      <p:sp>
        <p:nvSpPr>
          <p:cNvPr id="73" name="Text 24">
            <a:extLst>
              <a:ext uri="{FF2B5EF4-FFF2-40B4-BE49-F238E27FC236}">
                <a16:creationId xmlns:a16="http://schemas.microsoft.com/office/drawing/2014/main" id="{C0BAF293-8235-65E7-87B1-E6EAEFED5E0A}"/>
              </a:ext>
            </a:extLst>
          </p:cNvPr>
          <p:cNvSpPr/>
          <p:nvPr/>
        </p:nvSpPr>
        <p:spPr>
          <a:xfrm>
            <a:off x="6727598" y="3050720"/>
            <a:ext cx="2596896"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State read from workflow history; separate read store. Both require safeguards for external actions.</a:t>
            </a:r>
            <a:endParaRPr lang="en-US" sz="1100" dirty="0"/>
          </a:p>
        </p:txBody>
      </p:sp>
      <p:sp>
        <p:nvSpPr>
          <p:cNvPr id="74" name="Shape 25">
            <a:extLst>
              <a:ext uri="{FF2B5EF4-FFF2-40B4-BE49-F238E27FC236}">
                <a16:creationId xmlns:a16="http://schemas.microsoft.com/office/drawing/2014/main" id="{1A47B560-50A8-EA60-1EB4-ADD9D6D5CE4D}"/>
              </a:ext>
            </a:extLst>
          </p:cNvPr>
          <p:cNvSpPr/>
          <p:nvPr/>
        </p:nvSpPr>
        <p:spPr>
          <a:xfrm>
            <a:off x="9434222" y="2935225"/>
            <a:ext cx="1901952" cy="740664"/>
          </a:xfrm>
          <a:prstGeom prst="rect">
            <a:avLst/>
          </a:prstGeom>
          <a:solidFill>
            <a:srgbClr val="F7F9FC"/>
          </a:solidFill>
          <a:ln w="6350">
            <a:solidFill>
              <a:srgbClr val="D9E1EC"/>
            </a:solidFill>
            <a:prstDash val="solid"/>
          </a:ln>
        </p:spPr>
        <p:txBody>
          <a:bodyPr/>
          <a:lstStyle/>
          <a:p>
            <a:endParaRPr lang="it-IT" sz="1100"/>
          </a:p>
        </p:txBody>
      </p:sp>
      <p:sp>
        <p:nvSpPr>
          <p:cNvPr id="75" name="Text 26">
            <a:extLst>
              <a:ext uri="{FF2B5EF4-FFF2-40B4-BE49-F238E27FC236}">
                <a16:creationId xmlns:a16="http://schemas.microsoft.com/office/drawing/2014/main" id="{42FF7CC6-2469-BC76-4E9D-1177B4A5EE58}"/>
              </a:ext>
            </a:extLst>
          </p:cNvPr>
          <p:cNvSpPr/>
          <p:nvPr/>
        </p:nvSpPr>
        <p:spPr>
          <a:xfrm>
            <a:off x="9543950" y="3048333"/>
            <a:ext cx="1682496"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Polling, reconciliation logic, and provider guarantees to verify.</a:t>
            </a:r>
            <a:endParaRPr lang="en-US" sz="1100" dirty="0"/>
          </a:p>
        </p:txBody>
      </p:sp>
      <p:sp>
        <p:nvSpPr>
          <p:cNvPr id="76" name="Shape 27">
            <a:extLst>
              <a:ext uri="{FF2B5EF4-FFF2-40B4-BE49-F238E27FC236}">
                <a16:creationId xmlns:a16="http://schemas.microsoft.com/office/drawing/2014/main" id="{D92D3BE0-FAFF-1373-C944-41E7A00DB84E}"/>
              </a:ext>
            </a:extLst>
          </p:cNvPr>
          <p:cNvSpPr/>
          <p:nvPr/>
        </p:nvSpPr>
        <p:spPr>
          <a:xfrm>
            <a:off x="765710" y="3675889"/>
            <a:ext cx="2770632" cy="740664"/>
          </a:xfrm>
          <a:prstGeom prst="rect">
            <a:avLst/>
          </a:prstGeom>
          <a:solidFill>
            <a:srgbClr val="FFFFFF"/>
          </a:solidFill>
          <a:ln w="6350">
            <a:solidFill>
              <a:srgbClr val="D9E1EC"/>
            </a:solidFill>
            <a:prstDash val="solid"/>
          </a:ln>
        </p:spPr>
        <p:txBody>
          <a:bodyPr/>
          <a:lstStyle/>
          <a:p>
            <a:endParaRPr lang="it-IT" sz="1100"/>
          </a:p>
        </p:txBody>
      </p:sp>
      <p:sp>
        <p:nvSpPr>
          <p:cNvPr id="77" name="Text 28">
            <a:extLst>
              <a:ext uri="{FF2B5EF4-FFF2-40B4-BE49-F238E27FC236}">
                <a16:creationId xmlns:a16="http://schemas.microsoft.com/office/drawing/2014/main" id="{5ABFFFB6-A0BF-F877-6456-956932BA4B5B}"/>
              </a:ext>
            </a:extLst>
          </p:cNvPr>
          <p:cNvSpPr/>
          <p:nvPr/>
        </p:nvSpPr>
        <p:spPr>
          <a:xfrm>
            <a:off x="875438" y="3785616"/>
            <a:ext cx="2551176" cy="539496"/>
          </a:xfrm>
          <a:prstGeom prst="rect">
            <a:avLst/>
          </a:prstGeom>
          <a:noFill/>
          <a:ln/>
        </p:spPr>
        <p:txBody>
          <a:bodyPr wrap="square" lIns="0" tIns="0" rIns="0" bIns="0" rtlCol="0" anchor="ctr">
            <a:normAutofit/>
          </a:bodyPr>
          <a:lstStyle/>
          <a:p>
            <a:pPr marL="0" indent="0" algn="l">
              <a:buNone/>
            </a:pPr>
            <a:r>
              <a:rPr lang="en-US" sz="1100" b="1" dirty="0">
                <a:solidFill>
                  <a:srgbClr val="07133D"/>
                </a:solidFill>
                <a:latin typeface="Aptos" pitchFamily="34" charset="0"/>
                <a:ea typeface="Aptos" pitchFamily="34" charset="-122"/>
                <a:cs typeface="Aptos" pitchFamily="34" charset="-120"/>
              </a:rPr>
              <a:t>Spike absorption - </a:t>
            </a:r>
            <a:r>
              <a:rPr lang="en-US" sz="1100" b="1" dirty="0">
                <a:solidFill>
                  <a:srgbClr val="C00000"/>
                </a:solidFill>
                <a:latin typeface="Aptos" pitchFamily="34" charset="0"/>
                <a:ea typeface="Aptos" pitchFamily="34" charset="-122"/>
                <a:cs typeface="Aptos" pitchFamily="34" charset="-120"/>
              </a:rPr>
              <a:t>SQS</a:t>
            </a:r>
            <a:r>
              <a:rPr lang="en-US" sz="1100" b="1" dirty="0">
                <a:solidFill>
                  <a:srgbClr val="07133D"/>
                </a:solidFill>
                <a:latin typeface="Aptos" pitchFamily="34" charset="0"/>
                <a:ea typeface="Aptos" pitchFamily="34" charset="-122"/>
                <a:cs typeface="Aptos" pitchFamily="34" charset="-120"/>
              </a:rPr>
              <a:t> and EKS workers</a:t>
            </a:r>
            <a:endParaRPr lang="en-US" sz="1100" dirty="0"/>
          </a:p>
        </p:txBody>
      </p:sp>
      <p:sp>
        <p:nvSpPr>
          <p:cNvPr id="78" name="Shape 29">
            <a:extLst>
              <a:ext uri="{FF2B5EF4-FFF2-40B4-BE49-F238E27FC236}">
                <a16:creationId xmlns:a16="http://schemas.microsoft.com/office/drawing/2014/main" id="{52D2BC98-FF9F-3303-9BD9-D2FBE4C373E0}"/>
              </a:ext>
            </a:extLst>
          </p:cNvPr>
          <p:cNvSpPr/>
          <p:nvPr/>
        </p:nvSpPr>
        <p:spPr>
          <a:xfrm>
            <a:off x="3536342" y="3675889"/>
            <a:ext cx="3081528" cy="740664"/>
          </a:xfrm>
          <a:prstGeom prst="rect">
            <a:avLst/>
          </a:prstGeom>
          <a:solidFill>
            <a:srgbClr val="FFFFFF"/>
          </a:solidFill>
          <a:ln w="6350">
            <a:solidFill>
              <a:srgbClr val="D9E1EC"/>
            </a:solidFill>
            <a:prstDash val="solid"/>
          </a:ln>
        </p:spPr>
        <p:txBody>
          <a:bodyPr/>
          <a:lstStyle/>
          <a:p>
            <a:endParaRPr lang="it-IT" sz="1100"/>
          </a:p>
        </p:txBody>
      </p:sp>
      <p:sp>
        <p:nvSpPr>
          <p:cNvPr id="79" name="Text 30">
            <a:extLst>
              <a:ext uri="{FF2B5EF4-FFF2-40B4-BE49-F238E27FC236}">
                <a16:creationId xmlns:a16="http://schemas.microsoft.com/office/drawing/2014/main" id="{C6448386-5437-EF19-381F-A3C230A3068F}"/>
              </a:ext>
            </a:extLst>
          </p:cNvPr>
          <p:cNvSpPr/>
          <p:nvPr/>
        </p:nvSpPr>
        <p:spPr>
          <a:xfrm>
            <a:off x="3646070" y="3775278"/>
            <a:ext cx="2862072"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Buffer slow work and scale background processing independently from chat.</a:t>
            </a:r>
            <a:endParaRPr lang="en-US" sz="1100" dirty="0"/>
          </a:p>
        </p:txBody>
      </p:sp>
      <p:sp>
        <p:nvSpPr>
          <p:cNvPr id="80" name="Shape 31">
            <a:extLst>
              <a:ext uri="{FF2B5EF4-FFF2-40B4-BE49-F238E27FC236}">
                <a16:creationId xmlns:a16="http://schemas.microsoft.com/office/drawing/2014/main" id="{35E5D98B-0D7C-AF1B-D49C-4DDF4B1249C8}"/>
              </a:ext>
            </a:extLst>
          </p:cNvPr>
          <p:cNvSpPr/>
          <p:nvPr/>
        </p:nvSpPr>
        <p:spPr>
          <a:xfrm>
            <a:off x="6617870" y="3675889"/>
            <a:ext cx="2816352" cy="740664"/>
          </a:xfrm>
          <a:prstGeom prst="rect">
            <a:avLst/>
          </a:prstGeom>
          <a:solidFill>
            <a:srgbClr val="FFFFFF"/>
          </a:solidFill>
          <a:ln w="6350">
            <a:solidFill>
              <a:srgbClr val="D9E1EC"/>
            </a:solidFill>
            <a:prstDash val="solid"/>
          </a:ln>
        </p:spPr>
        <p:txBody>
          <a:bodyPr/>
          <a:lstStyle/>
          <a:p>
            <a:endParaRPr lang="it-IT" sz="1100"/>
          </a:p>
        </p:txBody>
      </p:sp>
      <p:sp>
        <p:nvSpPr>
          <p:cNvPr id="81" name="Text 32">
            <a:extLst>
              <a:ext uri="{FF2B5EF4-FFF2-40B4-BE49-F238E27FC236}">
                <a16:creationId xmlns:a16="http://schemas.microsoft.com/office/drawing/2014/main" id="{EE8C2599-C310-9697-D471-2A796C003E5C}"/>
              </a:ext>
            </a:extLst>
          </p:cNvPr>
          <p:cNvSpPr/>
          <p:nvPr/>
        </p:nvSpPr>
        <p:spPr>
          <a:xfrm>
            <a:off x="6727598" y="3776473"/>
            <a:ext cx="2596896"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Processing work inside requests; orchestration for every independent job.</a:t>
            </a:r>
            <a:endParaRPr lang="en-US" sz="1100" dirty="0"/>
          </a:p>
        </p:txBody>
      </p:sp>
      <p:sp>
        <p:nvSpPr>
          <p:cNvPr id="82" name="Shape 33">
            <a:extLst>
              <a:ext uri="{FF2B5EF4-FFF2-40B4-BE49-F238E27FC236}">
                <a16:creationId xmlns:a16="http://schemas.microsoft.com/office/drawing/2014/main" id="{8A67DA52-AF7B-54A1-40E5-4B14B3AA6839}"/>
              </a:ext>
            </a:extLst>
          </p:cNvPr>
          <p:cNvSpPr/>
          <p:nvPr/>
        </p:nvSpPr>
        <p:spPr>
          <a:xfrm>
            <a:off x="9434222" y="3675889"/>
            <a:ext cx="1901952" cy="740664"/>
          </a:xfrm>
          <a:prstGeom prst="rect">
            <a:avLst/>
          </a:prstGeom>
          <a:solidFill>
            <a:srgbClr val="FFFFFF"/>
          </a:solidFill>
          <a:ln w="6350">
            <a:solidFill>
              <a:srgbClr val="D9E1EC"/>
            </a:solidFill>
            <a:prstDash val="solid"/>
          </a:ln>
        </p:spPr>
        <p:txBody>
          <a:bodyPr/>
          <a:lstStyle/>
          <a:p>
            <a:endParaRPr lang="it-IT" sz="1100"/>
          </a:p>
        </p:txBody>
      </p:sp>
      <p:sp>
        <p:nvSpPr>
          <p:cNvPr id="83" name="Text 34">
            <a:extLst>
              <a:ext uri="{FF2B5EF4-FFF2-40B4-BE49-F238E27FC236}">
                <a16:creationId xmlns:a16="http://schemas.microsoft.com/office/drawing/2014/main" id="{2E0D6C54-132F-0C78-A1B1-466FB8354C5A}"/>
              </a:ext>
            </a:extLst>
          </p:cNvPr>
          <p:cNvSpPr/>
          <p:nvPr/>
        </p:nvSpPr>
        <p:spPr>
          <a:xfrm>
            <a:off x="9543950" y="3784424"/>
            <a:ext cx="1682496" cy="539496"/>
          </a:xfrm>
          <a:prstGeom prst="rect">
            <a:avLst/>
          </a:prstGeom>
          <a:noFill/>
          <a:ln/>
        </p:spPr>
        <p:txBody>
          <a:bodyPr wrap="square" lIns="0" tIns="0" rIns="0" bIns="0" rtlCol="0" anchor="ctr">
            <a:normAutofit fontScale="92500"/>
          </a:bodyPr>
          <a:lstStyle/>
          <a:p>
            <a:r>
              <a:rPr lang="en-US" sz="1100" b="1" dirty="0">
                <a:solidFill>
                  <a:srgbClr val="C00000"/>
                </a:solidFill>
                <a:latin typeface="Aptos" pitchFamily="34" charset="0"/>
                <a:ea typeface="Aptos" pitchFamily="34" charset="-122"/>
                <a:cs typeface="Aptos" pitchFamily="34" charset="-120"/>
              </a:rPr>
              <a:t>AWS dependency</a:t>
            </a:r>
            <a:r>
              <a:rPr lang="en-US" sz="1100" dirty="0">
                <a:solidFill>
                  <a:srgbClr val="596579"/>
                </a:solidFill>
                <a:latin typeface="Aptos" pitchFamily="34" charset="0"/>
                <a:ea typeface="Aptos" pitchFamily="34" charset="-122"/>
                <a:cs typeface="Aptos" pitchFamily="34" charset="-120"/>
              </a:rPr>
              <a:t>; Queueing delay, redelivery, and backlog control within provider quotas.</a:t>
            </a:r>
            <a:endParaRPr lang="en-US" sz="1100" dirty="0"/>
          </a:p>
        </p:txBody>
      </p:sp>
      <p:sp>
        <p:nvSpPr>
          <p:cNvPr id="84" name="Shape 35">
            <a:extLst>
              <a:ext uri="{FF2B5EF4-FFF2-40B4-BE49-F238E27FC236}">
                <a16:creationId xmlns:a16="http://schemas.microsoft.com/office/drawing/2014/main" id="{EF09720B-DEF8-0658-BA60-FA6C78B4BFE6}"/>
              </a:ext>
            </a:extLst>
          </p:cNvPr>
          <p:cNvSpPr/>
          <p:nvPr/>
        </p:nvSpPr>
        <p:spPr>
          <a:xfrm>
            <a:off x="765710" y="4416553"/>
            <a:ext cx="2770632" cy="740664"/>
          </a:xfrm>
          <a:prstGeom prst="rect">
            <a:avLst/>
          </a:prstGeom>
          <a:solidFill>
            <a:srgbClr val="F7F9FC"/>
          </a:solidFill>
          <a:ln w="6350">
            <a:solidFill>
              <a:srgbClr val="D9E1EC"/>
            </a:solidFill>
            <a:prstDash val="solid"/>
          </a:ln>
        </p:spPr>
        <p:txBody>
          <a:bodyPr/>
          <a:lstStyle/>
          <a:p>
            <a:endParaRPr lang="it-IT" sz="1100"/>
          </a:p>
        </p:txBody>
      </p:sp>
      <p:sp>
        <p:nvSpPr>
          <p:cNvPr id="85" name="Text 36">
            <a:extLst>
              <a:ext uri="{FF2B5EF4-FFF2-40B4-BE49-F238E27FC236}">
                <a16:creationId xmlns:a16="http://schemas.microsoft.com/office/drawing/2014/main" id="{C2EE6064-F3C5-63A2-7BA6-F5814A3A8FB7}"/>
              </a:ext>
            </a:extLst>
          </p:cNvPr>
          <p:cNvSpPr/>
          <p:nvPr/>
        </p:nvSpPr>
        <p:spPr>
          <a:xfrm>
            <a:off x="875438" y="4507995"/>
            <a:ext cx="2551176" cy="539496"/>
          </a:xfrm>
          <a:prstGeom prst="rect">
            <a:avLst/>
          </a:prstGeom>
          <a:noFill/>
          <a:ln/>
        </p:spPr>
        <p:txBody>
          <a:bodyPr wrap="square" lIns="0" tIns="0" rIns="0" bIns="0" rtlCol="0" anchor="ctr">
            <a:normAutofit/>
          </a:bodyPr>
          <a:lstStyle/>
          <a:p>
            <a:pPr marL="0" indent="0" algn="l">
              <a:buNone/>
            </a:pPr>
            <a:r>
              <a:rPr lang="en-US" sz="1100" b="1" dirty="0">
                <a:solidFill>
                  <a:srgbClr val="07133D"/>
                </a:solidFill>
                <a:latin typeface="Aptos" pitchFamily="34" charset="0"/>
                <a:ea typeface="Aptos" pitchFamily="34" charset="-122"/>
                <a:cs typeface="Aptos" pitchFamily="34" charset="-120"/>
              </a:rPr>
              <a:t>Resilient managed baseline - two AZs and </a:t>
            </a:r>
            <a:r>
              <a:rPr lang="en-US" sz="1100" b="1" dirty="0">
                <a:solidFill>
                  <a:srgbClr val="C00000"/>
                </a:solidFill>
                <a:latin typeface="Aptos" pitchFamily="34" charset="0"/>
                <a:ea typeface="Aptos" pitchFamily="34" charset="-122"/>
                <a:cs typeface="Aptos" pitchFamily="34" charset="-120"/>
              </a:rPr>
              <a:t>RDS</a:t>
            </a:r>
            <a:r>
              <a:rPr lang="en-US" sz="1100" b="1" dirty="0">
                <a:solidFill>
                  <a:srgbClr val="07133D"/>
                </a:solidFill>
                <a:latin typeface="Aptos" pitchFamily="34" charset="0"/>
                <a:ea typeface="Aptos" pitchFamily="34" charset="-122"/>
                <a:cs typeface="Aptos" pitchFamily="34" charset="-120"/>
              </a:rPr>
              <a:t> Multi-AZ</a:t>
            </a:r>
            <a:endParaRPr lang="en-US" sz="1100" dirty="0"/>
          </a:p>
        </p:txBody>
      </p:sp>
      <p:sp>
        <p:nvSpPr>
          <p:cNvPr id="86" name="Shape 37">
            <a:extLst>
              <a:ext uri="{FF2B5EF4-FFF2-40B4-BE49-F238E27FC236}">
                <a16:creationId xmlns:a16="http://schemas.microsoft.com/office/drawing/2014/main" id="{FE421F51-F021-DD8E-ED0F-8B174B10421D}"/>
              </a:ext>
            </a:extLst>
          </p:cNvPr>
          <p:cNvSpPr/>
          <p:nvPr/>
        </p:nvSpPr>
        <p:spPr>
          <a:xfrm>
            <a:off x="3536342" y="4416553"/>
            <a:ext cx="3081528" cy="740664"/>
          </a:xfrm>
          <a:prstGeom prst="rect">
            <a:avLst/>
          </a:prstGeom>
          <a:solidFill>
            <a:srgbClr val="F7F9FC"/>
          </a:solidFill>
          <a:ln w="6350">
            <a:solidFill>
              <a:srgbClr val="D9E1EC"/>
            </a:solidFill>
            <a:prstDash val="solid"/>
          </a:ln>
        </p:spPr>
        <p:txBody>
          <a:bodyPr/>
          <a:lstStyle/>
          <a:p>
            <a:endParaRPr lang="it-IT" sz="1100"/>
          </a:p>
        </p:txBody>
      </p:sp>
      <p:sp>
        <p:nvSpPr>
          <p:cNvPr id="87" name="Text 38">
            <a:extLst>
              <a:ext uri="{FF2B5EF4-FFF2-40B4-BE49-F238E27FC236}">
                <a16:creationId xmlns:a16="http://schemas.microsoft.com/office/drawing/2014/main" id="{72A23911-3C45-6D77-64C1-EDDC19C4B786}"/>
              </a:ext>
            </a:extLst>
          </p:cNvPr>
          <p:cNvSpPr/>
          <p:nvPr/>
        </p:nvSpPr>
        <p:spPr>
          <a:xfrm>
            <a:off x="3646070" y="4533040"/>
            <a:ext cx="2862072"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Reduce maintenance and failure impact for a small team.</a:t>
            </a:r>
            <a:endParaRPr lang="en-US" sz="1100" dirty="0"/>
          </a:p>
        </p:txBody>
      </p:sp>
      <p:sp>
        <p:nvSpPr>
          <p:cNvPr id="88" name="Shape 39">
            <a:extLst>
              <a:ext uri="{FF2B5EF4-FFF2-40B4-BE49-F238E27FC236}">
                <a16:creationId xmlns:a16="http://schemas.microsoft.com/office/drawing/2014/main" id="{C65C418C-48DD-0288-F61C-4148AAA83488}"/>
              </a:ext>
            </a:extLst>
          </p:cNvPr>
          <p:cNvSpPr/>
          <p:nvPr/>
        </p:nvSpPr>
        <p:spPr>
          <a:xfrm>
            <a:off x="6617870" y="4416553"/>
            <a:ext cx="2816352" cy="740664"/>
          </a:xfrm>
          <a:prstGeom prst="rect">
            <a:avLst/>
          </a:prstGeom>
          <a:solidFill>
            <a:srgbClr val="F7F9FC"/>
          </a:solidFill>
          <a:ln w="6350">
            <a:solidFill>
              <a:srgbClr val="D9E1EC"/>
            </a:solidFill>
            <a:prstDash val="solid"/>
          </a:ln>
        </p:spPr>
        <p:txBody>
          <a:bodyPr/>
          <a:lstStyle/>
          <a:p>
            <a:endParaRPr lang="it-IT" sz="1100"/>
          </a:p>
        </p:txBody>
      </p:sp>
      <p:sp>
        <p:nvSpPr>
          <p:cNvPr id="89" name="Text 40">
            <a:extLst>
              <a:ext uri="{FF2B5EF4-FFF2-40B4-BE49-F238E27FC236}">
                <a16:creationId xmlns:a16="http://schemas.microsoft.com/office/drawing/2014/main" id="{28E4E3EA-F056-9BE8-32E9-F9EDC68863B7}"/>
              </a:ext>
            </a:extLst>
          </p:cNvPr>
          <p:cNvSpPr/>
          <p:nvPr/>
        </p:nvSpPr>
        <p:spPr>
          <a:xfrm>
            <a:off x="6727598" y="4525089"/>
            <a:ext cx="2596896" cy="539496"/>
          </a:xfrm>
          <a:prstGeom prst="rect">
            <a:avLst/>
          </a:prstGeom>
          <a:noFill/>
          <a:ln/>
        </p:spPr>
        <p:txBody>
          <a:bodyPr wrap="square" lIns="0" tIns="0" rIns="0" bIns="0" rtlCol="0" anchor="ctr">
            <a:normAutofit/>
          </a:bodyPr>
          <a:lstStyle/>
          <a:p>
            <a:pPr marL="0" indent="0" algn="l">
              <a:buNone/>
            </a:pPr>
            <a:r>
              <a:rPr lang="en-US" sz="1100" dirty="0">
                <a:solidFill>
                  <a:srgbClr val="596579"/>
                </a:solidFill>
                <a:latin typeface="Aptos" pitchFamily="34" charset="0"/>
                <a:ea typeface="Aptos" pitchFamily="34" charset="-122"/>
                <a:cs typeface="Aptos" pitchFamily="34" charset="-120"/>
              </a:rPr>
              <a:t>Single-AZ to save cost; self-managed services for more control.</a:t>
            </a:r>
            <a:endParaRPr lang="en-US" sz="1100" dirty="0"/>
          </a:p>
        </p:txBody>
      </p:sp>
      <p:sp>
        <p:nvSpPr>
          <p:cNvPr id="90" name="Shape 41">
            <a:extLst>
              <a:ext uri="{FF2B5EF4-FFF2-40B4-BE49-F238E27FC236}">
                <a16:creationId xmlns:a16="http://schemas.microsoft.com/office/drawing/2014/main" id="{D63CE08D-D1E8-B471-9503-A98101836823}"/>
              </a:ext>
            </a:extLst>
          </p:cNvPr>
          <p:cNvSpPr/>
          <p:nvPr/>
        </p:nvSpPr>
        <p:spPr>
          <a:xfrm>
            <a:off x="9434222" y="4416553"/>
            <a:ext cx="1901952" cy="740664"/>
          </a:xfrm>
          <a:prstGeom prst="rect">
            <a:avLst/>
          </a:prstGeom>
          <a:solidFill>
            <a:srgbClr val="F7F9FC"/>
          </a:solidFill>
          <a:ln w="6350">
            <a:solidFill>
              <a:srgbClr val="D9E1EC"/>
            </a:solidFill>
            <a:prstDash val="solid"/>
          </a:ln>
        </p:spPr>
        <p:txBody>
          <a:bodyPr/>
          <a:lstStyle/>
          <a:p>
            <a:endParaRPr lang="it-IT" sz="1100"/>
          </a:p>
        </p:txBody>
      </p:sp>
      <p:sp>
        <p:nvSpPr>
          <p:cNvPr id="91" name="Text 42">
            <a:extLst>
              <a:ext uri="{FF2B5EF4-FFF2-40B4-BE49-F238E27FC236}">
                <a16:creationId xmlns:a16="http://schemas.microsoft.com/office/drawing/2014/main" id="{B422D868-31A8-70FF-4760-62165BBB306F}"/>
              </a:ext>
            </a:extLst>
          </p:cNvPr>
          <p:cNvSpPr/>
          <p:nvPr/>
        </p:nvSpPr>
        <p:spPr>
          <a:xfrm>
            <a:off x="9543950" y="4533040"/>
            <a:ext cx="1682496" cy="539496"/>
          </a:xfrm>
          <a:prstGeom prst="rect">
            <a:avLst/>
          </a:prstGeom>
          <a:noFill/>
          <a:ln/>
        </p:spPr>
        <p:txBody>
          <a:bodyPr wrap="square" lIns="0" tIns="0" rIns="0" bIns="0" rtlCol="0" anchor="ctr">
            <a:normAutofit fontScale="92500"/>
          </a:bodyPr>
          <a:lstStyle/>
          <a:p>
            <a:pPr marL="0" indent="0" algn="l">
              <a:buNone/>
            </a:pPr>
            <a:r>
              <a:rPr lang="en-US" sz="1100" dirty="0">
                <a:solidFill>
                  <a:srgbClr val="596579"/>
                </a:solidFill>
                <a:latin typeface="Aptos" pitchFamily="34" charset="0"/>
                <a:ea typeface="Aptos" pitchFamily="34" charset="-122"/>
                <a:cs typeface="Aptos" pitchFamily="34" charset="-120"/>
              </a:rPr>
              <a:t>Higher minimum cost and </a:t>
            </a:r>
            <a:r>
              <a:rPr lang="en-US" sz="1100" b="1" dirty="0">
                <a:solidFill>
                  <a:srgbClr val="C00000"/>
                </a:solidFill>
                <a:latin typeface="Aptos" pitchFamily="34" charset="0"/>
                <a:ea typeface="Aptos" pitchFamily="34" charset="-122"/>
                <a:cs typeface="Aptos" pitchFamily="34" charset="-120"/>
              </a:rPr>
              <a:t>AWS dependency</a:t>
            </a:r>
            <a:r>
              <a:rPr lang="en-US" sz="1100" dirty="0">
                <a:solidFill>
                  <a:srgbClr val="596579"/>
                </a:solidFill>
                <a:latin typeface="Aptos" pitchFamily="34" charset="0"/>
                <a:ea typeface="Aptos" pitchFamily="34" charset="-122"/>
                <a:cs typeface="Aptos" pitchFamily="34" charset="-120"/>
              </a:rPr>
              <a:t>; recovery still to demonstrate.</a:t>
            </a:r>
            <a:endParaRPr lang="en-US" sz="1100" dirty="0"/>
          </a:p>
        </p:txBody>
      </p:sp>
      <p:sp>
        <p:nvSpPr>
          <p:cNvPr id="92" name="Shape 32">
            <a:extLst>
              <a:ext uri="{FF2B5EF4-FFF2-40B4-BE49-F238E27FC236}">
                <a16:creationId xmlns:a16="http://schemas.microsoft.com/office/drawing/2014/main" id="{EB7FF361-202B-A99E-D432-D0CBF002EBDF}"/>
              </a:ext>
            </a:extLst>
          </p:cNvPr>
          <p:cNvSpPr/>
          <p:nvPr/>
        </p:nvSpPr>
        <p:spPr>
          <a:xfrm>
            <a:off x="4114401" y="5421400"/>
            <a:ext cx="3180520" cy="812419"/>
          </a:xfrm>
          <a:prstGeom prst="roundRect">
            <a:avLst>
              <a:gd name="adj" fmla="val 11111"/>
            </a:avLst>
          </a:prstGeom>
          <a:solidFill>
            <a:schemeClr val="bg1"/>
          </a:solidFill>
          <a:ln w="13970">
            <a:solidFill>
              <a:srgbClr val="C00000"/>
            </a:solidFill>
            <a:prstDash val="solid"/>
          </a:ln>
        </p:spPr>
        <p:txBody>
          <a:bodyPr/>
          <a:lstStyle/>
          <a:p>
            <a:endParaRPr lang="it-IT"/>
          </a:p>
        </p:txBody>
      </p:sp>
      <p:sp>
        <p:nvSpPr>
          <p:cNvPr id="93" name="Text 33">
            <a:extLst>
              <a:ext uri="{FF2B5EF4-FFF2-40B4-BE49-F238E27FC236}">
                <a16:creationId xmlns:a16="http://schemas.microsoft.com/office/drawing/2014/main" id="{2CDFDFE4-2651-9D5C-9F32-AFBE174BAFAA}"/>
              </a:ext>
            </a:extLst>
          </p:cNvPr>
          <p:cNvSpPr/>
          <p:nvPr/>
        </p:nvSpPr>
        <p:spPr>
          <a:xfrm>
            <a:off x="4439608" y="5482228"/>
            <a:ext cx="2432304" cy="228600"/>
          </a:xfrm>
          <a:prstGeom prst="rect">
            <a:avLst/>
          </a:prstGeom>
          <a:noFill/>
          <a:ln/>
        </p:spPr>
        <p:txBody>
          <a:bodyPr wrap="square" lIns="0" tIns="0" rIns="0" bIns="0" rtlCol="0" anchor="ctr">
            <a:normAutofit/>
          </a:bodyPr>
          <a:lstStyle/>
          <a:p>
            <a:pPr marL="0" indent="0" algn="ctr">
              <a:buNone/>
            </a:pPr>
            <a:r>
              <a:rPr lang="en-US" sz="1200" b="1" dirty="0">
                <a:solidFill>
                  <a:srgbClr val="C00000"/>
                </a:solidFill>
              </a:rPr>
              <a:t>Operational focus</a:t>
            </a:r>
          </a:p>
        </p:txBody>
      </p:sp>
      <p:sp>
        <p:nvSpPr>
          <p:cNvPr id="94" name="Text 34">
            <a:extLst>
              <a:ext uri="{FF2B5EF4-FFF2-40B4-BE49-F238E27FC236}">
                <a16:creationId xmlns:a16="http://schemas.microsoft.com/office/drawing/2014/main" id="{D98B1C69-AA9D-42BF-50AE-B6CC67BBB5DD}"/>
              </a:ext>
            </a:extLst>
          </p:cNvPr>
          <p:cNvSpPr/>
          <p:nvPr/>
        </p:nvSpPr>
        <p:spPr>
          <a:xfrm>
            <a:off x="4476184" y="5779607"/>
            <a:ext cx="2395728" cy="333754"/>
          </a:xfrm>
          <a:prstGeom prst="rect">
            <a:avLst/>
          </a:prstGeom>
          <a:noFill/>
          <a:ln/>
        </p:spPr>
        <p:txBody>
          <a:bodyPr wrap="square" lIns="254" tIns="254" rIns="254" bIns="254" rtlCol="0" anchor="ctr">
            <a:noAutofit/>
          </a:bodyPr>
          <a:lstStyle/>
          <a:p>
            <a:pPr marL="171450" indent="-171450" algn="ctr">
              <a:buFont typeface="Arial" panose="020B0604020202020204" pitchFamily="34" charset="0"/>
              <a:buChar char="•"/>
            </a:pPr>
            <a:r>
              <a:rPr lang="en-US" sz="1100" dirty="0">
                <a:solidFill>
                  <a:srgbClr val="5B6475"/>
                </a:solidFill>
              </a:rPr>
              <a:t>For two Platform Engineers, reduce infrastructure software to maintain.</a:t>
            </a:r>
            <a:endParaRPr lang="en-US" sz="1100" dirty="0"/>
          </a:p>
        </p:txBody>
      </p:sp>
    </p:spTree>
    <p:extLst>
      <p:ext uri="{BB962C8B-B14F-4D97-AF65-F5344CB8AC3E}">
        <p14:creationId xmlns:p14="http://schemas.microsoft.com/office/powerpoint/2010/main" val="1601536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sp>
        <p:nvSpPr>
          <p:cNvPr id="3" name="Text 1"/>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Failure example: The payment succeeds, but the worker stops (1/2)</a:t>
            </a:r>
            <a:endParaRPr lang="en-US" sz="2750" dirty="0"/>
          </a:p>
        </p:txBody>
      </p:sp>
      <p:sp>
        <p:nvSpPr>
          <p:cNvPr id="5" name="Shape 3"/>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6" name="Shape 4"/>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7" name="Text 5"/>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4/10</a:t>
            </a:r>
            <a:endParaRPr lang="en-US" sz="850" dirty="0"/>
          </a:p>
        </p:txBody>
      </p:sp>
      <p:pic>
        <p:nvPicPr>
          <p:cNvPr id="60" name="Immagine 59">
            <a:extLst>
              <a:ext uri="{FF2B5EF4-FFF2-40B4-BE49-F238E27FC236}">
                <a16:creationId xmlns:a16="http://schemas.microsoft.com/office/drawing/2014/main" id="{31E9F699-CE49-3C29-697A-B5EC615A6829}"/>
              </a:ext>
            </a:extLst>
          </p:cNvPr>
          <p:cNvPicPr>
            <a:picLocks noChangeAspect="1"/>
          </p:cNvPicPr>
          <p:nvPr/>
        </p:nvPicPr>
        <p:blipFill>
          <a:blip r:embed="rId3"/>
          <a:srcRect b="54641"/>
          <a:stretch>
            <a:fillRect/>
          </a:stretch>
        </p:blipFill>
        <p:spPr>
          <a:xfrm>
            <a:off x="415865" y="1659044"/>
            <a:ext cx="11199207" cy="40833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BD485-2EA2-2B68-37A7-77517FFE5A9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BE00ADB-7F63-93F3-DCF5-4E4391C166A5}"/>
              </a:ext>
            </a:extLst>
          </p:cNvPr>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sp>
        <p:nvSpPr>
          <p:cNvPr id="3" name="Text 1">
            <a:extLst>
              <a:ext uri="{FF2B5EF4-FFF2-40B4-BE49-F238E27FC236}">
                <a16:creationId xmlns:a16="http://schemas.microsoft.com/office/drawing/2014/main" id="{3E40EE06-90EF-1FED-B414-18B48195B962}"/>
              </a:ext>
            </a:extLst>
          </p:cNvPr>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Failure example: The payment succeeds, but the worker stops (2/2)</a:t>
            </a:r>
            <a:endParaRPr lang="en-US" sz="2750" dirty="0"/>
          </a:p>
        </p:txBody>
      </p:sp>
      <p:sp>
        <p:nvSpPr>
          <p:cNvPr id="5" name="Shape 3">
            <a:extLst>
              <a:ext uri="{FF2B5EF4-FFF2-40B4-BE49-F238E27FC236}">
                <a16:creationId xmlns:a16="http://schemas.microsoft.com/office/drawing/2014/main" id="{49DF73A9-4EDA-1E39-9747-3175D41629BC}"/>
              </a:ext>
            </a:extLst>
          </p:cNvPr>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6" name="Shape 4">
            <a:extLst>
              <a:ext uri="{FF2B5EF4-FFF2-40B4-BE49-F238E27FC236}">
                <a16:creationId xmlns:a16="http://schemas.microsoft.com/office/drawing/2014/main" id="{76D3A010-E360-ECC7-08DB-8E63A6B348F4}"/>
              </a:ext>
            </a:extLst>
          </p:cNvPr>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7" name="Text 5">
            <a:extLst>
              <a:ext uri="{FF2B5EF4-FFF2-40B4-BE49-F238E27FC236}">
                <a16:creationId xmlns:a16="http://schemas.microsoft.com/office/drawing/2014/main" id="{1E32D157-56D8-F891-FFA5-8858FB2709F4}"/>
              </a:ext>
            </a:extLst>
          </p:cNvPr>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4/10</a:t>
            </a:r>
            <a:endParaRPr lang="en-US" sz="850" dirty="0"/>
          </a:p>
        </p:txBody>
      </p:sp>
      <p:pic>
        <p:nvPicPr>
          <p:cNvPr id="60" name="Immagine 59">
            <a:extLst>
              <a:ext uri="{FF2B5EF4-FFF2-40B4-BE49-F238E27FC236}">
                <a16:creationId xmlns:a16="http://schemas.microsoft.com/office/drawing/2014/main" id="{F78CADB3-AE35-87AB-6E44-CA0C20F60BEA}"/>
              </a:ext>
            </a:extLst>
          </p:cNvPr>
          <p:cNvPicPr>
            <a:picLocks noChangeAspect="1"/>
          </p:cNvPicPr>
          <p:nvPr/>
        </p:nvPicPr>
        <p:blipFill>
          <a:blip r:embed="rId3"/>
          <a:srcRect t="45247"/>
          <a:stretch>
            <a:fillRect/>
          </a:stretch>
        </p:blipFill>
        <p:spPr>
          <a:xfrm>
            <a:off x="759843" y="1521158"/>
            <a:ext cx="10490682" cy="4617231"/>
          </a:xfrm>
          <a:prstGeom prst="rect">
            <a:avLst/>
          </a:prstGeom>
        </p:spPr>
      </p:pic>
    </p:spTree>
    <p:extLst>
      <p:ext uri="{BB962C8B-B14F-4D97-AF65-F5344CB8AC3E}">
        <p14:creationId xmlns:p14="http://schemas.microsoft.com/office/powerpoint/2010/main" val="3570703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sp>
        <p:nvSpPr>
          <p:cNvPr id="3" name="Text 1"/>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Resilience and recovery targets</a:t>
            </a:r>
            <a:endParaRPr lang="en-US" sz="2750" dirty="0"/>
          </a:p>
        </p:txBody>
      </p:sp>
      <p:sp>
        <p:nvSpPr>
          <p:cNvPr id="4" name="Shape 2"/>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5" name="Shape 3"/>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6" name="Text 4"/>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5/10</a:t>
            </a:r>
            <a:endParaRPr lang="en-US" sz="850" dirty="0"/>
          </a:p>
        </p:txBody>
      </p:sp>
      <p:graphicFrame>
        <p:nvGraphicFramePr>
          <p:cNvPr id="52" name="Table 4">
            <a:extLst>
              <a:ext uri="{FF2B5EF4-FFF2-40B4-BE49-F238E27FC236}">
                <a16:creationId xmlns:a16="http://schemas.microsoft.com/office/drawing/2014/main" id="{BBFFDE6D-3C50-807D-972F-5DF651C7805E}"/>
              </a:ext>
            </a:extLst>
          </p:cNvPr>
          <p:cNvGraphicFramePr>
            <a:graphicFrameLocks noGrp="1"/>
          </p:cNvGraphicFramePr>
          <p:nvPr>
            <p:extLst>
              <p:ext uri="{D42A27DB-BD31-4B8C-83A1-F6EECF244321}">
                <p14:modId xmlns:p14="http://schemas.microsoft.com/office/powerpoint/2010/main" val="1400000679"/>
              </p:ext>
            </p:extLst>
          </p:nvPr>
        </p:nvGraphicFramePr>
        <p:xfrm>
          <a:off x="606684" y="1764792"/>
          <a:ext cx="10561320" cy="2798064"/>
        </p:xfrm>
        <a:graphic>
          <a:graphicData uri="http://schemas.openxmlformats.org/drawingml/2006/table">
            <a:tbl>
              <a:tblPr firstRow="1" bandRow="1">
                <a:tableStyleId>{5C22544A-7EE6-4342-B048-85BDC9FD1C3A}</a:tableStyleId>
              </a:tblPr>
              <a:tblGrid>
                <a:gridCol w="278892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411480">
                <a:tc>
                  <a:txBody>
                    <a:bodyPr/>
                    <a:lstStyle/>
                    <a:p>
                      <a:pPr>
                        <a:defRPr sz="1250" b="1">
                          <a:solidFill>
                            <a:srgbClr val="FFFFFF"/>
                          </a:solidFill>
                          <a:latin typeface="Aptos"/>
                        </a:defRPr>
                      </a:pPr>
                      <a:r>
                        <a:t>Target</a:t>
                      </a:r>
                    </a:p>
                  </a:txBody>
                  <a:tcPr anchor="ctr">
                    <a:solidFill>
                      <a:srgbClr val="041242"/>
                    </a:solidFill>
                  </a:tcPr>
                </a:tc>
                <a:tc>
                  <a:txBody>
                    <a:bodyPr/>
                    <a:lstStyle/>
                    <a:p>
                      <a:pPr>
                        <a:defRPr sz="1250" b="1">
                          <a:solidFill>
                            <a:srgbClr val="FFFFFF"/>
                          </a:solidFill>
                          <a:latin typeface="Aptos"/>
                        </a:defRPr>
                      </a:pPr>
                      <a:r>
                        <a:rPr dirty="0"/>
                        <a:t>Protection</a:t>
                      </a:r>
                    </a:p>
                  </a:txBody>
                  <a:tcPr anchor="ctr">
                    <a:solidFill>
                      <a:srgbClr val="041242"/>
                    </a:solidFill>
                  </a:tcPr>
                </a:tc>
                <a:tc>
                  <a:txBody>
                    <a:bodyPr/>
                    <a:lstStyle/>
                    <a:p>
                      <a:pPr>
                        <a:defRPr sz="1250" b="1">
                          <a:solidFill>
                            <a:srgbClr val="FFFFFF"/>
                          </a:solidFill>
                          <a:latin typeface="Aptos"/>
                        </a:defRPr>
                      </a:pPr>
                      <a:r>
                        <a:t>Required Validation</a:t>
                      </a:r>
                    </a:p>
                  </a:txBody>
                  <a:tcPr anchor="ctr">
                    <a:solidFill>
                      <a:srgbClr val="041242"/>
                    </a:solidFill>
                  </a:tcPr>
                </a:tc>
                <a:extLst>
                  <a:ext uri="{0D108BD9-81ED-4DB2-BD59-A6C34878D82A}">
                    <a16:rowId xmlns:a16="http://schemas.microsoft.com/office/drawing/2014/main" val="10000"/>
                  </a:ext>
                </a:extLst>
              </a:tr>
              <a:tr h="804672">
                <a:tc>
                  <a:txBody>
                    <a:bodyPr/>
                    <a:lstStyle/>
                    <a:p>
                      <a:pPr>
                        <a:defRPr sz="1180" b="1">
                          <a:solidFill>
                            <a:srgbClr val="041242"/>
                          </a:solidFill>
                          <a:latin typeface="Aptos"/>
                        </a:defRPr>
                      </a:pPr>
                      <a:r>
                        <a:rPr dirty="0"/>
                        <a:t>99.9% Availability</a:t>
                      </a:r>
                    </a:p>
                  </a:txBody>
                  <a:tcPr anchor="ctr">
                    <a:solidFill>
                      <a:srgbClr val="FFFFFF"/>
                    </a:solidFill>
                  </a:tcPr>
                </a:tc>
                <a:tc>
                  <a:txBody>
                    <a:bodyPr/>
                    <a:lstStyle/>
                    <a:p>
                      <a:pPr>
                        <a:defRPr sz="1140" b="0">
                          <a:solidFill>
                            <a:srgbClr val="5C677C"/>
                          </a:solidFill>
                          <a:latin typeface="Aptos"/>
                        </a:defRPr>
                      </a:pPr>
                      <a:r>
                        <a:rPr dirty="0"/>
                        <a:t>Replicas and node capacity distributed across two Availability Zones.</a:t>
                      </a:r>
                    </a:p>
                  </a:txBody>
                  <a:tcPr anchor="ctr">
                    <a:solidFill>
                      <a:srgbClr val="FFFFFF"/>
                    </a:solidFill>
                  </a:tcPr>
                </a:tc>
                <a:tc>
                  <a:txBody>
                    <a:bodyPr/>
                    <a:lstStyle/>
                    <a:p>
                      <a:pPr>
                        <a:defRPr sz="1140" b="0">
                          <a:solidFill>
                            <a:srgbClr val="5C677C"/>
                          </a:solidFill>
                          <a:latin typeface="Aptos"/>
                        </a:defRPr>
                      </a:pPr>
                      <a:r>
                        <a:t>Chat and status reads survive the loss of a single zone with temporary degradation in background processing.</a:t>
                      </a:r>
                    </a:p>
                  </a:txBody>
                  <a:tcPr anchor="ctr">
                    <a:solidFill>
                      <a:srgbClr val="FFFFFF"/>
                    </a:solidFill>
                  </a:tcPr>
                </a:tc>
                <a:extLst>
                  <a:ext uri="{0D108BD9-81ED-4DB2-BD59-A6C34878D82A}">
                    <a16:rowId xmlns:a16="http://schemas.microsoft.com/office/drawing/2014/main" val="10001"/>
                  </a:ext>
                </a:extLst>
              </a:tr>
              <a:tr h="786384">
                <a:tc>
                  <a:txBody>
                    <a:bodyPr/>
                    <a:lstStyle/>
                    <a:p>
                      <a:pPr>
                        <a:defRPr sz="1180" b="1">
                          <a:solidFill>
                            <a:srgbClr val="041242"/>
                          </a:solidFill>
                          <a:latin typeface="Aptos"/>
                        </a:defRPr>
                      </a:pPr>
                      <a:r>
                        <a:t>RPO &lt; 1 min, RTO &lt; 10 min</a:t>
                      </a:r>
                    </a:p>
                  </a:txBody>
                  <a:tcPr anchor="ctr">
                    <a:solidFill>
                      <a:srgbClr val="F8FAFC"/>
                    </a:solidFill>
                  </a:tcPr>
                </a:tc>
                <a:tc>
                  <a:txBody>
                    <a:bodyPr/>
                    <a:lstStyle/>
                    <a:p>
                      <a:pPr>
                        <a:defRPr sz="1140" b="0">
                          <a:solidFill>
                            <a:srgbClr val="5C677C"/>
                          </a:solidFill>
                          <a:latin typeface="Aptos"/>
                        </a:defRPr>
                      </a:pPr>
                      <a:r>
                        <a:t>RDS Multi-AZ failover and client reconnection.</a:t>
                      </a:r>
                    </a:p>
                  </a:txBody>
                  <a:tcPr anchor="ctr">
                    <a:solidFill>
                      <a:srgbClr val="F8FAFC"/>
                    </a:solidFill>
                  </a:tcPr>
                </a:tc>
                <a:tc>
                  <a:txBody>
                    <a:bodyPr/>
                    <a:lstStyle/>
                    <a:p>
                      <a:pPr>
                        <a:defRPr sz="1140" b="0">
                          <a:solidFill>
                            <a:srgbClr val="5C677C"/>
                          </a:solidFill>
                          <a:latin typeface="Aptos"/>
                        </a:defRPr>
                      </a:pPr>
                      <a:r>
                        <a:t>Measure the exact time required to restore usable conversations and pending work after a database primary failure.</a:t>
                      </a:r>
                    </a:p>
                  </a:txBody>
                  <a:tcPr anchor="ctr">
                    <a:solidFill>
                      <a:srgbClr val="F8FAFC"/>
                    </a:solidFill>
                  </a:tcPr>
                </a:tc>
                <a:extLst>
                  <a:ext uri="{0D108BD9-81ED-4DB2-BD59-A6C34878D82A}">
                    <a16:rowId xmlns:a16="http://schemas.microsoft.com/office/drawing/2014/main" val="10002"/>
                  </a:ext>
                </a:extLst>
              </a:tr>
              <a:tr h="795528">
                <a:tc>
                  <a:txBody>
                    <a:bodyPr/>
                    <a:lstStyle/>
                    <a:p>
                      <a:pPr>
                        <a:defRPr sz="1180" b="1">
                          <a:solidFill>
                            <a:srgbClr val="041242"/>
                          </a:solidFill>
                          <a:latin typeface="Aptos"/>
                        </a:defRPr>
                      </a:pPr>
                      <a:r>
                        <a:rPr dirty="0"/>
                        <a:t>Seamless Deployments</a:t>
                      </a:r>
                    </a:p>
                  </a:txBody>
                  <a:tcPr anchor="ctr">
                    <a:solidFill>
                      <a:srgbClr val="FFFFFF"/>
                    </a:solidFill>
                  </a:tcPr>
                </a:tc>
                <a:tc>
                  <a:txBody>
                    <a:bodyPr/>
                    <a:lstStyle/>
                    <a:p>
                      <a:pPr>
                        <a:defRPr sz="1140" b="0">
                          <a:solidFill>
                            <a:srgbClr val="5C677C"/>
                          </a:solidFill>
                          <a:latin typeface="Aptos"/>
                        </a:defRPr>
                      </a:pPr>
                      <a:r>
                        <a:rPr dirty="0"/>
                        <a:t>Versioned workflows; backward-compatible schemas and workers.</a:t>
                      </a:r>
                    </a:p>
                  </a:txBody>
                  <a:tcPr anchor="ctr">
                    <a:solidFill>
                      <a:srgbClr val="FFFFFF"/>
                    </a:solidFill>
                  </a:tcPr>
                </a:tc>
                <a:tc>
                  <a:txBody>
                    <a:bodyPr/>
                    <a:lstStyle/>
                    <a:p>
                      <a:pPr>
                        <a:defRPr sz="1140" b="0">
                          <a:solidFill>
                            <a:srgbClr val="5C677C"/>
                          </a:solidFill>
                          <a:latin typeface="Aptos"/>
                        </a:defRPr>
                      </a:pPr>
                      <a:r>
                        <a:rPr dirty="0"/>
                        <a:t>Open, weeks-long customer journeys successfully survive a rolling update or rollback.</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3" name="Rectangle 5">
            <a:extLst>
              <a:ext uri="{FF2B5EF4-FFF2-40B4-BE49-F238E27FC236}">
                <a16:creationId xmlns:a16="http://schemas.microsoft.com/office/drawing/2014/main" id="{4562ECF0-5810-FA0B-CB5A-4E52588CA4E9}"/>
              </a:ext>
            </a:extLst>
          </p:cNvPr>
          <p:cNvSpPr/>
          <p:nvPr/>
        </p:nvSpPr>
        <p:spPr>
          <a:xfrm>
            <a:off x="606684" y="2176272"/>
            <a:ext cx="50292" cy="804672"/>
          </a:xfrm>
          <a:prstGeom prst="rect">
            <a:avLst/>
          </a:prstGeom>
          <a:solidFill>
            <a:srgbClr val="0B6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6">
            <a:extLst>
              <a:ext uri="{FF2B5EF4-FFF2-40B4-BE49-F238E27FC236}">
                <a16:creationId xmlns:a16="http://schemas.microsoft.com/office/drawing/2014/main" id="{915EC7F3-E85E-AD5B-2BEF-2544E8E8B647}"/>
              </a:ext>
            </a:extLst>
          </p:cNvPr>
          <p:cNvSpPr/>
          <p:nvPr/>
        </p:nvSpPr>
        <p:spPr>
          <a:xfrm>
            <a:off x="606684" y="2980944"/>
            <a:ext cx="50292" cy="786384"/>
          </a:xfrm>
          <a:prstGeom prst="rect">
            <a:avLst/>
          </a:prstGeom>
          <a:solidFill>
            <a:srgbClr val="0B9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7">
            <a:extLst>
              <a:ext uri="{FF2B5EF4-FFF2-40B4-BE49-F238E27FC236}">
                <a16:creationId xmlns:a16="http://schemas.microsoft.com/office/drawing/2014/main" id="{D7A25FFF-BBA4-CC88-3BC3-DBC06A48C140}"/>
              </a:ext>
            </a:extLst>
          </p:cNvPr>
          <p:cNvSpPr/>
          <p:nvPr/>
        </p:nvSpPr>
        <p:spPr>
          <a:xfrm>
            <a:off x="606684" y="3767328"/>
            <a:ext cx="50292" cy="795528"/>
          </a:xfrm>
          <a:prstGeom prst="rect">
            <a:avLst/>
          </a:prstGeom>
          <a:solidFill>
            <a:srgbClr val="673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8">
            <a:extLst>
              <a:ext uri="{FF2B5EF4-FFF2-40B4-BE49-F238E27FC236}">
                <a16:creationId xmlns:a16="http://schemas.microsoft.com/office/drawing/2014/main" id="{D1D9E29E-CD9A-51E0-BB13-F8173988BD34}"/>
              </a:ext>
            </a:extLst>
          </p:cNvPr>
          <p:cNvSpPr/>
          <p:nvPr/>
        </p:nvSpPr>
        <p:spPr>
          <a:xfrm>
            <a:off x="606684" y="4873750"/>
            <a:ext cx="10561320" cy="1193093"/>
          </a:xfrm>
          <a:prstGeom prst="rect">
            <a:avLst/>
          </a:prstGeom>
          <a:solidFill>
            <a:srgbClr val="FFFFFF"/>
          </a:solidFill>
          <a:ln w="2159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9">
            <a:extLst>
              <a:ext uri="{FF2B5EF4-FFF2-40B4-BE49-F238E27FC236}">
                <a16:creationId xmlns:a16="http://schemas.microsoft.com/office/drawing/2014/main" id="{5921F78D-00B3-2949-E074-77D9E59C256D}"/>
              </a:ext>
            </a:extLst>
          </p:cNvPr>
          <p:cNvSpPr txBox="1"/>
          <p:nvPr/>
        </p:nvSpPr>
        <p:spPr>
          <a:xfrm>
            <a:off x="798708" y="5020056"/>
            <a:ext cx="985976" cy="230832"/>
          </a:xfrm>
          <a:prstGeom prst="rect">
            <a:avLst/>
          </a:prstGeom>
          <a:noFill/>
        </p:spPr>
        <p:txBody>
          <a:bodyPr wrap="none" lIns="0" tIns="0" rIns="0" bIns="0">
            <a:spAutoFit/>
          </a:bodyPr>
          <a:lstStyle/>
          <a:p>
            <a:pPr algn="l">
              <a:defRPr sz="1500" b="1">
                <a:solidFill>
                  <a:srgbClr val="041242"/>
                </a:solidFill>
                <a:latin typeface="Aptos"/>
              </a:defRPr>
            </a:pPr>
            <a:r>
              <a:rPr lang="it-IT" dirty="0" err="1"/>
              <a:t>Limitations</a:t>
            </a:r>
            <a:endParaRPr dirty="0"/>
          </a:p>
        </p:txBody>
      </p:sp>
      <p:sp>
        <p:nvSpPr>
          <p:cNvPr id="58" name="TextBox 10">
            <a:extLst>
              <a:ext uri="{FF2B5EF4-FFF2-40B4-BE49-F238E27FC236}">
                <a16:creationId xmlns:a16="http://schemas.microsoft.com/office/drawing/2014/main" id="{3FB392D8-0668-F227-AF39-71EF13969B55}"/>
              </a:ext>
            </a:extLst>
          </p:cNvPr>
          <p:cNvSpPr txBox="1"/>
          <p:nvPr/>
        </p:nvSpPr>
        <p:spPr>
          <a:xfrm>
            <a:off x="798708" y="5340096"/>
            <a:ext cx="6970819" cy="604781"/>
          </a:xfrm>
          <a:prstGeom prst="rect">
            <a:avLst/>
          </a:prstGeom>
          <a:noFill/>
        </p:spPr>
        <p:txBody>
          <a:bodyPr wrap="none" lIns="0" tIns="0" rIns="0" bIns="0">
            <a:spAutoFit/>
          </a:bodyPr>
          <a:lstStyle/>
          <a:p>
            <a:pPr marL="742950" lvl="1" indent="-285750">
              <a:buFont typeface="Arial" panose="020B0604020202020204" pitchFamily="34" charset="0"/>
              <a:buChar char="•"/>
              <a:defRPr sz="1310" b="0">
                <a:solidFill>
                  <a:srgbClr val="141D34"/>
                </a:solidFill>
                <a:latin typeface="Aptos"/>
              </a:defRPr>
            </a:pPr>
            <a:r>
              <a:rPr dirty="0"/>
              <a:t>Multi-AZ does not automatically prove targets. </a:t>
            </a:r>
            <a:endParaRPr lang="it-IT" dirty="0"/>
          </a:p>
          <a:p>
            <a:pPr marL="742950" lvl="1" indent="-285750">
              <a:buFont typeface="Arial" panose="020B0604020202020204" pitchFamily="34" charset="0"/>
              <a:buChar char="•"/>
              <a:defRPr sz="1310" b="0">
                <a:solidFill>
                  <a:srgbClr val="141D34"/>
                </a:solidFill>
                <a:latin typeface="Aptos"/>
              </a:defRPr>
            </a:pPr>
            <a:r>
              <a:rPr lang="it-IT" dirty="0"/>
              <a:t>Recovery targets assume </a:t>
            </a:r>
            <a:r>
              <a:rPr lang="it-IT" dirty="0" err="1"/>
              <a:t>infrastructure</a:t>
            </a:r>
            <a:r>
              <a:rPr lang="it-IT" dirty="0"/>
              <a:t> </a:t>
            </a:r>
            <a:r>
              <a:rPr lang="it-IT" dirty="0" err="1"/>
              <a:t>failures</a:t>
            </a:r>
            <a:r>
              <a:rPr lang="it-IT" dirty="0"/>
              <a:t> </a:t>
            </a:r>
            <a:r>
              <a:rPr lang="it-IT" dirty="0" err="1"/>
              <a:t>within</a:t>
            </a:r>
            <a:r>
              <a:rPr lang="it-IT" dirty="0"/>
              <a:t> one </a:t>
            </a:r>
            <a:r>
              <a:rPr lang="it-IT" dirty="0" err="1"/>
              <a:t>region</a:t>
            </a:r>
            <a:r>
              <a:rPr lang="it-IT" dirty="0"/>
              <a:t>. </a:t>
            </a:r>
          </a:p>
          <a:p>
            <a:pPr marL="742950" lvl="1" indent="-285750">
              <a:buFont typeface="Arial" panose="020B0604020202020204" pitchFamily="34" charset="0"/>
              <a:buChar char="•"/>
              <a:defRPr sz="1310" b="0">
                <a:solidFill>
                  <a:srgbClr val="141D34"/>
                </a:solidFill>
                <a:latin typeface="Aptos"/>
              </a:defRPr>
            </a:pPr>
            <a:r>
              <a:rPr lang="it-IT" dirty="0"/>
              <a:t>Coverage for data </a:t>
            </a:r>
            <a:r>
              <a:rPr lang="it-IT" dirty="0" err="1"/>
              <a:t>corruption</a:t>
            </a:r>
            <a:r>
              <a:rPr lang="it-IT" dirty="0"/>
              <a:t> and </a:t>
            </a:r>
            <a:r>
              <a:rPr lang="it-IT" dirty="0" err="1"/>
              <a:t>regional</a:t>
            </a:r>
            <a:r>
              <a:rPr lang="it-IT" dirty="0"/>
              <a:t> </a:t>
            </a:r>
            <a:r>
              <a:rPr lang="it-IT" dirty="0" err="1"/>
              <a:t>outages</a:t>
            </a:r>
            <a:r>
              <a:rPr lang="it-IT" dirty="0"/>
              <a:t> </a:t>
            </a:r>
            <a:r>
              <a:rPr lang="it-IT" dirty="0" err="1"/>
              <a:t>remains</a:t>
            </a:r>
            <a:r>
              <a:rPr lang="it-IT" dirty="0"/>
              <a:t> to be </a:t>
            </a:r>
            <a:r>
              <a:rPr lang="it-IT" dirty="0" err="1"/>
              <a:t>agreed</a:t>
            </a:r>
            <a:r>
              <a:rPr lang="it-IT" dirty="0"/>
              <a:t> and </a:t>
            </a:r>
            <a:r>
              <a:rPr lang="it-IT" dirty="0" err="1"/>
              <a:t>validated</a:t>
            </a:r>
            <a:r>
              <a:rPr lang="it-IT"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sp>
        <p:nvSpPr>
          <p:cNvPr id="3" name="Text 1"/>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Security, observability and operational responsibility</a:t>
            </a:r>
            <a:endParaRPr lang="en-US" sz="2750" dirty="0"/>
          </a:p>
        </p:txBody>
      </p:sp>
      <p:sp>
        <p:nvSpPr>
          <p:cNvPr id="4" name="Shape 2"/>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5" name="Shape 3"/>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6" name="Text 4"/>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6/10</a:t>
            </a:r>
            <a:endParaRPr lang="en-US" sz="850" dirty="0"/>
          </a:p>
        </p:txBody>
      </p:sp>
      <p:sp>
        <p:nvSpPr>
          <p:cNvPr id="89" name="Shape 4">
            <a:extLst>
              <a:ext uri="{FF2B5EF4-FFF2-40B4-BE49-F238E27FC236}">
                <a16:creationId xmlns:a16="http://schemas.microsoft.com/office/drawing/2014/main" id="{25BFA0C2-13EA-C680-9F60-8CD16429DDB2}"/>
              </a:ext>
            </a:extLst>
          </p:cNvPr>
          <p:cNvSpPr/>
          <p:nvPr/>
        </p:nvSpPr>
        <p:spPr>
          <a:xfrm>
            <a:off x="502920" y="1961388"/>
            <a:ext cx="2651760" cy="2999232"/>
          </a:xfrm>
          <a:prstGeom prst="roundRect">
            <a:avLst>
              <a:gd name="adj" fmla="val 2759"/>
            </a:avLst>
          </a:prstGeom>
          <a:solidFill>
            <a:srgbClr val="EAF5FF"/>
          </a:solidFill>
          <a:ln w="14605">
            <a:solidFill>
              <a:srgbClr val="0B63E5"/>
            </a:solidFill>
            <a:prstDash val="solid"/>
          </a:ln>
        </p:spPr>
        <p:txBody>
          <a:bodyPr/>
          <a:lstStyle/>
          <a:p>
            <a:endParaRPr lang="it-IT"/>
          </a:p>
        </p:txBody>
      </p:sp>
      <p:sp>
        <p:nvSpPr>
          <p:cNvPr id="91" name="Text 6">
            <a:extLst>
              <a:ext uri="{FF2B5EF4-FFF2-40B4-BE49-F238E27FC236}">
                <a16:creationId xmlns:a16="http://schemas.microsoft.com/office/drawing/2014/main" id="{3637F663-AB7E-F159-FC04-F62EB703BAEA}"/>
              </a:ext>
            </a:extLst>
          </p:cNvPr>
          <p:cNvSpPr/>
          <p:nvPr/>
        </p:nvSpPr>
        <p:spPr>
          <a:xfrm>
            <a:off x="667512" y="2089404"/>
            <a:ext cx="2322576" cy="210312"/>
          </a:xfrm>
          <a:prstGeom prst="rect">
            <a:avLst/>
          </a:prstGeom>
          <a:noFill/>
          <a:ln/>
        </p:spPr>
        <p:txBody>
          <a:bodyPr wrap="square" lIns="381" tIns="381" rIns="381" bIns="381" rtlCol="0" anchor="ctr">
            <a:normAutofit/>
          </a:bodyPr>
          <a:lstStyle/>
          <a:p>
            <a:pPr marL="0" indent="0" algn="l">
              <a:buNone/>
            </a:pPr>
            <a:r>
              <a:rPr lang="en-US" sz="1300" b="1" dirty="0">
                <a:solidFill>
                  <a:srgbClr val="07133D"/>
                </a:solidFill>
                <a:latin typeface="Aptos" pitchFamily="34" charset="0"/>
                <a:ea typeface="Aptos" pitchFamily="34" charset="-122"/>
                <a:cs typeface="Aptos" pitchFamily="34" charset="-120"/>
              </a:rPr>
              <a:t>1. Protect access</a:t>
            </a:r>
            <a:endParaRPr lang="en-US" sz="1300" dirty="0"/>
          </a:p>
        </p:txBody>
      </p:sp>
      <p:sp>
        <p:nvSpPr>
          <p:cNvPr id="92" name="Shape 7">
            <a:extLst>
              <a:ext uri="{FF2B5EF4-FFF2-40B4-BE49-F238E27FC236}">
                <a16:creationId xmlns:a16="http://schemas.microsoft.com/office/drawing/2014/main" id="{ECCF2F57-124D-B629-44FE-91CB6BDEC10F}"/>
              </a:ext>
            </a:extLst>
          </p:cNvPr>
          <p:cNvSpPr/>
          <p:nvPr/>
        </p:nvSpPr>
        <p:spPr>
          <a:xfrm>
            <a:off x="685800" y="2759302"/>
            <a:ext cx="91440" cy="91440"/>
          </a:xfrm>
          <a:prstGeom prst="ellipse">
            <a:avLst/>
          </a:prstGeom>
          <a:solidFill>
            <a:srgbClr val="0B63E5"/>
          </a:solidFill>
          <a:ln w="12700">
            <a:solidFill>
              <a:srgbClr val="0B63E5"/>
            </a:solidFill>
            <a:prstDash val="solid"/>
          </a:ln>
        </p:spPr>
        <p:txBody>
          <a:bodyPr/>
          <a:lstStyle/>
          <a:p>
            <a:endParaRPr lang="it-IT"/>
          </a:p>
        </p:txBody>
      </p:sp>
      <p:sp>
        <p:nvSpPr>
          <p:cNvPr id="93" name="Text 8">
            <a:extLst>
              <a:ext uri="{FF2B5EF4-FFF2-40B4-BE49-F238E27FC236}">
                <a16:creationId xmlns:a16="http://schemas.microsoft.com/office/drawing/2014/main" id="{3BB6AAD8-BF1C-159D-C4BE-469E89D8AAAF}"/>
              </a:ext>
            </a:extLst>
          </p:cNvPr>
          <p:cNvSpPr/>
          <p:nvPr/>
        </p:nvSpPr>
        <p:spPr>
          <a:xfrm>
            <a:off x="850392" y="2720340"/>
            <a:ext cx="2148840" cy="384048"/>
          </a:xfrm>
          <a:prstGeom prst="rect">
            <a:avLst/>
          </a:prstGeom>
          <a:noFill/>
          <a:ln/>
        </p:spPr>
        <p:txBody>
          <a:bodyPr wrap="square" lIns="381" tIns="381" rIns="381" bIns="381" rtlCol="0" anchor="t">
            <a:normAutofit/>
          </a:bodyPr>
          <a:lstStyle/>
          <a:p>
            <a:pPr marL="0" indent="0" algn="l">
              <a:buNone/>
            </a:pPr>
            <a:r>
              <a:rPr lang="en-US" sz="1100" dirty="0">
                <a:solidFill>
                  <a:srgbClr val="1D2433"/>
                </a:solidFill>
                <a:latin typeface="Aptos" pitchFamily="34" charset="0"/>
                <a:ea typeface="Aptos" pitchFamily="34" charset="-122"/>
                <a:cs typeface="Aptos" pitchFamily="34" charset="-120"/>
              </a:rPr>
              <a:t>Authenticate customers, operators and provider callbacks.</a:t>
            </a:r>
            <a:endParaRPr lang="en-US" sz="1100" dirty="0"/>
          </a:p>
        </p:txBody>
      </p:sp>
      <p:sp>
        <p:nvSpPr>
          <p:cNvPr id="94" name="Shape 9">
            <a:extLst>
              <a:ext uri="{FF2B5EF4-FFF2-40B4-BE49-F238E27FC236}">
                <a16:creationId xmlns:a16="http://schemas.microsoft.com/office/drawing/2014/main" id="{E141BD6C-96CC-C77C-0A36-63165B5332A4}"/>
              </a:ext>
            </a:extLst>
          </p:cNvPr>
          <p:cNvSpPr/>
          <p:nvPr/>
        </p:nvSpPr>
        <p:spPr>
          <a:xfrm>
            <a:off x="685800" y="3371950"/>
            <a:ext cx="91440" cy="91440"/>
          </a:xfrm>
          <a:prstGeom prst="ellipse">
            <a:avLst/>
          </a:prstGeom>
          <a:solidFill>
            <a:srgbClr val="0B63E5"/>
          </a:solidFill>
          <a:ln w="12700">
            <a:solidFill>
              <a:srgbClr val="0B63E5"/>
            </a:solidFill>
            <a:prstDash val="solid"/>
          </a:ln>
        </p:spPr>
        <p:txBody>
          <a:bodyPr/>
          <a:lstStyle/>
          <a:p>
            <a:endParaRPr lang="it-IT"/>
          </a:p>
        </p:txBody>
      </p:sp>
      <p:sp>
        <p:nvSpPr>
          <p:cNvPr id="95" name="Text 10">
            <a:extLst>
              <a:ext uri="{FF2B5EF4-FFF2-40B4-BE49-F238E27FC236}">
                <a16:creationId xmlns:a16="http://schemas.microsoft.com/office/drawing/2014/main" id="{3F1D2DEA-9F08-4774-3DB0-988A7FE52974}"/>
              </a:ext>
            </a:extLst>
          </p:cNvPr>
          <p:cNvSpPr/>
          <p:nvPr/>
        </p:nvSpPr>
        <p:spPr>
          <a:xfrm>
            <a:off x="850392" y="3332988"/>
            <a:ext cx="2148840" cy="384048"/>
          </a:xfrm>
          <a:prstGeom prst="rect">
            <a:avLst/>
          </a:prstGeom>
          <a:noFill/>
          <a:ln/>
        </p:spPr>
        <p:txBody>
          <a:bodyPr wrap="square" lIns="381" tIns="381" rIns="381" bIns="381" rtlCol="0" anchor="t">
            <a:noAutofit/>
          </a:bodyPr>
          <a:lstStyle/>
          <a:p>
            <a:pPr marL="0" indent="0" algn="l">
              <a:buNone/>
            </a:pPr>
            <a:r>
              <a:rPr lang="en-US" sz="1100" dirty="0">
                <a:solidFill>
                  <a:srgbClr val="1D2433"/>
                </a:solidFill>
                <a:latin typeface="Aptos" pitchFamily="34" charset="0"/>
                <a:ea typeface="Aptos" pitchFamily="34" charset="-122"/>
                <a:cs typeface="Aptos" pitchFamily="34" charset="-120"/>
              </a:rPr>
              <a:t>Keep workloads and databases private; expose API via TLS/WAF/ALB.</a:t>
            </a:r>
            <a:endParaRPr lang="en-US" sz="1100" dirty="0"/>
          </a:p>
        </p:txBody>
      </p:sp>
      <p:sp>
        <p:nvSpPr>
          <p:cNvPr id="96" name="Shape 11">
            <a:extLst>
              <a:ext uri="{FF2B5EF4-FFF2-40B4-BE49-F238E27FC236}">
                <a16:creationId xmlns:a16="http://schemas.microsoft.com/office/drawing/2014/main" id="{7749AE40-2E18-DE3F-F27D-EC007D621F3F}"/>
              </a:ext>
            </a:extLst>
          </p:cNvPr>
          <p:cNvSpPr/>
          <p:nvPr/>
        </p:nvSpPr>
        <p:spPr>
          <a:xfrm>
            <a:off x="685800" y="3984598"/>
            <a:ext cx="91440" cy="91440"/>
          </a:xfrm>
          <a:prstGeom prst="ellipse">
            <a:avLst/>
          </a:prstGeom>
          <a:solidFill>
            <a:srgbClr val="0B63E5"/>
          </a:solidFill>
          <a:ln w="12700">
            <a:solidFill>
              <a:srgbClr val="0B63E5"/>
            </a:solidFill>
            <a:prstDash val="solid"/>
          </a:ln>
        </p:spPr>
        <p:txBody>
          <a:bodyPr/>
          <a:lstStyle/>
          <a:p>
            <a:endParaRPr lang="it-IT"/>
          </a:p>
        </p:txBody>
      </p:sp>
      <p:sp>
        <p:nvSpPr>
          <p:cNvPr id="97" name="Text 12">
            <a:extLst>
              <a:ext uri="{FF2B5EF4-FFF2-40B4-BE49-F238E27FC236}">
                <a16:creationId xmlns:a16="http://schemas.microsoft.com/office/drawing/2014/main" id="{9F7F4142-3589-F609-6D80-92084A0A9659}"/>
              </a:ext>
            </a:extLst>
          </p:cNvPr>
          <p:cNvSpPr/>
          <p:nvPr/>
        </p:nvSpPr>
        <p:spPr>
          <a:xfrm>
            <a:off x="850392" y="3945636"/>
            <a:ext cx="2148840" cy="384048"/>
          </a:xfrm>
          <a:prstGeom prst="rect">
            <a:avLst/>
          </a:prstGeom>
          <a:noFill/>
          <a:ln/>
        </p:spPr>
        <p:txBody>
          <a:bodyPr wrap="square" lIns="381" tIns="381" rIns="381" bIns="381" rtlCol="0" anchor="t">
            <a:normAutofit/>
          </a:bodyPr>
          <a:lstStyle/>
          <a:p>
            <a:pPr marL="0" indent="0" algn="l">
              <a:buNone/>
            </a:pPr>
            <a:r>
              <a:rPr lang="en-US" sz="1100" dirty="0">
                <a:solidFill>
                  <a:srgbClr val="1D2433"/>
                </a:solidFill>
                <a:latin typeface="Aptos" pitchFamily="34" charset="0"/>
                <a:ea typeface="Aptos" pitchFamily="34" charset="-122"/>
                <a:cs typeface="Aptos" pitchFamily="34" charset="-120"/>
              </a:rPr>
              <a:t>Enforce journey ownership and least-privilege access.</a:t>
            </a:r>
            <a:endParaRPr lang="en-US" sz="1100" dirty="0"/>
          </a:p>
        </p:txBody>
      </p:sp>
      <p:sp>
        <p:nvSpPr>
          <p:cNvPr id="98" name="Shape 13">
            <a:extLst>
              <a:ext uri="{FF2B5EF4-FFF2-40B4-BE49-F238E27FC236}">
                <a16:creationId xmlns:a16="http://schemas.microsoft.com/office/drawing/2014/main" id="{00FF7FE9-B07F-EB93-903E-B79888FCD724}"/>
              </a:ext>
            </a:extLst>
          </p:cNvPr>
          <p:cNvSpPr/>
          <p:nvPr/>
        </p:nvSpPr>
        <p:spPr>
          <a:xfrm>
            <a:off x="3355848" y="1961388"/>
            <a:ext cx="2651760" cy="2999232"/>
          </a:xfrm>
          <a:prstGeom prst="roundRect">
            <a:avLst>
              <a:gd name="adj" fmla="val 2759"/>
            </a:avLst>
          </a:prstGeom>
          <a:solidFill>
            <a:srgbClr val="F1ECFF"/>
          </a:solidFill>
          <a:ln w="14605">
            <a:solidFill>
              <a:srgbClr val="673AB7"/>
            </a:solidFill>
            <a:prstDash val="solid"/>
          </a:ln>
        </p:spPr>
        <p:txBody>
          <a:bodyPr/>
          <a:lstStyle/>
          <a:p>
            <a:endParaRPr lang="it-IT"/>
          </a:p>
        </p:txBody>
      </p:sp>
      <p:sp>
        <p:nvSpPr>
          <p:cNvPr id="100" name="Text 15">
            <a:extLst>
              <a:ext uri="{FF2B5EF4-FFF2-40B4-BE49-F238E27FC236}">
                <a16:creationId xmlns:a16="http://schemas.microsoft.com/office/drawing/2014/main" id="{7AC75937-FDE1-F881-260B-0A0B3840EA4D}"/>
              </a:ext>
            </a:extLst>
          </p:cNvPr>
          <p:cNvSpPr/>
          <p:nvPr/>
        </p:nvSpPr>
        <p:spPr>
          <a:xfrm>
            <a:off x="3520440" y="2089404"/>
            <a:ext cx="2322576" cy="210312"/>
          </a:xfrm>
          <a:prstGeom prst="rect">
            <a:avLst/>
          </a:prstGeom>
          <a:noFill/>
          <a:ln/>
        </p:spPr>
        <p:txBody>
          <a:bodyPr wrap="square" lIns="381" tIns="381" rIns="381" bIns="381" rtlCol="0" anchor="ctr">
            <a:normAutofit/>
          </a:bodyPr>
          <a:lstStyle/>
          <a:p>
            <a:pPr marL="0" indent="0" algn="l">
              <a:buNone/>
            </a:pPr>
            <a:r>
              <a:rPr lang="en-US" sz="1300" b="1" dirty="0">
                <a:solidFill>
                  <a:srgbClr val="07133D"/>
                </a:solidFill>
                <a:latin typeface="Aptos" pitchFamily="34" charset="0"/>
                <a:ea typeface="Aptos" pitchFamily="34" charset="-122"/>
                <a:cs typeface="Aptos" pitchFamily="34" charset="-120"/>
              </a:rPr>
              <a:t>2. Constrain AI &amp; data</a:t>
            </a:r>
            <a:endParaRPr lang="en-US" sz="1300" dirty="0"/>
          </a:p>
        </p:txBody>
      </p:sp>
      <p:sp>
        <p:nvSpPr>
          <p:cNvPr id="101" name="Shape 16">
            <a:extLst>
              <a:ext uri="{FF2B5EF4-FFF2-40B4-BE49-F238E27FC236}">
                <a16:creationId xmlns:a16="http://schemas.microsoft.com/office/drawing/2014/main" id="{86A53BE7-1D6B-F146-E738-79194175573C}"/>
              </a:ext>
            </a:extLst>
          </p:cNvPr>
          <p:cNvSpPr/>
          <p:nvPr/>
        </p:nvSpPr>
        <p:spPr>
          <a:xfrm>
            <a:off x="3538728" y="2759302"/>
            <a:ext cx="91440" cy="91440"/>
          </a:xfrm>
          <a:prstGeom prst="ellipse">
            <a:avLst/>
          </a:prstGeom>
          <a:solidFill>
            <a:srgbClr val="673AB7"/>
          </a:solidFill>
          <a:ln w="12700">
            <a:solidFill>
              <a:srgbClr val="673AB7"/>
            </a:solidFill>
            <a:prstDash val="solid"/>
          </a:ln>
        </p:spPr>
        <p:txBody>
          <a:bodyPr/>
          <a:lstStyle/>
          <a:p>
            <a:endParaRPr lang="it-IT"/>
          </a:p>
        </p:txBody>
      </p:sp>
      <p:sp>
        <p:nvSpPr>
          <p:cNvPr id="102" name="Text 17">
            <a:extLst>
              <a:ext uri="{FF2B5EF4-FFF2-40B4-BE49-F238E27FC236}">
                <a16:creationId xmlns:a16="http://schemas.microsoft.com/office/drawing/2014/main" id="{6ACCC2E9-6F90-9BBA-F352-F7604C479C31}"/>
              </a:ext>
            </a:extLst>
          </p:cNvPr>
          <p:cNvSpPr/>
          <p:nvPr/>
        </p:nvSpPr>
        <p:spPr>
          <a:xfrm>
            <a:off x="3703320" y="2720340"/>
            <a:ext cx="2148840" cy="384048"/>
          </a:xfrm>
          <a:prstGeom prst="rect">
            <a:avLst/>
          </a:prstGeom>
          <a:noFill/>
          <a:ln/>
        </p:spPr>
        <p:txBody>
          <a:bodyPr wrap="square" lIns="381" tIns="381" rIns="381" bIns="381" rtlCol="0" anchor="t">
            <a:normAutofit/>
          </a:bodyPr>
          <a:lstStyle/>
          <a:p>
            <a:pPr marL="0" indent="0" algn="l">
              <a:buNone/>
            </a:pPr>
            <a:r>
              <a:rPr lang="en-US" sz="1100" dirty="0">
                <a:solidFill>
                  <a:srgbClr val="1D2433"/>
                </a:solidFill>
                <a:latin typeface="Aptos" pitchFamily="34" charset="0"/>
                <a:ea typeface="Aptos" pitchFamily="34" charset="-122"/>
                <a:cs typeface="Aptos" pitchFamily="34" charset="-120"/>
              </a:rPr>
              <a:t>Validate model-proposed actions in application code.</a:t>
            </a:r>
            <a:endParaRPr lang="en-US" sz="1100" dirty="0"/>
          </a:p>
        </p:txBody>
      </p:sp>
      <p:sp>
        <p:nvSpPr>
          <p:cNvPr id="103" name="Shape 18">
            <a:extLst>
              <a:ext uri="{FF2B5EF4-FFF2-40B4-BE49-F238E27FC236}">
                <a16:creationId xmlns:a16="http://schemas.microsoft.com/office/drawing/2014/main" id="{59E2DE1A-A0C5-BC14-C389-F4C1241B861D}"/>
              </a:ext>
            </a:extLst>
          </p:cNvPr>
          <p:cNvSpPr/>
          <p:nvPr/>
        </p:nvSpPr>
        <p:spPr>
          <a:xfrm>
            <a:off x="3538728" y="3379901"/>
            <a:ext cx="91440" cy="91440"/>
          </a:xfrm>
          <a:prstGeom prst="ellipse">
            <a:avLst/>
          </a:prstGeom>
          <a:solidFill>
            <a:srgbClr val="673AB7"/>
          </a:solidFill>
          <a:ln w="12700">
            <a:solidFill>
              <a:srgbClr val="673AB7"/>
            </a:solidFill>
            <a:prstDash val="solid"/>
          </a:ln>
        </p:spPr>
        <p:txBody>
          <a:bodyPr/>
          <a:lstStyle/>
          <a:p>
            <a:endParaRPr lang="it-IT"/>
          </a:p>
        </p:txBody>
      </p:sp>
      <p:sp>
        <p:nvSpPr>
          <p:cNvPr id="104" name="Text 19">
            <a:extLst>
              <a:ext uri="{FF2B5EF4-FFF2-40B4-BE49-F238E27FC236}">
                <a16:creationId xmlns:a16="http://schemas.microsoft.com/office/drawing/2014/main" id="{BF8B231B-2084-B54F-DD28-06DBC4C5FAE6}"/>
              </a:ext>
            </a:extLst>
          </p:cNvPr>
          <p:cNvSpPr/>
          <p:nvPr/>
        </p:nvSpPr>
        <p:spPr>
          <a:xfrm>
            <a:off x="3703320" y="3332988"/>
            <a:ext cx="2148840" cy="384048"/>
          </a:xfrm>
          <a:prstGeom prst="rect">
            <a:avLst/>
          </a:prstGeom>
          <a:noFill/>
          <a:ln/>
        </p:spPr>
        <p:txBody>
          <a:bodyPr wrap="square" lIns="381" tIns="381" rIns="381" bIns="381" rtlCol="0" anchor="t">
            <a:normAutofit/>
          </a:bodyPr>
          <a:lstStyle/>
          <a:p>
            <a:pPr marL="0" indent="0" algn="l">
              <a:buNone/>
            </a:pPr>
            <a:r>
              <a:rPr lang="en-US" sz="1100" dirty="0">
                <a:solidFill>
                  <a:srgbClr val="1D2433"/>
                </a:solidFill>
                <a:latin typeface="Aptos" pitchFamily="34" charset="0"/>
                <a:ea typeface="Aptos" pitchFamily="34" charset="-122"/>
                <a:cs typeface="Aptos" pitchFamily="34" charset="-120"/>
              </a:rPr>
              <a:t>Treat external content as untrusted and bound AI usage.</a:t>
            </a:r>
            <a:endParaRPr lang="en-US" sz="1100" dirty="0"/>
          </a:p>
        </p:txBody>
      </p:sp>
      <p:sp>
        <p:nvSpPr>
          <p:cNvPr id="105" name="Shape 20">
            <a:extLst>
              <a:ext uri="{FF2B5EF4-FFF2-40B4-BE49-F238E27FC236}">
                <a16:creationId xmlns:a16="http://schemas.microsoft.com/office/drawing/2014/main" id="{B17113C4-EEAA-C3FF-44AB-4612DA03013F}"/>
              </a:ext>
            </a:extLst>
          </p:cNvPr>
          <p:cNvSpPr/>
          <p:nvPr/>
        </p:nvSpPr>
        <p:spPr>
          <a:xfrm>
            <a:off x="3538728" y="3992549"/>
            <a:ext cx="91440" cy="91440"/>
          </a:xfrm>
          <a:prstGeom prst="ellipse">
            <a:avLst/>
          </a:prstGeom>
          <a:solidFill>
            <a:srgbClr val="673AB7"/>
          </a:solidFill>
          <a:ln w="12700">
            <a:solidFill>
              <a:srgbClr val="673AB7"/>
            </a:solidFill>
            <a:prstDash val="solid"/>
          </a:ln>
        </p:spPr>
        <p:txBody>
          <a:bodyPr/>
          <a:lstStyle/>
          <a:p>
            <a:endParaRPr lang="it-IT"/>
          </a:p>
        </p:txBody>
      </p:sp>
      <p:sp>
        <p:nvSpPr>
          <p:cNvPr id="106" name="Text 21">
            <a:extLst>
              <a:ext uri="{FF2B5EF4-FFF2-40B4-BE49-F238E27FC236}">
                <a16:creationId xmlns:a16="http://schemas.microsoft.com/office/drawing/2014/main" id="{0228E75C-11B2-DF00-941B-FC328BED08D2}"/>
              </a:ext>
            </a:extLst>
          </p:cNvPr>
          <p:cNvSpPr/>
          <p:nvPr/>
        </p:nvSpPr>
        <p:spPr>
          <a:xfrm>
            <a:off x="3703320" y="3945636"/>
            <a:ext cx="2148840" cy="384048"/>
          </a:xfrm>
          <a:prstGeom prst="rect">
            <a:avLst/>
          </a:prstGeom>
          <a:noFill/>
          <a:ln/>
        </p:spPr>
        <p:txBody>
          <a:bodyPr wrap="square" lIns="381" tIns="381" rIns="381" bIns="381" rtlCol="0" anchor="t">
            <a:normAutofit/>
          </a:bodyPr>
          <a:lstStyle/>
          <a:p>
            <a:pPr marL="0" indent="0" algn="l">
              <a:buNone/>
            </a:pPr>
            <a:r>
              <a:rPr lang="en-US" sz="1100" dirty="0">
                <a:solidFill>
                  <a:srgbClr val="1D2433"/>
                </a:solidFill>
                <a:latin typeface="Aptos" pitchFamily="34" charset="0"/>
                <a:ea typeface="Aptos" pitchFamily="34" charset="-122"/>
                <a:cs typeface="Aptos" pitchFamily="34" charset="-120"/>
              </a:rPr>
              <a:t>Keep confidential data within approved regional paths.</a:t>
            </a:r>
            <a:endParaRPr lang="en-US" sz="1100" dirty="0"/>
          </a:p>
        </p:txBody>
      </p:sp>
      <p:sp>
        <p:nvSpPr>
          <p:cNvPr id="107" name="Shape 22">
            <a:extLst>
              <a:ext uri="{FF2B5EF4-FFF2-40B4-BE49-F238E27FC236}">
                <a16:creationId xmlns:a16="http://schemas.microsoft.com/office/drawing/2014/main" id="{11D35C2D-669C-93B7-3E01-B57F701B7D16}"/>
              </a:ext>
            </a:extLst>
          </p:cNvPr>
          <p:cNvSpPr/>
          <p:nvPr/>
        </p:nvSpPr>
        <p:spPr>
          <a:xfrm>
            <a:off x="6208776" y="1961388"/>
            <a:ext cx="2651760" cy="2999232"/>
          </a:xfrm>
          <a:prstGeom prst="roundRect">
            <a:avLst>
              <a:gd name="adj" fmla="val 2759"/>
            </a:avLst>
          </a:prstGeom>
          <a:solidFill>
            <a:srgbClr val="E8F7EE"/>
          </a:solidFill>
          <a:ln w="14605">
            <a:solidFill>
              <a:srgbClr val="0B9F63"/>
            </a:solidFill>
            <a:prstDash val="solid"/>
          </a:ln>
        </p:spPr>
        <p:txBody>
          <a:bodyPr/>
          <a:lstStyle/>
          <a:p>
            <a:endParaRPr lang="it-IT"/>
          </a:p>
        </p:txBody>
      </p:sp>
      <p:sp>
        <p:nvSpPr>
          <p:cNvPr id="109" name="Text 24">
            <a:extLst>
              <a:ext uri="{FF2B5EF4-FFF2-40B4-BE49-F238E27FC236}">
                <a16:creationId xmlns:a16="http://schemas.microsoft.com/office/drawing/2014/main" id="{C9C8BB2A-8349-18C6-086E-A3AADF3D91A7}"/>
              </a:ext>
            </a:extLst>
          </p:cNvPr>
          <p:cNvSpPr/>
          <p:nvPr/>
        </p:nvSpPr>
        <p:spPr>
          <a:xfrm>
            <a:off x="6373368" y="2089404"/>
            <a:ext cx="2322576" cy="210312"/>
          </a:xfrm>
          <a:prstGeom prst="rect">
            <a:avLst/>
          </a:prstGeom>
          <a:noFill/>
          <a:ln/>
        </p:spPr>
        <p:txBody>
          <a:bodyPr wrap="square" lIns="381" tIns="381" rIns="381" bIns="381" rtlCol="0" anchor="ctr">
            <a:normAutofit/>
          </a:bodyPr>
          <a:lstStyle/>
          <a:p>
            <a:pPr marL="0" indent="0" algn="l">
              <a:buNone/>
            </a:pPr>
            <a:r>
              <a:rPr lang="en-US" sz="1300" b="1" dirty="0">
                <a:solidFill>
                  <a:srgbClr val="07133D"/>
                </a:solidFill>
                <a:latin typeface="Aptos" pitchFamily="34" charset="0"/>
                <a:ea typeface="Aptos" pitchFamily="34" charset="-122"/>
                <a:cs typeface="Aptos" pitchFamily="34" charset="-120"/>
              </a:rPr>
              <a:t>3. Preserve auditability</a:t>
            </a:r>
            <a:endParaRPr lang="en-US" sz="1300" dirty="0"/>
          </a:p>
        </p:txBody>
      </p:sp>
      <p:sp>
        <p:nvSpPr>
          <p:cNvPr id="110" name="Shape 25">
            <a:extLst>
              <a:ext uri="{FF2B5EF4-FFF2-40B4-BE49-F238E27FC236}">
                <a16:creationId xmlns:a16="http://schemas.microsoft.com/office/drawing/2014/main" id="{7100274B-ED6A-11B4-D24D-A644CEC0C17A}"/>
              </a:ext>
            </a:extLst>
          </p:cNvPr>
          <p:cNvSpPr/>
          <p:nvPr/>
        </p:nvSpPr>
        <p:spPr>
          <a:xfrm>
            <a:off x="6391656" y="2767253"/>
            <a:ext cx="91440" cy="91440"/>
          </a:xfrm>
          <a:prstGeom prst="ellipse">
            <a:avLst/>
          </a:prstGeom>
          <a:solidFill>
            <a:srgbClr val="0B9F63"/>
          </a:solidFill>
          <a:ln w="12700">
            <a:solidFill>
              <a:srgbClr val="0B9F63"/>
            </a:solidFill>
            <a:prstDash val="solid"/>
          </a:ln>
        </p:spPr>
        <p:txBody>
          <a:bodyPr/>
          <a:lstStyle/>
          <a:p>
            <a:endParaRPr lang="it-IT"/>
          </a:p>
        </p:txBody>
      </p:sp>
      <p:sp>
        <p:nvSpPr>
          <p:cNvPr id="111" name="Text 26">
            <a:extLst>
              <a:ext uri="{FF2B5EF4-FFF2-40B4-BE49-F238E27FC236}">
                <a16:creationId xmlns:a16="http://schemas.microsoft.com/office/drawing/2014/main" id="{93E212E4-D6EB-9594-6D9A-91626FE936C9}"/>
              </a:ext>
            </a:extLst>
          </p:cNvPr>
          <p:cNvSpPr/>
          <p:nvPr/>
        </p:nvSpPr>
        <p:spPr>
          <a:xfrm>
            <a:off x="6556248" y="2720340"/>
            <a:ext cx="2148840" cy="384048"/>
          </a:xfrm>
          <a:prstGeom prst="rect">
            <a:avLst/>
          </a:prstGeom>
          <a:noFill/>
          <a:ln/>
        </p:spPr>
        <p:txBody>
          <a:bodyPr wrap="square" lIns="381" tIns="381" rIns="381" bIns="381" rtlCol="0" anchor="t">
            <a:noAutofit/>
          </a:bodyPr>
          <a:lstStyle/>
          <a:p>
            <a:pPr marL="0" indent="0" algn="l">
              <a:buNone/>
            </a:pPr>
            <a:r>
              <a:rPr lang="en-US" sz="1100" dirty="0">
                <a:solidFill>
                  <a:srgbClr val="1D2433"/>
                </a:solidFill>
                <a:latin typeface="Aptos" pitchFamily="34" charset="0"/>
                <a:ea typeface="Aptos" pitchFamily="34" charset="-122"/>
                <a:cs typeface="Aptos" pitchFamily="34" charset="-120"/>
              </a:rPr>
              <a:t>Keep unsampled audit records of agent runs, approvals and external actions.</a:t>
            </a:r>
            <a:endParaRPr lang="en-US" sz="1100" dirty="0"/>
          </a:p>
        </p:txBody>
      </p:sp>
      <p:sp>
        <p:nvSpPr>
          <p:cNvPr id="112" name="Shape 27">
            <a:extLst>
              <a:ext uri="{FF2B5EF4-FFF2-40B4-BE49-F238E27FC236}">
                <a16:creationId xmlns:a16="http://schemas.microsoft.com/office/drawing/2014/main" id="{5362CE11-8B4B-2DC2-683A-57CE4256B5C2}"/>
              </a:ext>
            </a:extLst>
          </p:cNvPr>
          <p:cNvSpPr/>
          <p:nvPr/>
        </p:nvSpPr>
        <p:spPr>
          <a:xfrm>
            <a:off x="6391656" y="3371950"/>
            <a:ext cx="91440" cy="91440"/>
          </a:xfrm>
          <a:prstGeom prst="ellipse">
            <a:avLst/>
          </a:prstGeom>
          <a:solidFill>
            <a:srgbClr val="0B9F63"/>
          </a:solidFill>
          <a:ln w="12700">
            <a:solidFill>
              <a:srgbClr val="0B9F63"/>
            </a:solidFill>
            <a:prstDash val="solid"/>
          </a:ln>
        </p:spPr>
        <p:txBody>
          <a:bodyPr/>
          <a:lstStyle/>
          <a:p>
            <a:endParaRPr lang="it-IT"/>
          </a:p>
        </p:txBody>
      </p:sp>
      <p:sp>
        <p:nvSpPr>
          <p:cNvPr id="113" name="Text 28">
            <a:extLst>
              <a:ext uri="{FF2B5EF4-FFF2-40B4-BE49-F238E27FC236}">
                <a16:creationId xmlns:a16="http://schemas.microsoft.com/office/drawing/2014/main" id="{20DD7900-5D9D-7503-6E48-B6E3A6C76925}"/>
              </a:ext>
            </a:extLst>
          </p:cNvPr>
          <p:cNvSpPr/>
          <p:nvPr/>
        </p:nvSpPr>
        <p:spPr>
          <a:xfrm>
            <a:off x="6556248" y="3332988"/>
            <a:ext cx="2148840" cy="384048"/>
          </a:xfrm>
          <a:prstGeom prst="rect">
            <a:avLst/>
          </a:prstGeom>
          <a:noFill/>
          <a:ln/>
        </p:spPr>
        <p:txBody>
          <a:bodyPr wrap="square" lIns="381" tIns="381" rIns="381" bIns="381" rtlCol="0" anchor="t">
            <a:normAutofit/>
          </a:bodyPr>
          <a:lstStyle/>
          <a:p>
            <a:pPr marL="0" indent="0" algn="l">
              <a:buNone/>
            </a:pPr>
            <a:r>
              <a:rPr lang="en-US" sz="1100" dirty="0">
                <a:solidFill>
                  <a:srgbClr val="1D2433"/>
                </a:solidFill>
                <a:latin typeface="Aptos" pitchFamily="34" charset="0"/>
                <a:ea typeface="Aptos" pitchFamily="34" charset="-122"/>
                <a:cs typeface="Aptos" pitchFamily="34" charset="-120"/>
              </a:rPr>
              <a:t>Correlate logs and traces by journey/operation ID.</a:t>
            </a:r>
            <a:endParaRPr lang="en-US" sz="1100" dirty="0"/>
          </a:p>
        </p:txBody>
      </p:sp>
      <p:sp>
        <p:nvSpPr>
          <p:cNvPr id="114" name="Shape 29">
            <a:extLst>
              <a:ext uri="{FF2B5EF4-FFF2-40B4-BE49-F238E27FC236}">
                <a16:creationId xmlns:a16="http://schemas.microsoft.com/office/drawing/2014/main" id="{E2CB3560-EB81-8963-7282-C503C1588915}"/>
              </a:ext>
            </a:extLst>
          </p:cNvPr>
          <p:cNvSpPr/>
          <p:nvPr/>
        </p:nvSpPr>
        <p:spPr>
          <a:xfrm>
            <a:off x="6391656" y="3992549"/>
            <a:ext cx="91440" cy="91440"/>
          </a:xfrm>
          <a:prstGeom prst="ellipse">
            <a:avLst/>
          </a:prstGeom>
          <a:solidFill>
            <a:srgbClr val="0B9F63"/>
          </a:solidFill>
          <a:ln w="12700">
            <a:solidFill>
              <a:srgbClr val="0B9F63"/>
            </a:solidFill>
            <a:prstDash val="solid"/>
          </a:ln>
        </p:spPr>
        <p:txBody>
          <a:bodyPr/>
          <a:lstStyle/>
          <a:p>
            <a:endParaRPr lang="it-IT"/>
          </a:p>
        </p:txBody>
      </p:sp>
      <p:sp>
        <p:nvSpPr>
          <p:cNvPr id="115" name="Text 30">
            <a:extLst>
              <a:ext uri="{FF2B5EF4-FFF2-40B4-BE49-F238E27FC236}">
                <a16:creationId xmlns:a16="http://schemas.microsoft.com/office/drawing/2014/main" id="{0CE4D8E0-B78A-54F8-C4BD-5A35FC3A12DF}"/>
              </a:ext>
            </a:extLst>
          </p:cNvPr>
          <p:cNvSpPr/>
          <p:nvPr/>
        </p:nvSpPr>
        <p:spPr>
          <a:xfrm>
            <a:off x="6556248" y="3945636"/>
            <a:ext cx="2148840" cy="384048"/>
          </a:xfrm>
          <a:prstGeom prst="rect">
            <a:avLst/>
          </a:prstGeom>
          <a:noFill/>
          <a:ln/>
        </p:spPr>
        <p:txBody>
          <a:bodyPr wrap="square" lIns="381" tIns="381" rIns="381" bIns="381" rtlCol="0" anchor="t">
            <a:normAutofit/>
          </a:bodyPr>
          <a:lstStyle/>
          <a:p>
            <a:pPr marL="0" indent="0" algn="l">
              <a:buNone/>
            </a:pPr>
            <a:r>
              <a:rPr lang="en-US" sz="1100" dirty="0">
                <a:solidFill>
                  <a:srgbClr val="1D2433"/>
                </a:solidFill>
                <a:latin typeface="Aptos" pitchFamily="34" charset="0"/>
                <a:ea typeface="Aptos" pitchFamily="34" charset="-122"/>
                <a:cs typeface="Aptos" pitchFamily="34" charset="-120"/>
              </a:rPr>
              <a:t>Redact personal data and tokens; define retention and deletion.</a:t>
            </a:r>
            <a:endParaRPr lang="en-US" sz="1100" dirty="0"/>
          </a:p>
        </p:txBody>
      </p:sp>
      <p:sp>
        <p:nvSpPr>
          <p:cNvPr id="116" name="Shape 31">
            <a:extLst>
              <a:ext uri="{FF2B5EF4-FFF2-40B4-BE49-F238E27FC236}">
                <a16:creationId xmlns:a16="http://schemas.microsoft.com/office/drawing/2014/main" id="{0BD406E1-276F-60B2-BBB3-AD6DB5E132EE}"/>
              </a:ext>
            </a:extLst>
          </p:cNvPr>
          <p:cNvSpPr/>
          <p:nvPr/>
        </p:nvSpPr>
        <p:spPr>
          <a:xfrm>
            <a:off x="9061704" y="1961388"/>
            <a:ext cx="2651760" cy="2999232"/>
          </a:xfrm>
          <a:prstGeom prst="roundRect">
            <a:avLst>
              <a:gd name="adj" fmla="val 2759"/>
            </a:avLst>
          </a:prstGeom>
          <a:solidFill>
            <a:srgbClr val="E5F5F4"/>
          </a:solidFill>
          <a:ln w="14605">
            <a:solidFill>
              <a:srgbClr val="0F766E"/>
            </a:solidFill>
            <a:prstDash val="solid"/>
          </a:ln>
        </p:spPr>
        <p:txBody>
          <a:bodyPr/>
          <a:lstStyle/>
          <a:p>
            <a:endParaRPr lang="it-IT"/>
          </a:p>
        </p:txBody>
      </p:sp>
      <p:sp>
        <p:nvSpPr>
          <p:cNvPr id="118" name="Text 33">
            <a:extLst>
              <a:ext uri="{FF2B5EF4-FFF2-40B4-BE49-F238E27FC236}">
                <a16:creationId xmlns:a16="http://schemas.microsoft.com/office/drawing/2014/main" id="{AC002430-517F-5619-4200-46F6FCF6E316}"/>
              </a:ext>
            </a:extLst>
          </p:cNvPr>
          <p:cNvSpPr/>
          <p:nvPr/>
        </p:nvSpPr>
        <p:spPr>
          <a:xfrm>
            <a:off x="9226296" y="2089404"/>
            <a:ext cx="2322576" cy="210312"/>
          </a:xfrm>
          <a:prstGeom prst="rect">
            <a:avLst/>
          </a:prstGeom>
          <a:noFill/>
          <a:ln/>
        </p:spPr>
        <p:txBody>
          <a:bodyPr wrap="square" lIns="381" tIns="381" rIns="381" bIns="381" rtlCol="0" anchor="ctr">
            <a:normAutofit/>
          </a:bodyPr>
          <a:lstStyle/>
          <a:p>
            <a:pPr marL="0" indent="0" algn="l">
              <a:buNone/>
            </a:pPr>
            <a:r>
              <a:rPr lang="en-US" sz="1300" b="1" dirty="0">
                <a:solidFill>
                  <a:srgbClr val="07133D"/>
                </a:solidFill>
                <a:latin typeface="Aptos" pitchFamily="34" charset="0"/>
                <a:ea typeface="Aptos" pitchFamily="34" charset="-122"/>
                <a:cs typeface="Aptos" pitchFamily="34" charset="-120"/>
              </a:rPr>
              <a:t>4. Operate daily</a:t>
            </a:r>
            <a:endParaRPr lang="en-US" sz="1300" dirty="0"/>
          </a:p>
        </p:txBody>
      </p:sp>
      <p:sp>
        <p:nvSpPr>
          <p:cNvPr id="120" name="Shape 35">
            <a:extLst>
              <a:ext uri="{FF2B5EF4-FFF2-40B4-BE49-F238E27FC236}">
                <a16:creationId xmlns:a16="http://schemas.microsoft.com/office/drawing/2014/main" id="{118194B0-77D4-2923-42D7-3EC500037B92}"/>
              </a:ext>
            </a:extLst>
          </p:cNvPr>
          <p:cNvSpPr/>
          <p:nvPr/>
        </p:nvSpPr>
        <p:spPr>
          <a:xfrm>
            <a:off x="9244584" y="2786734"/>
            <a:ext cx="91440" cy="91440"/>
          </a:xfrm>
          <a:prstGeom prst="ellipse">
            <a:avLst/>
          </a:prstGeom>
          <a:solidFill>
            <a:srgbClr val="0F766E"/>
          </a:solidFill>
          <a:ln w="12700">
            <a:solidFill>
              <a:srgbClr val="0F766E"/>
            </a:solidFill>
            <a:prstDash val="solid"/>
          </a:ln>
        </p:spPr>
        <p:txBody>
          <a:bodyPr/>
          <a:lstStyle/>
          <a:p>
            <a:endParaRPr lang="it-IT"/>
          </a:p>
        </p:txBody>
      </p:sp>
      <p:sp>
        <p:nvSpPr>
          <p:cNvPr id="121" name="Text 36">
            <a:extLst>
              <a:ext uri="{FF2B5EF4-FFF2-40B4-BE49-F238E27FC236}">
                <a16:creationId xmlns:a16="http://schemas.microsoft.com/office/drawing/2014/main" id="{A4802EF8-1E03-654A-0FA2-363662D51569}"/>
              </a:ext>
            </a:extLst>
          </p:cNvPr>
          <p:cNvSpPr/>
          <p:nvPr/>
        </p:nvSpPr>
        <p:spPr>
          <a:xfrm>
            <a:off x="9409176" y="2747772"/>
            <a:ext cx="2148840" cy="384048"/>
          </a:xfrm>
          <a:prstGeom prst="rect">
            <a:avLst/>
          </a:prstGeom>
          <a:noFill/>
          <a:ln/>
        </p:spPr>
        <p:txBody>
          <a:bodyPr wrap="square" lIns="381" tIns="381" rIns="381" bIns="381" rtlCol="0" anchor="t">
            <a:noAutofit/>
          </a:bodyPr>
          <a:lstStyle/>
          <a:p>
            <a:pPr marL="0" indent="0" algn="l">
              <a:buNone/>
            </a:pPr>
            <a:r>
              <a:rPr lang="en-US" sz="1100" b="1" dirty="0">
                <a:solidFill>
                  <a:srgbClr val="1D2433"/>
                </a:solidFill>
                <a:latin typeface="Aptos" pitchFamily="34" charset="0"/>
                <a:ea typeface="Aptos" pitchFamily="34" charset="-122"/>
                <a:cs typeface="Aptos" pitchFamily="34" charset="-120"/>
              </a:rPr>
              <a:t>Service dashboard</a:t>
            </a:r>
            <a:r>
              <a:rPr lang="en-US" sz="1100" dirty="0">
                <a:solidFill>
                  <a:srgbClr val="1D2433"/>
                </a:solidFill>
                <a:latin typeface="Aptos" pitchFamily="34" charset="0"/>
                <a:ea typeface="Aptos" pitchFamily="34" charset="-122"/>
                <a:cs typeface="Aptos" pitchFamily="34" charset="-120"/>
              </a:rPr>
              <a:t>: availability, latency, errors and infrastructure health.</a:t>
            </a:r>
            <a:endParaRPr lang="en-US" sz="1100" dirty="0"/>
          </a:p>
        </p:txBody>
      </p:sp>
      <p:sp>
        <p:nvSpPr>
          <p:cNvPr id="122" name="Shape 37">
            <a:extLst>
              <a:ext uri="{FF2B5EF4-FFF2-40B4-BE49-F238E27FC236}">
                <a16:creationId xmlns:a16="http://schemas.microsoft.com/office/drawing/2014/main" id="{FF6206F7-58B6-73A0-6E09-8FC0DC27C5C7}"/>
              </a:ext>
            </a:extLst>
          </p:cNvPr>
          <p:cNvSpPr/>
          <p:nvPr/>
        </p:nvSpPr>
        <p:spPr>
          <a:xfrm>
            <a:off x="9244584" y="3407333"/>
            <a:ext cx="91440" cy="91440"/>
          </a:xfrm>
          <a:prstGeom prst="ellipse">
            <a:avLst/>
          </a:prstGeom>
          <a:solidFill>
            <a:srgbClr val="0F766E"/>
          </a:solidFill>
          <a:ln w="12700">
            <a:solidFill>
              <a:srgbClr val="0F766E"/>
            </a:solidFill>
            <a:prstDash val="solid"/>
          </a:ln>
        </p:spPr>
        <p:txBody>
          <a:bodyPr/>
          <a:lstStyle/>
          <a:p>
            <a:endParaRPr lang="it-IT"/>
          </a:p>
        </p:txBody>
      </p:sp>
      <p:sp>
        <p:nvSpPr>
          <p:cNvPr id="123" name="Text 38">
            <a:extLst>
              <a:ext uri="{FF2B5EF4-FFF2-40B4-BE49-F238E27FC236}">
                <a16:creationId xmlns:a16="http://schemas.microsoft.com/office/drawing/2014/main" id="{5E664754-8CBB-22AC-5097-67B3FA03D1CB}"/>
              </a:ext>
            </a:extLst>
          </p:cNvPr>
          <p:cNvSpPr/>
          <p:nvPr/>
        </p:nvSpPr>
        <p:spPr>
          <a:xfrm>
            <a:off x="9409176" y="3360420"/>
            <a:ext cx="2148840" cy="384048"/>
          </a:xfrm>
          <a:prstGeom prst="rect">
            <a:avLst/>
          </a:prstGeom>
          <a:noFill/>
          <a:ln/>
        </p:spPr>
        <p:txBody>
          <a:bodyPr wrap="square" lIns="381" tIns="381" rIns="381" bIns="381" rtlCol="0" anchor="t">
            <a:noAutofit/>
          </a:bodyPr>
          <a:lstStyle/>
          <a:p>
            <a:pPr marL="0" indent="0" algn="l">
              <a:buNone/>
            </a:pPr>
            <a:r>
              <a:rPr lang="en-US" sz="1100" b="1" dirty="0">
                <a:solidFill>
                  <a:srgbClr val="1D2433"/>
                </a:solidFill>
                <a:latin typeface="Aptos" pitchFamily="34" charset="0"/>
                <a:ea typeface="Aptos" pitchFamily="34" charset="-122"/>
                <a:cs typeface="Aptos" pitchFamily="34" charset="-120"/>
              </a:rPr>
              <a:t>Journey dashboard</a:t>
            </a:r>
            <a:r>
              <a:rPr lang="en-US" sz="1100" dirty="0">
                <a:solidFill>
                  <a:srgbClr val="1D2433"/>
                </a:solidFill>
                <a:latin typeface="Aptos" pitchFamily="34" charset="0"/>
                <a:ea typeface="Aptos" pitchFamily="34" charset="-122"/>
                <a:cs typeface="Aptos" pitchFamily="34" charset="-120"/>
              </a:rPr>
              <a:t>: queue/outbox age, stalled journeys, uncertain outcomes and provider throttling.</a:t>
            </a:r>
            <a:endParaRPr lang="en-US" sz="1100" dirty="0"/>
          </a:p>
        </p:txBody>
      </p:sp>
      <p:sp>
        <p:nvSpPr>
          <p:cNvPr id="126" name="Shape 41">
            <a:extLst>
              <a:ext uri="{FF2B5EF4-FFF2-40B4-BE49-F238E27FC236}">
                <a16:creationId xmlns:a16="http://schemas.microsoft.com/office/drawing/2014/main" id="{1705151D-5139-54EB-2C16-7DC4BEA4A46D}"/>
              </a:ext>
            </a:extLst>
          </p:cNvPr>
          <p:cNvSpPr/>
          <p:nvPr/>
        </p:nvSpPr>
        <p:spPr>
          <a:xfrm>
            <a:off x="2284012" y="5349240"/>
            <a:ext cx="7782339" cy="475488"/>
          </a:xfrm>
          <a:prstGeom prst="roundRect">
            <a:avLst>
              <a:gd name="adj" fmla="val 9615"/>
            </a:avLst>
          </a:prstGeom>
          <a:solidFill>
            <a:srgbClr val="F8FAFC"/>
          </a:solidFill>
          <a:ln w="12700">
            <a:solidFill>
              <a:srgbClr val="D6DEE9"/>
            </a:solidFill>
            <a:prstDash val="solid"/>
          </a:ln>
        </p:spPr>
        <p:txBody>
          <a:bodyPr/>
          <a:lstStyle/>
          <a:p>
            <a:endParaRPr lang="it-IT"/>
          </a:p>
        </p:txBody>
      </p:sp>
      <p:sp>
        <p:nvSpPr>
          <p:cNvPr id="127" name="Text 42">
            <a:extLst>
              <a:ext uri="{FF2B5EF4-FFF2-40B4-BE49-F238E27FC236}">
                <a16:creationId xmlns:a16="http://schemas.microsoft.com/office/drawing/2014/main" id="{DDB74AC0-C018-BF62-4632-A25FD77CE64A}"/>
              </a:ext>
            </a:extLst>
          </p:cNvPr>
          <p:cNvSpPr/>
          <p:nvPr/>
        </p:nvSpPr>
        <p:spPr>
          <a:xfrm>
            <a:off x="2466892" y="5509260"/>
            <a:ext cx="10744200" cy="155448"/>
          </a:xfrm>
          <a:prstGeom prst="rect">
            <a:avLst/>
          </a:prstGeom>
          <a:noFill/>
          <a:ln/>
        </p:spPr>
        <p:txBody>
          <a:bodyPr wrap="square" lIns="0" tIns="0" rIns="0" bIns="0" rtlCol="0" anchor="t">
            <a:normAutofit lnSpcReduction="10000"/>
          </a:bodyPr>
          <a:lstStyle/>
          <a:p>
            <a:pPr marL="0" indent="0" algn="l">
              <a:buNone/>
            </a:pPr>
            <a:r>
              <a:rPr lang="en-US" sz="1040" b="1" dirty="0">
                <a:solidFill>
                  <a:srgbClr val="07133D"/>
                </a:solidFill>
                <a:latin typeface="Aptos" pitchFamily="34" charset="0"/>
                <a:ea typeface="Aptos" pitchFamily="34" charset="-122"/>
                <a:cs typeface="Aptos" pitchFamily="34" charset="-120"/>
              </a:rPr>
              <a:t>Telemetry: </a:t>
            </a:r>
            <a:r>
              <a:rPr lang="en-US" sz="1040" dirty="0">
                <a:solidFill>
                  <a:srgbClr val="1D2433"/>
                </a:solidFill>
                <a:latin typeface="Aptos" pitchFamily="34" charset="0"/>
                <a:ea typeface="Aptos" pitchFamily="34" charset="-122"/>
                <a:cs typeface="Aptos" pitchFamily="34" charset="-120"/>
              </a:rPr>
              <a:t>application logs + service/infrastructure metrics + OpenTelemetry traces → regional monitoring, dashboards and alarms</a:t>
            </a:r>
            <a:endParaRPr lang="en-US" sz="10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27EC8E-BE06-5D4A-9F48-EB3C32D5A66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459AA9E-A5F2-9218-7964-67786B354EBC}"/>
              </a:ext>
            </a:extLst>
          </p:cNvPr>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sp>
        <p:nvSpPr>
          <p:cNvPr id="3" name="Text 1">
            <a:extLst>
              <a:ext uri="{FF2B5EF4-FFF2-40B4-BE49-F238E27FC236}">
                <a16:creationId xmlns:a16="http://schemas.microsoft.com/office/drawing/2014/main" id="{B7550EBF-5884-5D21-7DE0-B03D716090FD}"/>
              </a:ext>
            </a:extLst>
          </p:cNvPr>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Security, observability and operational responsibility</a:t>
            </a:r>
            <a:endParaRPr lang="en-US" sz="2750" dirty="0"/>
          </a:p>
        </p:txBody>
      </p:sp>
      <p:sp>
        <p:nvSpPr>
          <p:cNvPr id="4" name="Shape 2">
            <a:extLst>
              <a:ext uri="{FF2B5EF4-FFF2-40B4-BE49-F238E27FC236}">
                <a16:creationId xmlns:a16="http://schemas.microsoft.com/office/drawing/2014/main" id="{4466CFA0-69A0-AB9F-697E-72F8896276E9}"/>
              </a:ext>
            </a:extLst>
          </p:cNvPr>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5" name="Shape 3">
            <a:extLst>
              <a:ext uri="{FF2B5EF4-FFF2-40B4-BE49-F238E27FC236}">
                <a16:creationId xmlns:a16="http://schemas.microsoft.com/office/drawing/2014/main" id="{1845DCDC-BF44-7A5D-83F3-B88BBC06A56E}"/>
              </a:ext>
            </a:extLst>
          </p:cNvPr>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6" name="Text 4">
            <a:extLst>
              <a:ext uri="{FF2B5EF4-FFF2-40B4-BE49-F238E27FC236}">
                <a16:creationId xmlns:a16="http://schemas.microsoft.com/office/drawing/2014/main" id="{A1BAC6D9-FE62-F680-85B2-661EE4F188B8}"/>
              </a:ext>
            </a:extLst>
          </p:cNvPr>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6/10</a:t>
            </a:r>
            <a:endParaRPr lang="en-US" sz="850" dirty="0"/>
          </a:p>
        </p:txBody>
      </p:sp>
      <p:sp>
        <p:nvSpPr>
          <p:cNvPr id="89" name="Shape 4">
            <a:extLst>
              <a:ext uri="{FF2B5EF4-FFF2-40B4-BE49-F238E27FC236}">
                <a16:creationId xmlns:a16="http://schemas.microsoft.com/office/drawing/2014/main" id="{CE40BE03-0A80-7F21-A409-7EA3567A4F16}"/>
              </a:ext>
            </a:extLst>
          </p:cNvPr>
          <p:cNvSpPr/>
          <p:nvPr/>
        </p:nvSpPr>
        <p:spPr>
          <a:xfrm>
            <a:off x="502920" y="1508760"/>
            <a:ext cx="2651760" cy="2999232"/>
          </a:xfrm>
          <a:prstGeom prst="roundRect">
            <a:avLst>
              <a:gd name="adj" fmla="val 2759"/>
            </a:avLst>
          </a:prstGeom>
          <a:solidFill>
            <a:srgbClr val="EAF5FF"/>
          </a:solidFill>
          <a:ln w="14605">
            <a:solidFill>
              <a:srgbClr val="0B63E5"/>
            </a:solidFill>
            <a:prstDash val="solid"/>
          </a:ln>
        </p:spPr>
        <p:txBody>
          <a:bodyPr/>
          <a:lstStyle/>
          <a:p>
            <a:endParaRPr lang="it-IT"/>
          </a:p>
        </p:txBody>
      </p:sp>
      <p:sp>
        <p:nvSpPr>
          <p:cNvPr id="91" name="Text 6">
            <a:extLst>
              <a:ext uri="{FF2B5EF4-FFF2-40B4-BE49-F238E27FC236}">
                <a16:creationId xmlns:a16="http://schemas.microsoft.com/office/drawing/2014/main" id="{66BD4F2C-23AD-FF34-C0EE-40C6B55AAF87}"/>
              </a:ext>
            </a:extLst>
          </p:cNvPr>
          <p:cNvSpPr/>
          <p:nvPr/>
        </p:nvSpPr>
        <p:spPr>
          <a:xfrm>
            <a:off x="667512" y="1636776"/>
            <a:ext cx="2322576" cy="210312"/>
          </a:xfrm>
          <a:prstGeom prst="rect">
            <a:avLst/>
          </a:prstGeom>
          <a:noFill/>
          <a:ln/>
        </p:spPr>
        <p:txBody>
          <a:bodyPr wrap="square" lIns="381" tIns="381" rIns="381" bIns="381" rtlCol="0" anchor="ctr">
            <a:normAutofit/>
          </a:bodyPr>
          <a:lstStyle/>
          <a:p>
            <a:pPr marL="0" indent="0" algn="l">
              <a:buNone/>
            </a:pPr>
            <a:r>
              <a:rPr lang="en-US" sz="1300" b="1" dirty="0">
                <a:solidFill>
                  <a:srgbClr val="07133D"/>
                </a:solidFill>
                <a:latin typeface="Aptos" pitchFamily="34" charset="0"/>
                <a:ea typeface="Aptos" pitchFamily="34" charset="-122"/>
                <a:cs typeface="Aptos" pitchFamily="34" charset="-120"/>
              </a:rPr>
              <a:t>1. Protect access</a:t>
            </a:r>
            <a:endParaRPr lang="en-US" sz="1300" dirty="0"/>
          </a:p>
        </p:txBody>
      </p:sp>
      <p:sp>
        <p:nvSpPr>
          <p:cNvPr id="92" name="Shape 7">
            <a:extLst>
              <a:ext uri="{FF2B5EF4-FFF2-40B4-BE49-F238E27FC236}">
                <a16:creationId xmlns:a16="http://schemas.microsoft.com/office/drawing/2014/main" id="{6E698AE5-BA48-64F7-A15E-B5C4CFFB7F07}"/>
              </a:ext>
            </a:extLst>
          </p:cNvPr>
          <p:cNvSpPr/>
          <p:nvPr/>
        </p:nvSpPr>
        <p:spPr>
          <a:xfrm>
            <a:off x="685800" y="2306674"/>
            <a:ext cx="91440" cy="91440"/>
          </a:xfrm>
          <a:prstGeom prst="ellipse">
            <a:avLst/>
          </a:prstGeom>
          <a:solidFill>
            <a:srgbClr val="0B63E5"/>
          </a:solidFill>
          <a:ln w="12700">
            <a:solidFill>
              <a:srgbClr val="0B63E5"/>
            </a:solidFill>
            <a:prstDash val="solid"/>
          </a:ln>
        </p:spPr>
        <p:txBody>
          <a:bodyPr/>
          <a:lstStyle/>
          <a:p>
            <a:endParaRPr lang="it-IT"/>
          </a:p>
        </p:txBody>
      </p:sp>
      <p:sp>
        <p:nvSpPr>
          <p:cNvPr id="93" name="Text 8">
            <a:extLst>
              <a:ext uri="{FF2B5EF4-FFF2-40B4-BE49-F238E27FC236}">
                <a16:creationId xmlns:a16="http://schemas.microsoft.com/office/drawing/2014/main" id="{720BBE50-92B0-9846-1E02-D1962673E112}"/>
              </a:ext>
            </a:extLst>
          </p:cNvPr>
          <p:cNvSpPr/>
          <p:nvPr/>
        </p:nvSpPr>
        <p:spPr>
          <a:xfrm>
            <a:off x="850392" y="2267712"/>
            <a:ext cx="2148840" cy="384048"/>
          </a:xfrm>
          <a:prstGeom prst="rect">
            <a:avLst/>
          </a:prstGeom>
          <a:noFill/>
          <a:ln/>
        </p:spPr>
        <p:txBody>
          <a:bodyPr wrap="square" lIns="381" tIns="381" rIns="381" bIns="381" rtlCol="0" anchor="t">
            <a:normAutofit/>
          </a:bodyPr>
          <a:lstStyle/>
          <a:p>
            <a:pPr marL="0" indent="0" algn="l">
              <a:buNone/>
            </a:pPr>
            <a:r>
              <a:rPr lang="en-US" sz="1100" dirty="0">
                <a:solidFill>
                  <a:srgbClr val="1D2433"/>
                </a:solidFill>
                <a:latin typeface="Aptos" pitchFamily="34" charset="0"/>
                <a:ea typeface="Aptos" pitchFamily="34" charset="-122"/>
                <a:cs typeface="Aptos" pitchFamily="34" charset="-120"/>
              </a:rPr>
              <a:t>Authenticate customers, operators and provider callbacks.</a:t>
            </a:r>
            <a:endParaRPr lang="en-US" sz="1100" dirty="0"/>
          </a:p>
        </p:txBody>
      </p:sp>
      <p:sp>
        <p:nvSpPr>
          <p:cNvPr id="94" name="Shape 9">
            <a:extLst>
              <a:ext uri="{FF2B5EF4-FFF2-40B4-BE49-F238E27FC236}">
                <a16:creationId xmlns:a16="http://schemas.microsoft.com/office/drawing/2014/main" id="{BF377025-03BC-C54D-3578-D0051349EF6A}"/>
              </a:ext>
            </a:extLst>
          </p:cNvPr>
          <p:cNvSpPr/>
          <p:nvPr/>
        </p:nvSpPr>
        <p:spPr>
          <a:xfrm>
            <a:off x="685800" y="2919322"/>
            <a:ext cx="91440" cy="91440"/>
          </a:xfrm>
          <a:prstGeom prst="ellipse">
            <a:avLst/>
          </a:prstGeom>
          <a:solidFill>
            <a:srgbClr val="0B63E5"/>
          </a:solidFill>
          <a:ln w="12700">
            <a:solidFill>
              <a:srgbClr val="0B63E5"/>
            </a:solidFill>
            <a:prstDash val="solid"/>
          </a:ln>
        </p:spPr>
        <p:txBody>
          <a:bodyPr/>
          <a:lstStyle/>
          <a:p>
            <a:endParaRPr lang="it-IT"/>
          </a:p>
        </p:txBody>
      </p:sp>
      <p:sp>
        <p:nvSpPr>
          <p:cNvPr id="95" name="Text 10">
            <a:extLst>
              <a:ext uri="{FF2B5EF4-FFF2-40B4-BE49-F238E27FC236}">
                <a16:creationId xmlns:a16="http://schemas.microsoft.com/office/drawing/2014/main" id="{59E183CE-ECB4-7CFD-8800-D94641946040}"/>
              </a:ext>
            </a:extLst>
          </p:cNvPr>
          <p:cNvSpPr/>
          <p:nvPr/>
        </p:nvSpPr>
        <p:spPr>
          <a:xfrm>
            <a:off x="850392" y="2880360"/>
            <a:ext cx="2148840" cy="384048"/>
          </a:xfrm>
          <a:prstGeom prst="rect">
            <a:avLst/>
          </a:prstGeom>
          <a:noFill/>
          <a:ln/>
        </p:spPr>
        <p:txBody>
          <a:bodyPr wrap="square" lIns="381" tIns="381" rIns="381" bIns="381" rtlCol="0" anchor="t">
            <a:noAutofit/>
          </a:bodyPr>
          <a:lstStyle/>
          <a:p>
            <a:pPr marL="0" indent="0" algn="l">
              <a:buNone/>
            </a:pPr>
            <a:r>
              <a:rPr lang="en-US" sz="1100" dirty="0">
                <a:solidFill>
                  <a:srgbClr val="1D2433"/>
                </a:solidFill>
                <a:latin typeface="Aptos" pitchFamily="34" charset="0"/>
                <a:ea typeface="Aptos" pitchFamily="34" charset="-122"/>
                <a:cs typeface="Aptos" pitchFamily="34" charset="-120"/>
              </a:rPr>
              <a:t>Keep workloads and databases private; expose API via TLS/WAF/ALB.</a:t>
            </a:r>
            <a:endParaRPr lang="en-US" sz="1100" dirty="0"/>
          </a:p>
        </p:txBody>
      </p:sp>
      <p:sp>
        <p:nvSpPr>
          <p:cNvPr id="96" name="Shape 11">
            <a:extLst>
              <a:ext uri="{FF2B5EF4-FFF2-40B4-BE49-F238E27FC236}">
                <a16:creationId xmlns:a16="http://schemas.microsoft.com/office/drawing/2014/main" id="{07D27B39-B9AE-A5F3-5861-AAE4290F61A7}"/>
              </a:ext>
            </a:extLst>
          </p:cNvPr>
          <p:cNvSpPr/>
          <p:nvPr/>
        </p:nvSpPr>
        <p:spPr>
          <a:xfrm>
            <a:off x="685800" y="3531970"/>
            <a:ext cx="91440" cy="91440"/>
          </a:xfrm>
          <a:prstGeom prst="ellipse">
            <a:avLst/>
          </a:prstGeom>
          <a:solidFill>
            <a:srgbClr val="0B63E5"/>
          </a:solidFill>
          <a:ln w="12700">
            <a:solidFill>
              <a:srgbClr val="0B63E5"/>
            </a:solidFill>
            <a:prstDash val="solid"/>
          </a:ln>
        </p:spPr>
        <p:txBody>
          <a:bodyPr/>
          <a:lstStyle/>
          <a:p>
            <a:endParaRPr lang="it-IT"/>
          </a:p>
        </p:txBody>
      </p:sp>
      <p:sp>
        <p:nvSpPr>
          <p:cNvPr id="97" name="Text 12">
            <a:extLst>
              <a:ext uri="{FF2B5EF4-FFF2-40B4-BE49-F238E27FC236}">
                <a16:creationId xmlns:a16="http://schemas.microsoft.com/office/drawing/2014/main" id="{0070F691-6CAA-41A6-106D-3462FEBE336B}"/>
              </a:ext>
            </a:extLst>
          </p:cNvPr>
          <p:cNvSpPr/>
          <p:nvPr/>
        </p:nvSpPr>
        <p:spPr>
          <a:xfrm>
            <a:off x="850392" y="3493008"/>
            <a:ext cx="2148840" cy="384048"/>
          </a:xfrm>
          <a:prstGeom prst="rect">
            <a:avLst/>
          </a:prstGeom>
          <a:noFill/>
          <a:ln/>
        </p:spPr>
        <p:txBody>
          <a:bodyPr wrap="square" lIns="381" tIns="381" rIns="381" bIns="381" rtlCol="0" anchor="t">
            <a:normAutofit/>
          </a:bodyPr>
          <a:lstStyle/>
          <a:p>
            <a:pPr marL="0" indent="0" algn="l">
              <a:buNone/>
            </a:pPr>
            <a:r>
              <a:rPr lang="en-US" sz="1100" dirty="0">
                <a:solidFill>
                  <a:srgbClr val="1D2433"/>
                </a:solidFill>
                <a:latin typeface="Aptos" pitchFamily="34" charset="0"/>
                <a:ea typeface="Aptos" pitchFamily="34" charset="-122"/>
                <a:cs typeface="Aptos" pitchFamily="34" charset="-120"/>
              </a:rPr>
              <a:t>Enforce journey ownership and least-privilege access.</a:t>
            </a:r>
            <a:endParaRPr lang="en-US" sz="1100" dirty="0"/>
          </a:p>
        </p:txBody>
      </p:sp>
      <p:sp>
        <p:nvSpPr>
          <p:cNvPr id="98" name="Shape 13">
            <a:extLst>
              <a:ext uri="{FF2B5EF4-FFF2-40B4-BE49-F238E27FC236}">
                <a16:creationId xmlns:a16="http://schemas.microsoft.com/office/drawing/2014/main" id="{7C224DE2-A70D-B395-E013-D4D5CB44C8C8}"/>
              </a:ext>
            </a:extLst>
          </p:cNvPr>
          <p:cNvSpPr/>
          <p:nvPr/>
        </p:nvSpPr>
        <p:spPr>
          <a:xfrm>
            <a:off x="3355848" y="1508760"/>
            <a:ext cx="2651760" cy="2999232"/>
          </a:xfrm>
          <a:prstGeom prst="roundRect">
            <a:avLst>
              <a:gd name="adj" fmla="val 2759"/>
            </a:avLst>
          </a:prstGeom>
          <a:solidFill>
            <a:srgbClr val="F1ECFF"/>
          </a:solidFill>
          <a:ln w="14605">
            <a:solidFill>
              <a:srgbClr val="673AB7"/>
            </a:solidFill>
            <a:prstDash val="solid"/>
          </a:ln>
        </p:spPr>
        <p:txBody>
          <a:bodyPr/>
          <a:lstStyle/>
          <a:p>
            <a:endParaRPr lang="it-IT"/>
          </a:p>
        </p:txBody>
      </p:sp>
      <p:sp>
        <p:nvSpPr>
          <p:cNvPr id="100" name="Text 15">
            <a:extLst>
              <a:ext uri="{FF2B5EF4-FFF2-40B4-BE49-F238E27FC236}">
                <a16:creationId xmlns:a16="http://schemas.microsoft.com/office/drawing/2014/main" id="{1072EFA8-834D-0597-3A93-048D69454377}"/>
              </a:ext>
            </a:extLst>
          </p:cNvPr>
          <p:cNvSpPr/>
          <p:nvPr/>
        </p:nvSpPr>
        <p:spPr>
          <a:xfrm>
            <a:off x="3520440" y="1636776"/>
            <a:ext cx="2322576" cy="210312"/>
          </a:xfrm>
          <a:prstGeom prst="rect">
            <a:avLst/>
          </a:prstGeom>
          <a:noFill/>
          <a:ln/>
        </p:spPr>
        <p:txBody>
          <a:bodyPr wrap="square" lIns="381" tIns="381" rIns="381" bIns="381" rtlCol="0" anchor="ctr">
            <a:normAutofit/>
          </a:bodyPr>
          <a:lstStyle/>
          <a:p>
            <a:pPr marL="0" indent="0" algn="l">
              <a:buNone/>
            </a:pPr>
            <a:r>
              <a:rPr lang="en-US" sz="1300" b="1" dirty="0">
                <a:solidFill>
                  <a:srgbClr val="07133D"/>
                </a:solidFill>
                <a:latin typeface="Aptos" pitchFamily="34" charset="0"/>
                <a:ea typeface="Aptos" pitchFamily="34" charset="-122"/>
                <a:cs typeface="Aptos" pitchFamily="34" charset="-120"/>
              </a:rPr>
              <a:t>2. Constrain AI &amp; data</a:t>
            </a:r>
            <a:endParaRPr lang="en-US" sz="1300" dirty="0"/>
          </a:p>
        </p:txBody>
      </p:sp>
      <p:sp>
        <p:nvSpPr>
          <p:cNvPr id="101" name="Shape 16">
            <a:extLst>
              <a:ext uri="{FF2B5EF4-FFF2-40B4-BE49-F238E27FC236}">
                <a16:creationId xmlns:a16="http://schemas.microsoft.com/office/drawing/2014/main" id="{C0C074D2-7A64-BB3E-EFBB-F838051BBE96}"/>
              </a:ext>
            </a:extLst>
          </p:cNvPr>
          <p:cNvSpPr/>
          <p:nvPr/>
        </p:nvSpPr>
        <p:spPr>
          <a:xfrm>
            <a:off x="3538728" y="2306674"/>
            <a:ext cx="91440" cy="91440"/>
          </a:xfrm>
          <a:prstGeom prst="ellipse">
            <a:avLst/>
          </a:prstGeom>
          <a:solidFill>
            <a:srgbClr val="673AB7"/>
          </a:solidFill>
          <a:ln w="12700">
            <a:solidFill>
              <a:srgbClr val="673AB7"/>
            </a:solidFill>
            <a:prstDash val="solid"/>
          </a:ln>
        </p:spPr>
        <p:txBody>
          <a:bodyPr/>
          <a:lstStyle/>
          <a:p>
            <a:endParaRPr lang="it-IT"/>
          </a:p>
        </p:txBody>
      </p:sp>
      <p:sp>
        <p:nvSpPr>
          <p:cNvPr id="102" name="Text 17">
            <a:extLst>
              <a:ext uri="{FF2B5EF4-FFF2-40B4-BE49-F238E27FC236}">
                <a16:creationId xmlns:a16="http://schemas.microsoft.com/office/drawing/2014/main" id="{14F47953-903D-AE95-3996-0C0F249F04A7}"/>
              </a:ext>
            </a:extLst>
          </p:cNvPr>
          <p:cNvSpPr/>
          <p:nvPr/>
        </p:nvSpPr>
        <p:spPr>
          <a:xfrm>
            <a:off x="3703320" y="2267712"/>
            <a:ext cx="2148840" cy="384048"/>
          </a:xfrm>
          <a:prstGeom prst="rect">
            <a:avLst/>
          </a:prstGeom>
          <a:noFill/>
          <a:ln/>
        </p:spPr>
        <p:txBody>
          <a:bodyPr wrap="square" lIns="381" tIns="381" rIns="381" bIns="381" rtlCol="0" anchor="t">
            <a:normAutofit/>
          </a:bodyPr>
          <a:lstStyle/>
          <a:p>
            <a:pPr marL="0" indent="0" algn="l">
              <a:buNone/>
            </a:pPr>
            <a:r>
              <a:rPr lang="en-US" sz="1100" dirty="0">
                <a:solidFill>
                  <a:srgbClr val="1D2433"/>
                </a:solidFill>
                <a:latin typeface="Aptos" pitchFamily="34" charset="0"/>
                <a:ea typeface="Aptos" pitchFamily="34" charset="-122"/>
                <a:cs typeface="Aptos" pitchFamily="34" charset="-120"/>
              </a:rPr>
              <a:t>Validate model-proposed actions in application code.</a:t>
            </a:r>
            <a:endParaRPr lang="en-US" sz="1100" dirty="0"/>
          </a:p>
        </p:txBody>
      </p:sp>
      <p:sp>
        <p:nvSpPr>
          <p:cNvPr id="103" name="Shape 18">
            <a:extLst>
              <a:ext uri="{FF2B5EF4-FFF2-40B4-BE49-F238E27FC236}">
                <a16:creationId xmlns:a16="http://schemas.microsoft.com/office/drawing/2014/main" id="{001085C9-2CC0-1B33-4815-551D5A82CBCA}"/>
              </a:ext>
            </a:extLst>
          </p:cNvPr>
          <p:cNvSpPr/>
          <p:nvPr/>
        </p:nvSpPr>
        <p:spPr>
          <a:xfrm>
            <a:off x="3538728" y="2927273"/>
            <a:ext cx="91440" cy="91440"/>
          </a:xfrm>
          <a:prstGeom prst="ellipse">
            <a:avLst/>
          </a:prstGeom>
          <a:solidFill>
            <a:srgbClr val="673AB7"/>
          </a:solidFill>
          <a:ln w="12700">
            <a:solidFill>
              <a:srgbClr val="673AB7"/>
            </a:solidFill>
            <a:prstDash val="solid"/>
          </a:ln>
        </p:spPr>
        <p:txBody>
          <a:bodyPr/>
          <a:lstStyle/>
          <a:p>
            <a:endParaRPr lang="it-IT"/>
          </a:p>
        </p:txBody>
      </p:sp>
      <p:sp>
        <p:nvSpPr>
          <p:cNvPr id="104" name="Text 19">
            <a:extLst>
              <a:ext uri="{FF2B5EF4-FFF2-40B4-BE49-F238E27FC236}">
                <a16:creationId xmlns:a16="http://schemas.microsoft.com/office/drawing/2014/main" id="{D2EE63B2-8C9D-0AD0-1021-71D213FDAAD0}"/>
              </a:ext>
            </a:extLst>
          </p:cNvPr>
          <p:cNvSpPr/>
          <p:nvPr/>
        </p:nvSpPr>
        <p:spPr>
          <a:xfrm>
            <a:off x="3703320" y="2880360"/>
            <a:ext cx="2148840" cy="384048"/>
          </a:xfrm>
          <a:prstGeom prst="rect">
            <a:avLst/>
          </a:prstGeom>
          <a:noFill/>
          <a:ln/>
        </p:spPr>
        <p:txBody>
          <a:bodyPr wrap="square" lIns="381" tIns="381" rIns="381" bIns="381" rtlCol="0" anchor="t">
            <a:normAutofit/>
          </a:bodyPr>
          <a:lstStyle/>
          <a:p>
            <a:pPr marL="0" indent="0" algn="l">
              <a:buNone/>
            </a:pPr>
            <a:r>
              <a:rPr lang="en-US" sz="1100" dirty="0">
                <a:solidFill>
                  <a:srgbClr val="1D2433"/>
                </a:solidFill>
                <a:latin typeface="Aptos" pitchFamily="34" charset="0"/>
                <a:ea typeface="Aptos" pitchFamily="34" charset="-122"/>
                <a:cs typeface="Aptos" pitchFamily="34" charset="-120"/>
              </a:rPr>
              <a:t>Treat external content as untrusted and bound AI usage.</a:t>
            </a:r>
            <a:endParaRPr lang="en-US" sz="1100" dirty="0"/>
          </a:p>
        </p:txBody>
      </p:sp>
      <p:sp>
        <p:nvSpPr>
          <p:cNvPr id="105" name="Shape 20">
            <a:extLst>
              <a:ext uri="{FF2B5EF4-FFF2-40B4-BE49-F238E27FC236}">
                <a16:creationId xmlns:a16="http://schemas.microsoft.com/office/drawing/2014/main" id="{E7A0AE18-E8CA-27B3-4DEA-96552D0CE1D9}"/>
              </a:ext>
            </a:extLst>
          </p:cNvPr>
          <p:cNvSpPr/>
          <p:nvPr/>
        </p:nvSpPr>
        <p:spPr>
          <a:xfrm>
            <a:off x="3538728" y="3539921"/>
            <a:ext cx="91440" cy="91440"/>
          </a:xfrm>
          <a:prstGeom prst="ellipse">
            <a:avLst/>
          </a:prstGeom>
          <a:solidFill>
            <a:srgbClr val="673AB7"/>
          </a:solidFill>
          <a:ln w="12700">
            <a:solidFill>
              <a:srgbClr val="673AB7"/>
            </a:solidFill>
            <a:prstDash val="solid"/>
          </a:ln>
        </p:spPr>
        <p:txBody>
          <a:bodyPr/>
          <a:lstStyle/>
          <a:p>
            <a:endParaRPr lang="it-IT"/>
          </a:p>
        </p:txBody>
      </p:sp>
      <p:sp>
        <p:nvSpPr>
          <p:cNvPr id="106" name="Text 21">
            <a:extLst>
              <a:ext uri="{FF2B5EF4-FFF2-40B4-BE49-F238E27FC236}">
                <a16:creationId xmlns:a16="http://schemas.microsoft.com/office/drawing/2014/main" id="{8339344A-7C99-E2DC-E53B-4D84A43F1A31}"/>
              </a:ext>
            </a:extLst>
          </p:cNvPr>
          <p:cNvSpPr/>
          <p:nvPr/>
        </p:nvSpPr>
        <p:spPr>
          <a:xfrm>
            <a:off x="3703320" y="3493008"/>
            <a:ext cx="2148840" cy="384048"/>
          </a:xfrm>
          <a:prstGeom prst="rect">
            <a:avLst/>
          </a:prstGeom>
          <a:noFill/>
          <a:ln/>
        </p:spPr>
        <p:txBody>
          <a:bodyPr wrap="square" lIns="381" tIns="381" rIns="381" bIns="381" rtlCol="0" anchor="t">
            <a:normAutofit/>
          </a:bodyPr>
          <a:lstStyle/>
          <a:p>
            <a:pPr marL="0" indent="0" algn="l">
              <a:buNone/>
            </a:pPr>
            <a:r>
              <a:rPr lang="en-US" sz="1100" dirty="0">
                <a:solidFill>
                  <a:srgbClr val="1D2433"/>
                </a:solidFill>
                <a:latin typeface="Aptos" pitchFamily="34" charset="0"/>
                <a:ea typeface="Aptos" pitchFamily="34" charset="-122"/>
                <a:cs typeface="Aptos" pitchFamily="34" charset="-120"/>
              </a:rPr>
              <a:t>Keep confidential data within approved regional paths.</a:t>
            </a:r>
            <a:endParaRPr lang="en-US" sz="1100" dirty="0"/>
          </a:p>
        </p:txBody>
      </p:sp>
      <p:sp>
        <p:nvSpPr>
          <p:cNvPr id="107" name="Shape 22">
            <a:extLst>
              <a:ext uri="{FF2B5EF4-FFF2-40B4-BE49-F238E27FC236}">
                <a16:creationId xmlns:a16="http://schemas.microsoft.com/office/drawing/2014/main" id="{012422FA-12A8-4A89-B805-C2628DE4E3C5}"/>
              </a:ext>
            </a:extLst>
          </p:cNvPr>
          <p:cNvSpPr/>
          <p:nvPr/>
        </p:nvSpPr>
        <p:spPr>
          <a:xfrm>
            <a:off x="6208776" y="1508760"/>
            <a:ext cx="2651760" cy="2999232"/>
          </a:xfrm>
          <a:prstGeom prst="roundRect">
            <a:avLst>
              <a:gd name="adj" fmla="val 2759"/>
            </a:avLst>
          </a:prstGeom>
          <a:solidFill>
            <a:srgbClr val="E8F7EE"/>
          </a:solidFill>
          <a:ln w="14605">
            <a:solidFill>
              <a:srgbClr val="0B9F63"/>
            </a:solidFill>
            <a:prstDash val="solid"/>
          </a:ln>
        </p:spPr>
        <p:txBody>
          <a:bodyPr/>
          <a:lstStyle/>
          <a:p>
            <a:endParaRPr lang="it-IT"/>
          </a:p>
        </p:txBody>
      </p:sp>
      <p:sp>
        <p:nvSpPr>
          <p:cNvPr id="109" name="Text 24">
            <a:extLst>
              <a:ext uri="{FF2B5EF4-FFF2-40B4-BE49-F238E27FC236}">
                <a16:creationId xmlns:a16="http://schemas.microsoft.com/office/drawing/2014/main" id="{C0FA30C1-05CB-AAF8-6ECE-CBAE9EEC5A4D}"/>
              </a:ext>
            </a:extLst>
          </p:cNvPr>
          <p:cNvSpPr/>
          <p:nvPr/>
        </p:nvSpPr>
        <p:spPr>
          <a:xfrm>
            <a:off x="6373368" y="1636776"/>
            <a:ext cx="2322576" cy="210312"/>
          </a:xfrm>
          <a:prstGeom prst="rect">
            <a:avLst/>
          </a:prstGeom>
          <a:noFill/>
          <a:ln/>
        </p:spPr>
        <p:txBody>
          <a:bodyPr wrap="square" lIns="381" tIns="381" rIns="381" bIns="381" rtlCol="0" anchor="ctr">
            <a:normAutofit/>
          </a:bodyPr>
          <a:lstStyle/>
          <a:p>
            <a:pPr marL="0" indent="0" algn="l">
              <a:buNone/>
            </a:pPr>
            <a:r>
              <a:rPr lang="en-US" sz="1300" b="1" dirty="0">
                <a:solidFill>
                  <a:srgbClr val="07133D"/>
                </a:solidFill>
                <a:latin typeface="Aptos" pitchFamily="34" charset="0"/>
                <a:ea typeface="Aptos" pitchFamily="34" charset="-122"/>
                <a:cs typeface="Aptos" pitchFamily="34" charset="-120"/>
              </a:rPr>
              <a:t>3. Preserve auditability</a:t>
            </a:r>
            <a:endParaRPr lang="en-US" sz="1300" dirty="0"/>
          </a:p>
        </p:txBody>
      </p:sp>
      <p:sp>
        <p:nvSpPr>
          <p:cNvPr id="110" name="Shape 25">
            <a:extLst>
              <a:ext uri="{FF2B5EF4-FFF2-40B4-BE49-F238E27FC236}">
                <a16:creationId xmlns:a16="http://schemas.microsoft.com/office/drawing/2014/main" id="{3015A490-363B-1BBB-F4BF-25092044F2C3}"/>
              </a:ext>
            </a:extLst>
          </p:cNvPr>
          <p:cNvSpPr/>
          <p:nvPr/>
        </p:nvSpPr>
        <p:spPr>
          <a:xfrm>
            <a:off x="6391656" y="2314625"/>
            <a:ext cx="91440" cy="91440"/>
          </a:xfrm>
          <a:prstGeom prst="ellipse">
            <a:avLst/>
          </a:prstGeom>
          <a:solidFill>
            <a:srgbClr val="0B9F63"/>
          </a:solidFill>
          <a:ln w="12700">
            <a:solidFill>
              <a:srgbClr val="0B9F63"/>
            </a:solidFill>
            <a:prstDash val="solid"/>
          </a:ln>
        </p:spPr>
        <p:txBody>
          <a:bodyPr/>
          <a:lstStyle/>
          <a:p>
            <a:endParaRPr lang="it-IT"/>
          </a:p>
        </p:txBody>
      </p:sp>
      <p:sp>
        <p:nvSpPr>
          <p:cNvPr id="111" name="Text 26">
            <a:extLst>
              <a:ext uri="{FF2B5EF4-FFF2-40B4-BE49-F238E27FC236}">
                <a16:creationId xmlns:a16="http://schemas.microsoft.com/office/drawing/2014/main" id="{96F44954-EBB3-1D23-5804-B56970F4E244}"/>
              </a:ext>
            </a:extLst>
          </p:cNvPr>
          <p:cNvSpPr/>
          <p:nvPr/>
        </p:nvSpPr>
        <p:spPr>
          <a:xfrm>
            <a:off x="6556248" y="2267712"/>
            <a:ext cx="2148840" cy="384048"/>
          </a:xfrm>
          <a:prstGeom prst="rect">
            <a:avLst/>
          </a:prstGeom>
          <a:noFill/>
          <a:ln/>
        </p:spPr>
        <p:txBody>
          <a:bodyPr wrap="square" lIns="381" tIns="381" rIns="381" bIns="381" rtlCol="0" anchor="t">
            <a:noAutofit/>
          </a:bodyPr>
          <a:lstStyle/>
          <a:p>
            <a:pPr marL="0" indent="0" algn="l">
              <a:buNone/>
            </a:pPr>
            <a:r>
              <a:rPr lang="en-US" sz="1100" dirty="0">
                <a:solidFill>
                  <a:srgbClr val="1D2433"/>
                </a:solidFill>
                <a:latin typeface="Aptos" pitchFamily="34" charset="0"/>
                <a:ea typeface="Aptos" pitchFamily="34" charset="-122"/>
                <a:cs typeface="Aptos" pitchFamily="34" charset="-120"/>
              </a:rPr>
              <a:t>Keep unsampled audit records of agent runs, approvals and external actions.</a:t>
            </a:r>
            <a:endParaRPr lang="en-US" sz="1100" dirty="0"/>
          </a:p>
        </p:txBody>
      </p:sp>
      <p:sp>
        <p:nvSpPr>
          <p:cNvPr id="112" name="Shape 27">
            <a:extLst>
              <a:ext uri="{FF2B5EF4-FFF2-40B4-BE49-F238E27FC236}">
                <a16:creationId xmlns:a16="http://schemas.microsoft.com/office/drawing/2014/main" id="{7890D2D5-79EA-C07E-276A-08B82A4E3061}"/>
              </a:ext>
            </a:extLst>
          </p:cNvPr>
          <p:cNvSpPr/>
          <p:nvPr/>
        </p:nvSpPr>
        <p:spPr>
          <a:xfrm>
            <a:off x="6391656" y="2919322"/>
            <a:ext cx="91440" cy="91440"/>
          </a:xfrm>
          <a:prstGeom prst="ellipse">
            <a:avLst/>
          </a:prstGeom>
          <a:solidFill>
            <a:srgbClr val="0B9F63"/>
          </a:solidFill>
          <a:ln w="12700">
            <a:solidFill>
              <a:srgbClr val="0B9F63"/>
            </a:solidFill>
            <a:prstDash val="solid"/>
          </a:ln>
        </p:spPr>
        <p:txBody>
          <a:bodyPr/>
          <a:lstStyle/>
          <a:p>
            <a:endParaRPr lang="it-IT"/>
          </a:p>
        </p:txBody>
      </p:sp>
      <p:sp>
        <p:nvSpPr>
          <p:cNvPr id="113" name="Text 28">
            <a:extLst>
              <a:ext uri="{FF2B5EF4-FFF2-40B4-BE49-F238E27FC236}">
                <a16:creationId xmlns:a16="http://schemas.microsoft.com/office/drawing/2014/main" id="{E092228C-BEB2-12C9-0879-E09E0A83E977}"/>
              </a:ext>
            </a:extLst>
          </p:cNvPr>
          <p:cNvSpPr/>
          <p:nvPr/>
        </p:nvSpPr>
        <p:spPr>
          <a:xfrm>
            <a:off x="6556248" y="2880360"/>
            <a:ext cx="2148840" cy="384048"/>
          </a:xfrm>
          <a:prstGeom prst="rect">
            <a:avLst/>
          </a:prstGeom>
          <a:noFill/>
          <a:ln/>
        </p:spPr>
        <p:txBody>
          <a:bodyPr wrap="square" lIns="381" tIns="381" rIns="381" bIns="381" rtlCol="0" anchor="t">
            <a:normAutofit/>
          </a:bodyPr>
          <a:lstStyle/>
          <a:p>
            <a:pPr marL="0" indent="0" algn="l">
              <a:buNone/>
            </a:pPr>
            <a:r>
              <a:rPr lang="en-US" sz="1100" dirty="0">
                <a:solidFill>
                  <a:srgbClr val="1D2433"/>
                </a:solidFill>
                <a:latin typeface="Aptos" pitchFamily="34" charset="0"/>
                <a:ea typeface="Aptos" pitchFamily="34" charset="-122"/>
                <a:cs typeface="Aptos" pitchFamily="34" charset="-120"/>
              </a:rPr>
              <a:t>Correlate logs and traces by journey/operation ID.</a:t>
            </a:r>
            <a:endParaRPr lang="en-US" sz="1100" dirty="0"/>
          </a:p>
        </p:txBody>
      </p:sp>
      <p:sp>
        <p:nvSpPr>
          <p:cNvPr id="114" name="Shape 29">
            <a:extLst>
              <a:ext uri="{FF2B5EF4-FFF2-40B4-BE49-F238E27FC236}">
                <a16:creationId xmlns:a16="http://schemas.microsoft.com/office/drawing/2014/main" id="{CBC60AD3-C7FC-1EAC-B6E9-DEFEBC6E9D27}"/>
              </a:ext>
            </a:extLst>
          </p:cNvPr>
          <p:cNvSpPr/>
          <p:nvPr/>
        </p:nvSpPr>
        <p:spPr>
          <a:xfrm>
            <a:off x="6391656" y="3539921"/>
            <a:ext cx="91440" cy="91440"/>
          </a:xfrm>
          <a:prstGeom prst="ellipse">
            <a:avLst/>
          </a:prstGeom>
          <a:solidFill>
            <a:srgbClr val="0B9F63"/>
          </a:solidFill>
          <a:ln w="12700">
            <a:solidFill>
              <a:srgbClr val="0B9F63"/>
            </a:solidFill>
            <a:prstDash val="solid"/>
          </a:ln>
        </p:spPr>
        <p:txBody>
          <a:bodyPr/>
          <a:lstStyle/>
          <a:p>
            <a:endParaRPr lang="it-IT"/>
          </a:p>
        </p:txBody>
      </p:sp>
      <p:sp>
        <p:nvSpPr>
          <p:cNvPr id="115" name="Text 30">
            <a:extLst>
              <a:ext uri="{FF2B5EF4-FFF2-40B4-BE49-F238E27FC236}">
                <a16:creationId xmlns:a16="http://schemas.microsoft.com/office/drawing/2014/main" id="{882AD0FC-EC2F-1075-4A77-46E2FDE70663}"/>
              </a:ext>
            </a:extLst>
          </p:cNvPr>
          <p:cNvSpPr/>
          <p:nvPr/>
        </p:nvSpPr>
        <p:spPr>
          <a:xfrm>
            <a:off x="6556248" y="3493008"/>
            <a:ext cx="2148840" cy="384048"/>
          </a:xfrm>
          <a:prstGeom prst="rect">
            <a:avLst/>
          </a:prstGeom>
          <a:noFill/>
          <a:ln/>
        </p:spPr>
        <p:txBody>
          <a:bodyPr wrap="square" lIns="381" tIns="381" rIns="381" bIns="381" rtlCol="0" anchor="t">
            <a:normAutofit/>
          </a:bodyPr>
          <a:lstStyle/>
          <a:p>
            <a:pPr marL="0" indent="0" algn="l">
              <a:buNone/>
            </a:pPr>
            <a:r>
              <a:rPr lang="en-US" sz="1100" dirty="0">
                <a:solidFill>
                  <a:srgbClr val="1D2433"/>
                </a:solidFill>
                <a:latin typeface="Aptos" pitchFamily="34" charset="0"/>
                <a:ea typeface="Aptos" pitchFamily="34" charset="-122"/>
                <a:cs typeface="Aptos" pitchFamily="34" charset="-120"/>
              </a:rPr>
              <a:t>Redact personal data and tokens; define retention and deletion.</a:t>
            </a:r>
            <a:endParaRPr lang="en-US" sz="1100" dirty="0"/>
          </a:p>
        </p:txBody>
      </p:sp>
      <p:sp>
        <p:nvSpPr>
          <p:cNvPr id="116" name="Shape 31">
            <a:extLst>
              <a:ext uri="{FF2B5EF4-FFF2-40B4-BE49-F238E27FC236}">
                <a16:creationId xmlns:a16="http://schemas.microsoft.com/office/drawing/2014/main" id="{8592C9A1-1F4D-9881-74FC-F468FBDAEAE3}"/>
              </a:ext>
            </a:extLst>
          </p:cNvPr>
          <p:cNvSpPr/>
          <p:nvPr/>
        </p:nvSpPr>
        <p:spPr>
          <a:xfrm>
            <a:off x="9061704" y="1508760"/>
            <a:ext cx="2651760" cy="2999232"/>
          </a:xfrm>
          <a:prstGeom prst="roundRect">
            <a:avLst>
              <a:gd name="adj" fmla="val 2759"/>
            </a:avLst>
          </a:prstGeom>
          <a:solidFill>
            <a:srgbClr val="E5F5F4"/>
          </a:solidFill>
          <a:ln w="14605">
            <a:solidFill>
              <a:srgbClr val="0F766E"/>
            </a:solidFill>
            <a:prstDash val="solid"/>
          </a:ln>
        </p:spPr>
        <p:txBody>
          <a:bodyPr/>
          <a:lstStyle/>
          <a:p>
            <a:endParaRPr lang="it-IT"/>
          </a:p>
        </p:txBody>
      </p:sp>
      <p:sp>
        <p:nvSpPr>
          <p:cNvPr id="118" name="Text 33">
            <a:extLst>
              <a:ext uri="{FF2B5EF4-FFF2-40B4-BE49-F238E27FC236}">
                <a16:creationId xmlns:a16="http://schemas.microsoft.com/office/drawing/2014/main" id="{C4A7DF57-83E9-FFD0-10EE-112DB56159F2}"/>
              </a:ext>
            </a:extLst>
          </p:cNvPr>
          <p:cNvSpPr/>
          <p:nvPr/>
        </p:nvSpPr>
        <p:spPr>
          <a:xfrm>
            <a:off x="9226296" y="1636776"/>
            <a:ext cx="2322576" cy="210312"/>
          </a:xfrm>
          <a:prstGeom prst="rect">
            <a:avLst/>
          </a:prstGeom>
          <a:noFill/>
          <a:ln/>
        </p:spPr>
        <p:txBody>
          <a:bodyPr wrap="square" lIns="381" tIns="381" rIns="381" bIns="381" rtlCol="0" anchor="ctr">
            <a:normAutofit/>
          </a:bodyPr>
          <a:lstStyle/>
          <a:p>
            <a:pPr marL="0" indent="0" algn="l">
              <a:buNone/>
            </a:pPr>
            <a:r>
              <a:rPr lang="en-US" sz="1300" b="1" dirty="0">
                <a:solidFill>
                  <a:srgbClr val="07133D"/>
                </a:solidFill>
                <a:latin typeface="Aptos" pitchFamily="34" charset="0"/>
                <a:ea typeface="Aptos" pitchFamily="34" charset="-122"/>
                <a:cs typeface="Aptos" pitchFamily="34" charset="-120"/>
              </a:rPr>
              <a:t>4. Operate daily</a:t>
            </a:r>
            <a:endParaRPr lang="en-US" sz="1300" dirty="0"/>
          </a:p>
        </p:txBody>
      </p:sp>
      <p:sp>
        <p:nvSpPr>
          <p:cNvPr id="120" name="Shape 35">
            <a:extLst>
              <a:ext uri="{FF2B5EF4-FFF2-40B4-BE49-F238E27FC236}">
                <a16:creationId xmlns:a16="http://schemas.microsoft.com/office/drawing/2014/main" id="{7554C06E-83BA-5692-C58D-38D2C79AEA59}"/>
              </a:ext>
            </a:extLst>
          </p:cNvPr>
          <p:cNvSpPr/>
          <p:nvPr/>
        </p:nvSpPr>
        <p:spPr>
          <a:xfrm>
            <a:off x="9244584" y="2334106"/>
            <a:ext cx="91440" cy="91440"/>
          </a:xfrm>
          <a:prstGeom prst="ellipse">
            <a:avLst/>
          </a:prstGeom>
          <a:solidFill>
            <a:srgbClr val="0F766E"/>
          </a:solidFill>
          <a:ln w="12700">
            <a:solidFill>
              <a:srgbClr val="0F766E"/>
            </a:solidFill>
            <a:prstDash val="solid"/>
          </a:ln>
        </p:spPr>
        <p:txBody>
          <a:bodyPr/>
          <a:lstStyle/>
          <a:p>
            <a:endParaRPr lang="it-IT"/>
          </a:p>
        </p:txBody>
      </p:sp>
      <p:sp>
        <p:nvSpPr>
          <p:cNvPr id="121" name="Text 36">
            <a:extLst>
              <a:ext uri="{FF2B5EF4-FFF2-40B4-BE49-F238E27FC236}">
                <a16:creationId xmlns:a16="http://schemas.microsoft.com/office/drawing/2014/main" id="{7E70D328-624F-6385-21F3-57CAFF7A154B}"/>
              </a:ext>
            </a:extLst>
          </p:cNvPr>
          <p:cNvSpPr/>
          <p:nvPr/>
        </p:nvSpPr>
        <p:spPr>
          <a:xfrm>
            <a:off x="9409176" y="2295144"/>
            <a:ext cx="2148840" cy="384048"/>
          </a:xfrm>
          <a:prstGeom prst="rect">
            <a:avLst/>
          </a:prstGeom>
          <a:noFill/>
          <a:ln/>
        </p:spPr>
        <p:txBody>
          <a:bodyPr wrap="square" lIns="381" tIns="381" rIns="381" bIns="381" rtlCol="0" anchor="t">
            <a:noAutofit/>
          </a:bodyPr>
          <a:lstStyle/>
          <a:p>
            <a:pPr marL="0" indent="0" algn="l">
              <a:buNone/>
            </a:pPr>
            <a:r>
              <a:rPr lang="en-US" sz="1100" b="1" dirty="0">
                <a:solidFill>
                  <a:srgbClr val="1D2433"/>
                </a:solidFill>
                <a:latin typeface="Aptos" pitchFamily="34" charset="0"/>
                <a:ea typeface="Aptos" pitchFamily="34" charset="-122"/>
                <a:cs typeface="Aptos" pitchFamily="34" charset="-120"/>
              </a:rPr>
              <a:t>Service dashboard</a:t>
            </a:r>
            <a:r>
              <a:rPr lang="en-US" sz="1100" dirty="0">
                <a:solidFill>
                  <a:srgbClr val="1D2433"/>
                </a:solidFill>
                <a:latin typeface="Aptos" pitchFamily="34" charset="0"/>
                <a:ea typeface="Aptos" pitchFamily="34" charset="-122"/>
                <a:cs typeface="Aptos" pitchFamily="34" charset="-120"/>
              </a:rPr>
              <a:t>: availability, latency, errors and infrastructure health.</a:t>
            </a:r>
            <a:endParaRPr lang="en-US" sz="1100" dirty="0"/>
          </a:p>
        </p:txBody>
      </p:sp>
      <p:sp>
        <p:nvSpPr>
          <p:cNvPr id="122" name="Shape 37">
            <a:extLst>
              <a:ext uri="{FF2B5EF4-FFF2-40B4-BE49-F238E27FC236}">
                <a16:creationId xmlns:a16="http://schemas.microsoft.com/office/drawing/2014/main" id="{72098835-D14A-4A60-663D-561A4640A750}"/>
              </a:ext>
            </a:extLst>
          </p:cNvPr>
          <p:cNvSpPr/>
          <p:nvPr/>
        </p:nvSpPr>
        <p:spPr>
          <a:xfrm>
            <a:off x="9244584" y="2954705"/>
            <a:ext cx="91440" cy="91440"/>
          </a:xfrm>
          <a:prstGeom prst="ellipse">
            <a:avLst/>
          </a:prstGeom>
          <a:solidFill>
            <a:srgbClr val="0F766E"/>
          </a:solidFill>
          <a:ln w="12700">
            <a:solidFill>
              <a:srgbClr val="0F766E"/>
            </a:solidFill>
            <a:prstDash val="solid"/>
          </a:ln>
        </p:spPr>
        <p:txBody>
          <a:bodyPr/>
          <a:lstStyle/>
          <a:p>
            <a:endParaRPr lang="it-IT"/>
          </a:p>
        </p:txBody>
      </p:sp>
      <p:sp>
        <p:nvSpPr>
          <p:cNvPr id="123" name="Text 38">
            <a:extLst>
              <a:ext uri="{FF2B5EF4-FFF2-40B4-BE49-F238E27FC236}">
                <a16:creationId xmlns:a16="http://schemas.microsoft.com/office/drawing/2014/main" id="{3A54D9A2-9878-379E-2A62-47E569A5B1E6}"/>
              </a:ext>
            </a:extLst>
          </p:cNvPr>
          <p:cNvSpPr/>
          <p:nvPr/>
        </p:nvSpPr>
        <p:spPr>
          <a:xfrm>
            <a:off x="9409176" y="2907792"/>
            <a:ext cx="2148840" cy="384048"/>
          </a:xfrm>
          <a:prstGeom prst="rect">
            <a:avLst/>
          </a:prstGeom>
          <a:noFill/>
          <a:ln/>
        </p:spPr>
        <p:txBody>
          <a:bodyPr wrap="square" lIns="381" tIns="381" rIns="381" bIns="381" rtlCol="0" anchor="t">
            <a:noAutofit/>
          </a:bodyPr>
          <a:lstStyle/>
          <a:p>
            <a:pPr marL="0" indent="0" algn="l">
              <a:buNone/>
            </a:pPr>
            <a:r>
              <a:rPr lang="en-US" sz="1100" b="1" dirty="0">
                <a:solidFill>
                  <a:srgbClr val="1D2433"/>
                </a:solidFill>
                <a:latin typeface="Aptos" pitchFamily="34" charset="0"/>
                <a:ea typeface="Aptos" pitchFamily="34" charset="-122"/>
                <a:cs typeface="Aptos" pitchFamily="34" charset="-120"/>
              </a:rPr>
              <a:t>Journey dashboard</a:t>
            </a:r>
            <a:r>
              <a:rPr lang="en-US" sz="1100" dirty="0">
                <a:solidFill>
                  <a:srgbClr val="1D2433"/>
                </a:solidFill>
                <a:latin typeface="Aptos" pitchFamily="34" charset="0"/>
                <a:ea typeface="Aptos" pitchFamily="34" charset="-122"/>
                <a:cs typeface="Aptos" pitchFamily="34" charset="-120"/>
              </a:rPr>
              <a:t>: queue/outbox age, stalled journeys, uncertain outcomes and provider throttling.</a:t>
            </a:r>
            <a:endParaRPr lang="en-US" sz="1100" dirty="0"/>
          </a:p>
        </p:txBody>
      </p:sp>
      <p:sp>
        <p:nvSpPr>
          <p:cNvPr id="126" name="Shape 41">
            <a:extLst>
              <a:ext uri="{FF2B5EF4-FFF2-40B4-BE49-F238E27FC236}">
                <a16:creationId xmlns:a16="http://schemas.microsoft.com/office/drawing/2014/main" id="{2E6229F1-2365-9982-9192-41502EEE056C}"/>
              </a:ext>
            </a:extLst>
          </p:cNvPr>
          <p:cNvSpPr/>
          <p:nvPr/>
        </p:nvSpPr>
        <p:spPr>
          <a:xfrm>
            <a:off x="502920" y="4681728"/>
            <a:ext cx="11109960" cy="475488"/>
          </a:xfrm>
          <a:prstGeom prst="roundRect">
            <a:avLst>
              <a:gd name="adj" fmla="val 9615"/>
            </a:avLst>
          </a:prstGeom>
          <a:solidFill>
            <a:srgbClr val="F8FAFC"/>
          </a:solidFill>
          <a:ln w="12700">
            <a:solidFill>
              <a:srgbClr val="D6DEE9"/>
            </a:solidFill>
            <a:prstDash val="solid"/>
          </a:ln>
        </p:spPr>
        <p:txBody>
          <a:bodyPr/>
          <a:lstStyle/>
          <a:p>
            <a:endParaRPr lang="it-IT"/>
          </a:p>
        </p:txBody>
      </p:sp>
      <p:sp>
        <p:nvSpPr>
          <p:cNvPr id="127" name="Text 42">
            <a:extLst>
              <a:ext uri="{FF2B5EF4-FFF2-40B4-BE49-F238E27FC236}">
                <a16:creationId xmlns:a16="http://schemas.microsoft.com/office/drawing/2014/main" id="{B81ABC5A-D7DF-EB33-5A04-CEEB33425113}"/>
              </a:ext>
            </a:extLst>
          </p:cNvPr>
          <p:cNvSpPr/>
          <p:nvPr/>
        </p:nvSpPr>
        <p:spPr>
          <a:xfrm>
            <a:off x="685800" y="4841748"/>
            <a:ext cx="10744200" cy="155448"/>
          </a:xfrm>
          <a:prstGeom prst="rect">
            <a:avLst/>
          </a:prstGeom>
          <a:noFill/>
          <a:ln/>
        </p:spPr>
        <p:txBody>
          <a:bodyPr wrap="square" lIns="0" tIns="0" rIns="0" bIns="0" rtlCol="0" anchor="t">
            <a:normAutofit lnSpcReduction="10000"/>
          </a:bodyPr>
          <a:lstStyle/>
          <a:p>
            <a:pPr marL="0" indent="0" algn="l">
              <a:buNone/>
            </a:pPr>
            <a:r>
              <a:rPr lang="en-US" sz="1040" b="1" dirty="0">
                <a:solidFill>
                  <a:srgbClr val="07133D"/>
                </a:solidFill>
                <a:latin typeface="Aptos" pitchFamily="34" charset="0"/>
                <a:ea typeface="Aptos" pitchFamily="34" charset="-122"/>
                <a:cs typeface="Aptos" pitchFamily="34" charset="-120"/>
              </a:rPr>
              <a:t>Telemetry: </a:t>
            </a:r>
            <a:r>
              <a:rPr lang="en-US" sz="1040" dirty="0">
                <a:solidFill>
                  <a:srgbClr val="1D2433"/>
                </a:solidFill>
                <a:latin typeface="Aptos" pitchFamily="34" charset="0"/>
                <a:ea typeface="Aptos" pitchFamily="34" charset="-122"/>
                <a:cs typeface="Aptos" pitchFamily="34" charset="-120"/>
              </a:rPr>
              <a:t>application logs + service/infrastructure metrics + OpenTelemetry traces → regional monitoring, dashboards and alarms</a:t>
            </a:r>
            <a:endParaRPr lang="en-US" sz="1040" dirty="0"/>
          </a:p>
        </p:txBody>
      </p:sp>
      <p:sp>
        <p:nvSpPr>
          <p:cNvPr id="128" name="Shape 43">
            <a:extLst>
              <a:ext uri="{FF2B5EF4-FFF2-40B4-BE49-F238E27FC236}">
                <a16:creationId xmlns:a16="http://schemas.microsoft.com/office/drawing/2014/main" id="{A1FFF39C-D157-33F5-4455-6D36DC90121F}"/>
              </a:ext>
            </a:extLst>
          </p:cNvPr>
          <p:cNvSpPr/>
          <p:nvPr/>
        </p:nvSpPr>
        <p:spPr>
          <a:xfrm>
            <a:off x="502920" y="5413248"/>
            <a:ext cx="11109960" cy="859536"/>
          </a:xfrm>
          <a:prstGeom prst="roundRect">
            <a:avLst>
              <a:gd name="adj" fmla="val 8511"/>
            </a:avLst>
          </a:prstGeom>
          <a:solidFill>
            <a:srgbClr val="F7FBFF"/>
          </a:solidFill>
          <a:ln w="13970">
            <a:solidFill>
              <a:srgbClr val="0B63E5"/>
            </a:solidFill>
            <a:prstDash val="solid"/>
          </a:ln>
        </p:spPr>
        <p:txBody>
          <a:bodyPr/>
          <a:lstStyle/>
          <a:p>
            <a:endParaRPr lang="it-IT"/>
          </a:p>
        </p:txBody>
      </p:sp>
      <p:sp>
        <p:nvSpPr>
          <p:cNvPr id="129" name="Text 44">
            <a:extLst>
              <a:ext uri="{FF2B5EF4-FFF2-40B4-BE49-F238E27FC236}">
                <a16:creationId xmlns:a16="http://schemas.microsoft.com/office/drawing/2014/main" id="{22769431-C5AC-5906-92D9-688CAD77EF6A}"/>
              </a:ext>
            </a:extLst>
          </p:cNvPr>
          <p:cNvSpPr/>
          <p:nvPr/>
        </p:nvSpPr>
        <p:spPr>
          <a:xfrm>
            <a:off x="704088" y="5559552"/>
            <a:ext cx="914400" cy="164592"/>
          </a:xfrm>
          <a:prstGeom prst="rect">
            <a:avLst/>
          </a:prstGeom>
          <a:noFill/>
          <a:ln/>
        </p:spPr>
        <p:txBody>
          <a:bodyPr wrap="square" lIns="0" tIns="0" rIns="0" bIns="0" rtlCol="0" anchor="t">
            <a:normAutofit lnSpcReduction="10000"/>
          </a:bodyPr>
          <a:lstStyle/>
          <a:p>
            <a:pPr marL="0" indent="0" algn="l">
              <a:buNone/>
            </a:pPr>
            <a:r>
              <a:rPr lang="en-US" sz="1100" b="1" dirty="0">
                <a:solidFill>
                  <a:srgbClr val="07133D"/>
                </a:solidFill>
                <a:latin typeface="Aptos" pitchFamily="34" charset="0"/>
                <a:ea typeface="Aptos" pitchFamily="34" charset="-122"/>
                <a:cs typeface="Aptos" pitchFamily="34" charset="-120"/>
              </a:rPr>
              <a:t>Ownership</a:t>
            </a:r>
            <a:endParaRPr lang="en-US" sz="1100" dirty="0"/>
          </a:p>
        </p:txBody>
      </p:sp>
      <p:sp>
        <p:nvSpPr>
          <p:cNvPr id="130" name="Shape 45">
            <a:extLst>
              <a:ext uri="{FF2B5EF4-FFF2-40B4-BE49-F238E27FC236}">
                <a16:creationId xmlns:a16="http://schemas.microsoft.com/office/drawing/2014/main" id="{53C68410-18B0-A92F-C231-BE09FF6CFFCD}"/>
              </a:ext>
            </a:extLst>
          </p:cNvPr>
          <p:cNvSpPr/>
          <p:nvPr/>
        </p:nvSpPr>
        <p:spPr>
          <a:xfrm>
            <a:off x="1664208" y="5513832"/>
            <a:ext cx="2697480" cy="640080"/>
          </a:xfrm>
          <a:prstGeom prst="roundRect">
            <a:avLst>
              <a:gd name="adj" fmla="val 10000"/>
            </a:avLst>
          </a:prstGeom>
          <a:solidFill>
            <a:srgbClr val="FFFFFF"/>
          </a:solidFill>
          <a:ln w="12700">
            <a:solidFill>
              <a:srgbClr val="0B63E5"/>
            </a:solidFill>
            <a:prstDash val="solid"/>
          </a:ln>
        </p:spPr>
        <p:txBody>
          <a:bodyPr/>
          <a:lstStyle/>
          <a:p>
            <a:endParaRPr lang="it-IT"/>
          </a:p>
        </p:txBody>
      </p:sp>
      <p:sp>
        <p:nvSpPr>
          <p:cNvPr id="131" name="Text 46">
            <a:extLst>
              <a:ext uri="{FF2B5EF4-FFF2-40B4-BE49-F238E27FC236}">
                <a16:creationId xmlns:a16="http://schemas.microsoft.com/office/drawing/2014/main" id="{FFDE4C14-4357-A5DD-5E08-3EA987D16E6A}"/>
              </a:ext>
            </a:extLst>
          </p:cNvPr>
          <p:cNvSpPr/>
          <p:nvPr/>
        </p:nvSpPr>
        <p:spPr>
          <a:xfrm>
            <a:off x="1773936" y="5605272"/>
            <a:ext cx="2478024" cy="155448"/>
          </a:xfrm>
          <a:prstGeom prst="rect">
            <a:avLst/>
          </a:prstGeom>
          <a:noFill/>
          <a:ln/>
        </p:spPr>
        <p:txBody>
          <a:bodyPr wrap="square" lIns="0" tIns="0" rIns="0" bIns="0" rtlCol="0" anchor="t">
            <a:normAutofit/>
          </a:bodyPr>
          <a:lstStyle/>
          <a:p>
            <a:pPr marL="0" indent="0" algn="l">
              <a:buNone/>
            </a:pPr>
            <a:r>
              <a:rPr lang="en-US" sz="850" b="1" dirty="0">
                <a:solidFill>
                  <a:srgbClr val="0B63E5"/>
                </a:solidFill>
                <a:latin typeface="Aptos" pitchFamily="34" charset="0"/>
                <a:ea typeface="Aptos" pitchFamily="34" charset="-122"/>
                <a:cs typeface="Aptos" pitchFamily="34" charset="-120"/>
              </a:rPr>
              <a:t>Platform Engineers</a:t>
            </a:r>
            <a:endParaRPr lang="en-US" sz="850" dirty="0"/>
          </a:p>
        </p:txBody>
      </p:sp>
      <p:sp>
        <p:nvSpPr>
          <p:cNvPr id="132" name="Text 47">
            <a:extLst>
              <a:ext uri="{FF2B5EF4-FFF2-40B4-BE49-F238E27FC236}">
                <a16:creationId xmlns:a16="http://schemas.microsoft.com/office/drawing/2014/main" id="{1F08E5D0-C051-6369-1A86-D15F64711C90}"/>
              </a:ext>
            </a:extLst>
          </p:cNvPr>
          <p:cNvSpPr/>
          <p:nvPr/>
        </p:nvSpPr>
        <p:spPr>
          <a:xfrm>
            <a:off x="1773936" y="5788152"/>
            <a:ext cx="2478024" cy="265176"/>
          </a:xfrm>
          <a:prstGeom prst="rect">
            <a:avLst/>
          </a:prstGeom>
          <a:noFill/>
          <a:ln/>
        </p:spPr>
        <p:txBody>
          <a:bodyPr wrap="square" lIns="0" tIns="0" rIns="0" bIns="0" rtlCol="0" anchor="t">
            <a:normAutofit/>
          </a:bodyPr>
          <a:lstStyle/>
          <a:p>
            <a:pPr marL="0" indent="0" algn="l">
              <a:buNone/>
            </a:pPr>
            <a:r>
              <a:rPr lang="en-US" sz="820" dirty="0">
                <a:solidFill>
                  <a:srgbClr val="1D2433"/>
                </a:solidFill>
                <a:latin typeface="Aptos" pitchFamily="34" charset="0"/>
                <a:ea typeface="Aptos" pitchFamily="34" charset="-122"/>
                <a:cs typeface="Aptos" pitchFamily="34" charset="-120"/>
              </a:rPr>
              <a:t>Infrastructure, IAM, alerts, capacity.</a:t>
            </a:r>
            <a:endParaRPr lang="en-US" sz="820" dirty="0"/>
          </a:p>
        </p:txBody>
      </p:sp>
      <p:sp>
        <p:nvSpPr>
          <p:cNvPr id="133" name="Shape 48">
            <a:extLst>
              <a:ext uri="{FF2B5EF4-FFF2-40B4-BE49-F238E27FC236}">
                <a16:creationId xmlns:a16="http://schemas.microsoft.com/office/drawing/2014/main" id="{BE5447A6-E966-B8E6-E103-0CC955B98B19}"/>
              </a:ext>
            </a:extLst>
          </p:cNvPr>
          <p:cNvSpPr/>
          <p:nvPr/>
        </p:nvSpPr>
        <p:spPr>
          <a:xfrm>
            <a:off x="4553712" y="5513832"/>
            <a:ext cx="2834640" cy="640080"/>
          </a:xfrm>
          <a:prstGeom prst="roundRect">
            <a:avLst>
              <a:gd name="adj" fmla="val 10000"/>
            </a:avLst>
          </a:prstGeom>
          <a:solidFill>
            <a:srgbClr val="FFFFFF"/>
          </a:solidFill>
          <a:ln w="12700">
            <a:solidFill>
              <a:srgbClr val="673AB7"/>
            </a:solidFill>
            <a:prstDash val="solid"/>
          </a:ln>
        </p:spPr>
        <p:txBody>
          <a:bodyPr/>
          <a:lstStyle/>
          <a:p>
            <a:endParaRPr lang="it-IT"/>
          </a:p>
        </p:txBody>
      </p:sp>
      <p:sp>
        <p:nvSpPr>
          <p:cNvPr id="134" name="Text 49">
            <a:extLst>
              <a:ext uri="{FF2B5EF4-FFF2-40B4-BE49-F238E27FC236}">
                <a16:creationId xmlns:a16="http://schemas.microsoft.com/office/drawing/2014/main" id="{E8F497AE-D1CC-F9AB-111B-CDDC0BB714AC}"/>
              </a:ext>
            </a:extLst>
          </p:cNvPr>
          <p:cNvSpPr/>
          <p:nvPr/>
        </p:nvSpPr>
        <p:spPr>
          <a:xfrm>
            <a:off x="4663440" y="5605272"/>
            <a:ext cx="2615184" cy="155448"/>
          </a:xfrm>
          <a:prstGeom prst="rect">
            <a:avLst/>
          </a:prstGeom>
          <a:noFill/>
          <a:ln/>
        </p:spPr>
        <p:txBody>
          <a:bodyPr wrap="square" lIns="0" tIns="0" rIns="0" bIns="0" rtlCol="0" anchor="t">
            <a:normAutofit/>
          </a:bodyPr>
          <a:lstStyle/>
          <a:p>
            <a:pPr marL="0" indent="0" algn="l">
              <a:buNone/>
            </a:pPr>
            <a:r>
              <a:rPr lang="en-US" sz="850" b="1" dirty="0">
                <a:solidFill>
                  <a:srgbClr val="673AB7"/>
                </a:solidFill>
                <a:latin typeface="Aptos" pitchFamily="34" charset="0"/>
                <a:ea typeface="Aptos" pitchFamily="34" charset="-122"/>
                <a:cs typeface="Aptos" pitchFamily="34" charset="-120"/>
              </a:rPr>
              <a:t>AI Engineers</a:t>
            </a:r>
            <a:endParaRPr lang="en-US" sz="850" dirty="0"/>
          </a:p>
        </p:txBody>
      </p:sp>
      <p:sp>
        <p:nvSpPr>
          <p:cNvPr id="135" name="Text 50">
            <a:extLst>
              <a:ext uri="{FF2B5EF4-FFF2-40B4-BE49-F238E27FC236}">
                <a16:creationId xmlns:a16="http://schemas.microsoft.com/office/drawing/2014/main" id="{DF7FDCB3-6225-A20E-CBFD-26D7BEBC19CF}"/>
              </a:ext>
            </a:extLst>
          </p:cNvPr>
          <p:cNvSpPr/>
          <p:nvPr/>
        </p:nvSpPr>
        <p:spPr>
          <a:xfrm>
            <a:off x="4663440" y="5788152"/>
            <a:ext cx="2615184" cy="265176"/>
          </a:xfrm>
          <a:prstGeom prst="rect">
            <a:avLst/>
          </a:prstGeom>
          <a:noFill/>
          <a:ln/>
        </p:spPr>
        <p:txBody>
          <a:bodyPr wrap="square" lIns="0" tIns="0" rIns="0" bIns="0" rtlCol="0" anchor="t">
            <a:normAutofit/>
          </a:bodyPr>
          <a:lstStyle/>
          <a:p>
            <a:pPr marL="0" indent="0" algn="l">
              <a:buNone/>
            </a:pPr>
            <a:r>
              <a:rPr lang="en-US" sz="820" dirty="0">
                <a:solidFill>
                  <a:srgbClr val="1D2433"/>
                </a:solidFill>
                <a:latin typeface="Aptos" pitchFamily="34" charset="0"/>
                <a:ea typeface="Aptos" pitchFamily="34" charset="-122"/>
                <a:cs typeface="Aptos" pitchFamily="34" charset="-120"/>
              </a:rPr>
              <a:t>Workflow logic, model selection, integrations, reconciliation.</a:t>
            </a:r>
            <a:endParaRPr lang="en-US" sz="820" dirty="0"/>
          </a:p>
        </p:txBody>
      </p:sp>
      <p:sp>
        <p:nvSpPr>
          <p:cNvPr id="136" name="Shape 51">
            <a:extLst>
              <a:ext uri="{FF2B5EF4-FFF2-40B4-BE49-F238E27FC236}">
                <a16:creationId xmlns:a16="http://schemas.microsoft.com/office/drawing/2014/main" id="{F2A2ED6E-2B00-F5A7-A127-21DF2A183ADD}"/>
              </a:ext>
            </a:extLst>
          </p:cNvPr>
          <p:cNvSpPr/>
          <p:nvPr/>
        </p:nvSpPr>
        <p:spPr>
          <a:xfrm>
            <a:off x="7589520" y="5513832"/>
            <a:ext cx="2697480" cy="640080"/>
          </a:xfrm>
          <a:prstGeom prst="roundRect">
            <a:avLst>
              <a:gd name="adj" fmla="val 10000"/>
            </a:avLst>
          </a:prstGeom>
          <a:solidFill>
            <a:srgbClr val="FFFFFF"/>
          </a:solidFill>
          <a:ln w="12700">
            <a:solidFill>
              <a:srgbClr val="0B9F63"/>
            </a:solidFill>
            <a:prstDash val="solid"/>
          </a:ln>
        </p:spPr>
        <p:txBody>
          <a:bodyPr/>
          <a:lstStyle/>
          <a:p>
            <a:endParaRPr lang="it-IT"/>
          </a:p>
        </p:txBody>
      </p:sp>
      <p:sp>
        <p:nvSpPr>
          <p:cNvPr id="137" name="Text 52">
            <a:extLst>
              <a:ext uri="{FF2B5EF4-FFF2-40B4-BE49-F238E27FC236}">
                <a16:creationId xmlns:a16="http://schemas.microsoft.com/office/drawing/2014/main" id="{C0067781-C5B3-D436-A3EF-7634F1B09224}"/>
              </a:ext>
            </a:extLst>
          </p:cNvPr>
          <p:cNvSpPr/>
          <p:nvPr/>
        </p:nvSpPr>
        <p:spPr>
          <a:xfrm>
            <a:off x="7699248" y="5605272"/>
            <a:ext cx="2478024" cy="155448"/>
          </a:xfrm>
          <a:prstGeom prst="rect">
            <a:avLst/>
          </a:prstGeom>
          <a:noFill/>
          <a:ln/>
        </p:spPr>
        <p:txBody>
          <a:bodyPr wrap="square" lIns="0" tIns="0" rIns="0" bIns="0" rtlCol="0" anchor="t">
            <a:normAutofit/>
          </a:bodyPr>
          <a:lstStyle/>
          <a:p>
            <a:pPr marL="0" indent="0" algn="l">
              <a:buNone/>
            </a:pPr>
            <a:r>
              <a:rPr lang="en-US" sz="850" b="1" dirty="0">
                <a:solidFill>
                  <a:srgbClr val="0B9F63"/>
                </a:solidFill>
                <a:latin typeface="Aptos" pitchFamily="34" charset="0"/>
                <a:ea typeface="Aptos" pitchFamily="34" charset="-122"/>
                <a:cs typeface="Aptos" pitchFamily="34" charset="-120"/>
              </a:rPr>
              <a:t>Business Systems</a:t>
            </a:r>
            <a:endParaRPr lang="en-US" sz="850" dirty="0"/>
          </a:p>
        </p:txBody>
      </p:sp>
      <p:sp>
        <p:nvSpPr>
          <p:cNvPr id="138" name="Text 53">
            <a:extLst>
              <a:ext uri="{FF2B5EF4-FFF2-40B4-BE49-F238E27FC236}">
                <a16:creationId xmlns:a16="http://schemas.microsoft.com/office/drawing/2014/main" id="{29B19AC5-DFE2-0825-B09F-09D2353FBF2F}"/>
              </a:ext>
            </a:extLst>
          </p:cNvPr>
          <p:cNvSpPr/>
          <p:nvPr/>
        </p:nvSpPr>
        <p:spPr>
          <a:xfrm>
            <a:off x="7699248" y="5788152"/>
            <a:ext cx="2478024" cy="265176"/>
          </a:xfrm>
          <a:prstGeom prst="rect">
            <a:avLst/>
          </a:prstGeom>
          <a:noFill/>
          <a:ln/>
        </p:spPr>
        <p:txBody>
          <a:bodyPr wrap="square" lIns="0" tIns="0" rIns="0" bIns="0" rtlCol="0" anchor="t">
            <a:normAutofit/>
          </a:bodyPr>
          <a:lstStyle/>
          <a:p>
            <a:pPr marL="0" indent="0" algn="l">
              <a:buNone/>
            </a:pPr>
            <a:r>
              <a:rPr lang="en-US" sz="820" dirty="0">
                <a:solidFill>
                  <a:srgbClr val="1D2433"/>
                </a:solidFill>
                <a:latin typeface="Aptos" pitchFamily="34" charset="0"/>
                <a:ea typeface="Aptos" pitchFamily="34" charset="-122"/>
                <a:cs typeface="Aptos" pitchFamily="34" charset="-120"/>
              </a:rPr>
              <a:t>Manual review queues and customer exceptions.</a:t>
            </a:r>
            <a:endParaRPr lang="en-US" sz="820" dirty="0"/>
          </a:p>
        </p:txBody>
      </p:sp>
      <p:sp>
        <p:nvSpPr>
          <p:cNvPr id="139" name="Text 54">
            <a:extLst>
              <a:ext uri="{FF2B5EF4-FFF2-40B4-BE49-F238E27FC236}">
                <a16:creationId xmlns:a16="http://schemas.microsoft.com/office/drawing/2014/main" id="{5FF5EAA7-D5D1-4BAD-71DD-B7AE3EC606F0}"/>
              </a:ext>
            </a:extLst>
          </p:cNvPr>
          <p:cNvSpPr/>
          <p:nvPr/>
        </p:nvSpPr>
        <p:spPr>
          <a:xfrm>
            <a:off x="10442448" y="5568696"/>
            <a:ext cx="932688" cy="493776"/>
          </a:xfrm>
          <a:prstGeom prst="rect">
            <a:avLst/>
          </a:prstGeom>
          <a:noFill/>
          <a:ln/>
        </p:spPr>
        <p:txBody>
          <a:bodyPr wrap="square" lIns="127" tIns="127" rIns="127" bIns="127" rtlCol="0" anchor="ctr">
            <a:normAutofit fontScale="92500" lnSpcReduction="20000"/>
          </a:bodyPr>
          <a:lstStyle/>
          <a:p>
            <a:pPr marL="0" indent="0" algn="ctr">
              <a:buNone/>
            </a:pPr>
            <a:r>
              <a:rPr lang="en-US" sz="820" b="1" dirty="0">
                <a:solidFill>
                  <a:srgbClr val="07133D"/>
                </a:solidFill>
                <a:latin typeface="Aptos" pitchFamily="34" charset="0"/>
                <a:ea typeface="Aptos" pitchFamily="34" charset="-122"/>
                <a:cs typeface="Aptos" pitchFamily="34" charset="-120"/>
              </a:rPr>
              <a:t>Agree alert ownership and escalation coverage before launch.</a:t>
            </a:r>
            <a:endParaRPr lang="en-US" sz="820" dirty="0"/>
          </a:p>
        </p:txBody>
      </p:sp>
    </p:spTree>
    <p:extLst>
      <p:ext uri="{BB962C8B-B14F-4D97-AF65-F5344CB8AC3E}">
        <p14:creationId xmlns:p14="http://schemas.microsoft.com/office/powerpoint/2010/main" val="3297049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sp>
        <p:nvSpPr>
          <p:cNvPr id="3" name="Text 1"/>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Scaling gradually but according to external limits</a:t>
            </a:r>
            <a:endParaRPr lang="en-US" sz="2750" dirty="0"/>
          </a:p>
        </p:txBody>
      </p:sp>
      <p:sp>
        <p:nvSpPr>
          <p:cNvPr id="4" name="Shape 2"/>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5" name="Shape 3"/>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6" name="Text 4"/>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7/10</a:t>
            </a:r>
            <a:endParaRPr lang="en-US" sz="850" dirty="0"/>
          </a:p>
        </p:txBody>
      </p:sp>
      <p:sp>
        <p:nvSpPr>
          <p:cNvPr id="40" name="Rounded Rectangle 4">
            <a:extLst>
              <a:ext uri="{FF2B5EF4-FFF2-40B4-BE49-F238E27FC236}">
                <a16:creationId xmlns:a16="http://schemas.microsoft.com/office/drawing/2014/main" id="{16362372-8527-0A30-92B9-8D5E78CB0072}"/>
              </a:ext>
            </a:extLst>
          </p:cNvPr>
          <p:cNvSpPr/>
          <p:nvPr/>
        </p:nvSpPr>
        <p:spPr>
          <a:xfrm>
            <a:off x="861060" y="1236029"/>
            <a:ext cx="10469880" cy="632521"/>
          </a:xfrm>
          <a:prstGeom prst="roundRect">
            <a:avLst>
              <a:gd name="adj" fmla="val 8000"/>
            </a:avLst>
          </a:prstGeom>
          <a:solidFill>
            <a:srgbClr val="F8FAFC"/>
          </a:solidFill>
          <a:ln w="12700">
            <a:solidFill>
              <a:srgbClr val="D6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5">
            <a:extLst>
              <a:ext uri="{FF2B5EF4-FFF2-40B4-BE49-F238E27FC236}">
                <a16:creationId xmlns:a16="http://schemas.microsoft.com/office/drawing/2014/main" id="{DFADFCE5-0D8E-F846-1069-D68C2D8A11D7}"/>
              </a:ext>
            </a:extLst>
          </p:cNvPr>
          <p:cNvSpPr txBox="1"/>
          <p:nvPr/>
        </p:nvSpPr>
        <p:spPr>
          <a:xfrm>
            <a:off x="1088136" y="1316736"/>
            <a:ext cx="10058400" cy="274320"/>
          </a:xfrm>
          <a:prstGeom prst="rect">
            <a:avLst/>
          </a:prstGeom>
          <a:noFill/>
        </p:spPr>
        <p:txBody>
          <a:bodyPr wrap="square" lIns="0" tIns="0" rIns="0" bIns="0" anchor="t">
            <a:spAutoFit/>
          </a:bodyPr>
          <a:lstStyle/>
          <a:p>
            <a:pPr algn="ctr"/>
            <a:r>
              <a:rPr sz="2000" b="1" dirty="0">
                <a:solidFill>
                  <a:srgbClr val="07133D"/>
                </a:solidFill>
                <a:latin typeface="Aptos"/>
              </a:rPr>
              <a:t>≈100 launch users → path to 100,000 users</a:t>
            </a:r>
          </a:p>
        </p:txBody>
      </p:sp>
      <p:sp>
        <p:nvSpPr>
          <p:cNvPr id="42" name="TextBox 6">
            <a:extLst>
              <a:ext uri="{FF2B5EF4-FFF2-40B4-BE49-F238E27FC236}">
                <a16:creationId xmlns:a16="http://schemas.microsoft.com/office/drawing/2014/main" id="{74B80E67-4DAD-75B3-37B7-7A948160255E}"/>
              </a:ext>
            </a:extLst>
          </p:cNvPr>
          <p:cNvSpPr txBox="1"/>
          <p:nvPr/>
        </p:nvSpPr>
        <p:spPr>
          <a:xfrm>
            <a:off x="1188720" y="1602984"/>
            <a:ext cx="9784080" cy="201168"/>
          </a:xfrm>
          <a:prstGeom prst="rect">
            <a:avLst/>
          </a:prstGeom>
          <a:noFill/>
        </p:spPr>
        <p:txBody>
          <a:bodyPr wrap="square" lIns="0" tIns="0" rIns="0" bIns="0" anchor="t">
            <a:spAutoFit/>
          </a:bodyPr>
          <a:lstStyle/>
          <a:p>
            <a:pPr algn="ctr"/>
            <a:r>
              <a:rPr sz="1150" b="0" dirty="0">
                <a:solidFill>
                  <a:srgbClr val="5B6475"/>
                </a:solidFill>
                <a:latin typeface="Aptos"/>
              </a:rPr>
              <a:t>Thousands of concurrent sessions · Hundreds of thousands of daily tasks</a:t>
            </a:r>
          </a:p>
        </p:txBody>
      </p:sp>
      <p:sp>
        <p:nvSpPr>
          <p:cNvPr id="43" name="Rounded Rectangle 7">
            <a:extLst>
              <a:ext uri="{FF2B5EF4-FFF2-40B4-BE49-F238E27FC236}">
                <a16:creationId xmlns:a16="http://schemas.microsoft.com/office/drawing/2014/main" id="{66D9E4C2-273E-5E63-A68E-4F76F0BDD587}"/>
              </a:ext>
            </a:extLst>
          </p:cNvPr>
          <p:cNvSpPr/>
          <p:nvPr/>
        </p:nvSpPr>
        <p:spPr>
          <a:xfrm>
            <a:off x="987552" y="2240679"/>
            <a:ext cx="3154680" cy="1243584"/>
          </a:xfrm>
          <a:prstGeom prst="roundRect">
            <a:avLst>
              <a:gd name="adj" fmla="val 8000"/>
            </a:avLst>
          </a:prstGeom>
          <a:solidFill>
            <a:srgbClr val="EAF5FF"/>
          </a:solidFill>
          <a:ln w="15240">
            <a:solidFill>
              <a:srgbClr val="0B6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8">
            <a:extLst>
              <a:ext uri="{FF2B5EF4-FFF2-40B4-BE49-F238E27FC236}">
                <a16:creationId xmlns:a16="http://schemas.microsoft.com/office/drawing/2014/main" id="{AEA4F782-272D-1EB8-B1E1-BC1E145E3073}"/>
              </a:ext>
            </a:extLst>
          </p:cNvPr>
          <p:cNvSpPr txBox="1"/>
          <p:nvPr/>
        </p:nvSpPr>
        <p:spPr>
          <a:xfrm>
            <a:off x="1152144" y="2386983"/>
            <a:ext cx="2825496" cy="276999"/>
          </a:xfrm>
          <a:prstGeom prst="rect">
            <a:avLst/>
          </a:prstGeom>
          <a:noFill/>
        </p:spPr>
        <p:txBody>
          <a:bodyPr wrap="square" lIns="0" tIns="0" rIns="0" bIns="0" anchor="t">
            <a:spAutoFit/>
          </a:bodyPr>
          <a:lstStyle/>
          <a:p>
            <a:pPr algn="ctr"/>
            <a:r>
              <a:rPr sz="1800" b="1" dirty="0">
                <a:solidFill>
                  <a:srgbClr val="0B63E5"/>
                </a:solidFill>
                <a:latin typeface="Aptos"/>
              </a:rPr>
              <a:t>Chat</a:t>
            </a:r>
            <a:r>
              <a:rPr lang="it-IT" sz="1800" b="1" dirty="0">
                <a:solidFill>
                  <a:srgbClr val="0B63E5"/>
                </a:solidFill>
                <a:latin typeface="Aptos"/>
              </a:rPr>
              <a:t> A</a:t>
            </a:r>
            <a:r>
              <a:rPr lang="it-IT" b="1" dirty="0">
                <a:solidFill>
                  <a:srgbClr val="0B63E5"/>
                </a:solidFill>
                <a:latin typeface="Aptos"/>
              </a:rPr>
              <a:t>pp</a:t>
            </a:r>
            <a:endParaRPr sz="1800" b="1" dirty="0">
              <a:solidFill>
                <a:srgbClr val="0B63E5"/>
              </a:solidFill>
              <a:latin typeface="Aptos"/>
            </a:endParaRPr>
          </a:p>
        </p:txBody>
      </p:sp>
      <p:sp>
        <p:nvSpPr>
          <p:cNvPr id="45" name="TextBox 9">
            <a:extLst>
              <a:ext uri="{FF2B5EF4-FFF2-40B4-BE49-F238E27FC236}">
                <a16:creationId xmlns:a16="http://schemas.microsoft.com/office/drawing/2014/main" id="{BC335645-C175-A836-D421-EE398CC0A6C5}"/>
              </a:ext>
            </a:extLst>
          </p:cNvPr>
          <p:cNvSpPr txBox="1"/>
          <p:nvPr/>
        </p:nvSpPr>
        <p:spPr>
          <a:xfrm>
            <a:off x="1152144" y="2789319"/>
            <a:ext cx="2825496" cy="392415"/>
          </a:xfrm>
          <a:prstGeom prst="rect">
            <a:avLst/>
          </a:prstGeom>
          <a:noFill/>
        </p:spPr>
        <p:txBody>
          <a:bodyPr wrap="square" lIns="0" tIns="0" rIns="0" bIns="0" anchor="t">
            <a:spAutoFit/>
          </a:bodyPr>
          <a:lstStyle/>
          <a:p>
            <a:pPr algn="ctr"/>
            <a:r>
              <a:rPr sz="1150" b="0" dirty="0">
                <a:solidFill>
                  <a:srgbClr val="07133D"/>
                </a:solidFill>
                <a:latin typeface="Aptos"/>
              </a:rPr>
              <a:t>Growth signal:</a:t>
            </a:r>
            <a:br>
              <a:rPr dirty="0"/>
            </a:br>
            <a:r>
              <a:rPr sz="1400" dirty="0"/>
              <a:t>active requests and latency</a:t>
            </a:r>
          </a:p>
        </p:txBody>
      </p:sp>
      <p:sp>
        <p:nvSpPr>
          <p:cNvPr id="46" name="Rounded Rectangle 10">
            <a:extLst>
              <a:ext uri="{FF2B5EF4-FFF2-40B4-BE49-F238E27FC236}">
                <a16:creationId xmlns:a16="http://schemas.microsoft.com/office/drawing/2014/main" id="{0EC0E36F-FA06-4C22-6F6E-46CB7FF00AD8}"/>
              </a:ext>
            </a:extLst>
          </p:cNvPr>
          <p:cNvSpPr/>
          <p:nvPr/>
        </p:nvSpPr>
        <p:spPr>
          <a:xfrm>
            <a:off x="4544568" y="2240679"/>
            <a:ext cx="3154680" cy="1243584"/>
          </a:xfrm>
          <a:prstGeom prst="roundRect">
            <a:avLst>
              <a:gd name="adj" fmla="val 8000"/>
            </a:avLst>
          </a:prstGeom>
          <a:solidFill>
            <a:srgbClr val="E8F7EE"/>
          </a:solidFill>
          <a:ln w="15240">
            <a:solidFill>
              <a:srgbClr val="0B9F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11">
            <a:extLst>
              <a:ext uri="{FF2B5EF4-FFF2-40B4-BE49-F238E27FC236}">
                <a16:creationId xmlns:a16="http://schemas.microsoft.com/office/drawing/2014/main" id="{8A90C1D9-A027-33DB-75D7-7B5B3F66F58E}"/>
              </a:ext>
            </a:extLst>
          </p:cNvPr>
          <p:cNvSpPr txBox="1"/>
          <p:nvPr/>
        </p:nvSpPr>
        <p:spPr>
          <a:xfrm>
            <a:off x="4709160" y="2386983"/>
            <a:ext cx="2825496" cy="256032"/>
          </a:xfrm>
          <a:prstGeom prst="rect">
            <a:avLst/>
          </a:prstGeom>
          <a:noFill/>
        </p:spPr>
        <p:txBody>
          <a:bodyPr wrap="square" lIns="0" tIns="0" rIns="0" bIns="0" anchor="t">
            <a:spAutoFit/>
          </a:bodyPr>
          <a:lstStyle/>
          <a:p>
            <a:pPr algn="ctr"/>
            <a:r>
              <a:rPr sz="1800" b="1">
                <a:solidFill>
                  <a:srgbClr val="0B9F63"/>
                </a:solidFill>
                <a:latin typeface="Aptos"/>
              </a:rPr>
              <a:t>Workers</a:t>
            </a:r>
          </a:p>
        </p:txBody>
      </p:sp>
      <p:sp>
        <p:nvSpPr>
          <p:cNvPr id="48" name="TextBox 12">
            <a:extLst>
              <a:ext uri="{FF2B5EF4-FFF2-40B4-BE49-F238E27FC236}">
                <a16:creationId xmlns:a16="http://schemas.microsoft.com/office/drawing/2014/main" id="{BEBF8E6A-503C-2900-AF82-B65F0BFF9784}"/>
              </a:ext>
            </a:extLst>
          </p:cNvPr>
          <p:cNvSpPr txBox="1"/>
          <p:nvPr/>
        </p:nvSpPr>
        <p:spPr>
          <a:xfrm>
            <a:off x="4709160" y="2789319"/>
            <a:ext cx="2825496" cy="392415"/>
          </a:xfrm>
          <a:prstGeom prst="rect">
            <a:avLst/>
          </a:prstGeom>
          <a:noFill/>
        </p:spPr>
        <p:txBody>
          <a:bodyPr wrap="square" lIns="0" tIns="0" rIns="0" bIns="0" anchor="t">
            <a:spAutoFit/>
          </a:bodyPr>
          <a:lstStyle/>
          <a:p>
            <a:pPr algn="ctr"/>
            <a:r>
              <a:rPr sz="1150" b="0" dirty="0">
                <a:solidFill>
                  <a:srgbClr val="07133D"/>
                </a:solidFill>
                <a:latin typeface="Aptos"/>
              </a:rPr>
              <a:t>Growth signal:</a:t>
            </a:r>
            <a:br>
              <a:rPr dirty="0"/>
            </a:br>
            <a:r>
              <a:rPr sz="1400" dirty="0"/>
              <a:t>backlog, job duration, and drain time</a:t>
            </a:r>
          </a:p>
        </p:txBody>
      </p:sp>
      <p:sp>
        <p:nvSpPr>
          <p:cNvPr id="49" name="Rounded Rectangle 13">
            <a:extLst>
              <a:ext uri="{FF2B5EF4-FFF2-40B4-BE49-F238E27FC236}">
                <a16:creationId xmlns:a16="http://schemas.microsoft.com/office/drawing/2014/main" id="{51CD311B-21C2-7BF7-E198-BB444BA310E8}"/>
              </a:ext>
            </a:extLst>
          </p:cNvPr>
          <p:cNvSpPr/>
          <p:nvPr/>
        </p:nvSpPr>
        <p:spPr>
          <a:xfrm>
            <a:off x="8101584" y="2240679"/>
            <a:ext cx="3154680" cy="1243584"/>
          </a:xfrm>
          <a:prstGeom prst="roundRect">
            <a:avLst>
              <a:gd name="adj" fmla="val 8000"/>
            </a:avLst>
          </a:prstGeom>
          <a:solidFill>
            <a:srgbClr val="FFF4E4"/>
          </a:solidFill>
          <a:ln w="15240">
            <a:solidFill>
              <a:srgbClr val="F2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14">
            <a:extLst>
              <a:ext uri="{FF2B5EF4-FFF2-40B4-BE49-F238E27FC236}">
                <a16:creationId xmlns:a16="http://schemas.microsoft.com/office/drawing/2014/main" id="{B46426ED-4023-0E51-5165-108BCA468D1B}"/>
              </a:ext>
            </a:extLst>
          </p:cNvPr>
          <p:cNvSpPr txBox="1"/>
          <p:nvPr/>
        </p:nvSpPr>
        <p:spPr>
          <a:xfrm>
            <a:off x="8266176" y="2386983"/>
            <a:ext cx="2825496" cy="256032"/>
          </a:xfrm>
          <a:prstGeom prst="rect">
            <a:avLst/>
          </a:prstGeom>
          <a:noFill/>
        </p:spPr>
        <p:txBody>
          <a:bodyPr wrap="square" lIns="0" tIns="0" rIns="0" bIns="0" anchor="t">
            <a:spAutoFit/>
          </a:bodyPr>
          <a:lstStyle/>
          <a:p>
            <a:pPr algn="ctr"/>
            <a:r>
              <a:rPr sz="1800" b="1">
                <a:solidFill>
                  <a:srgbClr val="F28A00"/>
                </a:solidFill>
                <a:latin typeface="Aptos"/>
              </a:rPr>
              <a:t>Nodes</a:t>
            </a:r>
          </a:p>
        </p:txBody>
      </p:sp>
      <p:sp>
        <p:nvSpPr>
          <p:cNvPr id="51" name="TextBox 15">
            <a:extLst>
              <a:ext uri="{FF2B5EF4-FFF2-40B4-BE49-F238E27FC236}">
                <a16:creationId xmlns:a16="http://schemas.microsoft.com/office/drawing/2014/main" id="{7C9EC0F8-5CE1-8DA6-540A-B9BEAD8568EE}"/>
              </a:ext>
            </a:extLst>
          </p:cNvPr>
          <p:cNvSpPr txBox="1"/>
          <p:nvPr/>
        </p:nvSpPr>
        <p:spPr>
          <a:xfrm>
            <a:off x="8266176" y="2789319"/>
            <a:ext cx="2825496" cy="392415"/>
          </a:xfrm>
          <a:prstGeom prst="rect">
            <a:avLst/>
          </a:prstGeom>
          <a:noFill/>
        </p:spPr>
        <p:txBody>
          <a:bodyPr wrap="square" lIns="0" tIns="0" rIns="0" bIns="0" anchor="t">
            <a:spAutoFit/>
          </a:bodyPr>
          <a:lstStyle/>
          <a:p>
            <a:pPr algn="ctr"/>
            <a:r>
              <a:rPr sz="1150" b="0" dirty="0">
                <a:solidFill>
                  <a:srgbClr val="07133D"/>
                </a:solidFill>
                <a:latin typeface="Aptos"/>
              </a:rPr>
              <a:t>Growth signal:</a:t>
            </a:r>
            <a:br>
              <a:rPr dirty="0"/>
            </a:br>
            <a:r>
              <a:rPr sz="1400" dirty="0"/>
              <a:t>pod capacity demand</a:t>
            </a:r>
          </a:p>
        </p:txBody>
      </p:sp>
      <p:sp>
        <p:nvSpPr>
          <p:cNvPr id="52" name="Rounded Rectangle 16">
            <a:extLst>
              <a:ext uri="{FF2B5EF4-FFF2-40B4-BE49-F238E27FC236}">
                <a16:creationId xmlns:a16="http://schemas.microsoft.com/office/drawing/2014/main" id="{A4E20092-801D-1F89-5610-114DC654E86D}"/>
              </a:ext>
            </a:extLst>
          </p:cNvPr>
          <p:cNvSpPr/>
          <p:nvPr/>
        </p:nvSpPr>
        <p:spPr>
          <a:xfrm>
            <a:off x="1001467" y="3754218"/>
            <a:ext cx="3154680" cy="2165527"/>
          </a:xfrm>
          <a:prstGeom prst="roundRect">
            <a:avLst>
              <a:gd name="adj" fmla="val 8000"/>
            </a:avLst>
          </a:prstGeom>
          <a:solidFill>
            <a:srgbClr val="FFFFFF"/>
          </a:solidFill>
          <a:ln w="12700">
            <a:solidFill>
              <a:srgbClr val="D6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it-IT" dirty="0"/>
              <a:t>©©</a:t>
            </a:r>
            <a:endParaRPr dirty="0"/>
          </a:p>
        </p:txBody>
      </p:sp>
      <p:sp>
        <p:nvSpPr>
          <p:cNvPr id="53" name="TextBox 8">
            <a:extLst>
              <a:ext uri="{FF2B5EF4-FFF2-40B4-BE49-F238E27FC236}">
                <a16:creationId xmlns:a16="http://schemas.microsoft.com/office/drawing/2014/main" id="{4F8622A0-1419-4A06-F9E0-C69A79C3C321}"/>
              </a:ext>
            </a:extLst>
          </p:cNvPr>
          <p:cNvSpPr txBox="1"/>
          <p:nvPr/>
        </p:nvSpPr>
        <p:spPr>
          <a:xfrm>
            <a:off x="1088136" y="3887416"/>
            <a:ext cx="2825496" cy="276999"/>
          </a:xfrm>
          <a:prstGeom prst="rect">
            <a:avLst/>
          </a:prstGeom>
          <a:noFill/>
        </p:spPr>
        <p:txBody>
          <a:bodyPr wrap="square" lIns="0" tIns="0" rIns="0" bIns="0" anchor="t">
            <a:spAutoFit/>
          </a:bodyPr>
          <a:lstStyle/>
          <a:p>
            <a:pPr algn="ctr"/>
            <a:r>
              <a:rPr lang="it-IT" sz="1800" b="1" dirty="0">
                <a:solidFill>
                  <a:srgbClr val="0B63E5"/>
                </a:solidFill>
                <a:latin typeface="Aptos"/>
              </a:rPr>
              <a:t>Start Simple</a:t>
            </a:r>
            <a:endParaRPr sz="1800" b="1" dirty="0">
              <a:solidFill>
                <a:srgbClr val="0B63E5"/>
              </a:solidFill>
              <a:latin typeface="Aptos"/>
            </a:endParaRPr>
          </a:p>
        </p:txBody>
      </p:sp>
      <p:sp>
        <p:nvSpPr>
          <p:cNvPr id="54" name="CasellaDiTesto 53">
            <a:extLst>
              <a:ext uri="{FF2B5EF4-FFF2-40B4-BE49-F238E27FC236}">
                <a16:creationId xmlns:a16="http://schemas.microsoft.com/office/drawing/2014/main" id="{92AF9160-2E36-471E-D7CA-2879062CC981}"/>
              </a:ext>
            </a:extLst>
          </p:cNvPr>
          <p:cNvSpPr txBox="1"/>
          <p:nvPr/>
        </p:nvSpPr>
        <p:spPr>
          <a:xfrm>
            <a:off x="1152144" y="4253949"/>
            <a:ext cx="2825496" cy="1477328"/>
          </a:xfrm>
          <a:prstGeom prst="rect">
            <a:avLst/>
          </a:prstGeom>
          <a:noFill/>
        </p:spPr>
        <p:txBody>
          <a:bodyPr wrap="square" rtlCol="0">
            <a:spAutoFit/>
          </a:bodyPr>
          <a:lstStyle/>
          <a:p>
            <a:pPr marL="285750" indent="-285750">
              <a:buFont typeface="Arial" panose="020B0604020202020204" pitchFamily="34" charset="0"/>
              <a:buChar char="•"/>
            </a:pPr>
            <a:r>
              <a:rPr lang="it-IT" sz="1000" dirty="0" err="1">
                <a:solidFill>
                  <a:srgbClr val="07133D"/>
                </a:solidFill>
              </a:rPr>
              <a:t>Workloads</a:t>
            </a:r>
            <a:r>
              <a:rPr lang="it-IT" sz="1000" dirty="0">
                <a:solidFill>
                  <a:srgbClr val="07133D"/>
                </a:solidFill>
              </a:rPr>
              <a:t> share </a:t>
            </a:r>
            <a:r>
              <a:rPr lang="it-IT" sz="1000" dirty="0" err="1">
                <a:solidFill>
                  <a:srgbClr val="07133D"/>
                </a:solidFill>
              </a:rPr>
              <a:t>nodes</a:t>
            </a:r>
            <a:r>
              <a:rPr lang="it-IT" sz="1000" dirty="0">
                <a:solidFill>
                  <a:srgbClr val="07133D"/>
                </a:solidFill>
              </a:rPr>
              <a:t>, with </a:t>
            </a:r>
            <a:r>
              <a:rPr lang="it-IT" sz="1000" dirty="0" err="1">
                <a:solidFill>
                  <a:srgbClr val="07133D"/>
                </a:solidFill>
              </a:rPr>
              <a:t>requests</a:t>
            </a:r>
            <a:r>
              <a:rPr lang="it-IT" sz="1000" dirty="0">
                <a:solidFill>
                  <a:srgbClr val="07133D"/>
                </a:solidFill>
              </a:rPr>
              <a:t>/</a:t>
            </a:r>
            <a:r>
              <a:rPr lang="it-IT" sz="1000" dirty="0" err="1">
                <a:solidFill>
                  <a:srgbClr val="07133D"/>
                </a:solidFill>
              </a:rPr>
              <a:t>limits</a:t>
            </a:r>
            <a:r>
              <a:rPr lang="it-IT" sz="1000" dirty="0">
                <a:solidFill>
                  <a:srgbClr val="07133D"/>
                </a:solidFill>
              </a:rPr>
              <a:t> </a:t>
            </a:r>
            <a:r>
              <a:rPr lang="it-IT" sz="1000" dirty="0" err="1">
                <a:solidFill>
                  <a:srgbClr val="07133D"/>
                </a:solidFill>
              </a:rPr>
              <a:t>protecting</a:t>
            </a:r>
            <a:r>
              <a:rPr lang="it-IT" sz="1000" dirty="0">
                <a:solidFill>
                  <a:srgbClr val="07133D"/>
                </a:solidFill>
              </a:rPr>
              <a:t> chat from CPU-heavy processing.</a:t>
            </a:r>
          </a:p>
          <a:p>
            <a:pPr marL="285750" indent="-285750">
              <a:buFont typeface="Arial" panose="020B0604020202020204" pitchFamily="34" charset="0"/>
              <a:buChar char="•"/>
            </a:pPr>
            <a:r>
              <a:rPr lang="it-IT" sz="1000" dirty="0">
                <a:solidFill>
                  <a:srgbClr val="07133D"/>
                </a:solidFill>
              </a:rPr>
              <a:t>Scale workers on backlog; scale </a:t>
            </a:r>
            <a:r>
              <a:rPr lang="it-IT" sz="1000" dirty="0" err="1">
                <a:solidFill>
                  <a:srgbClr val="07133D"/>
                </a:solidFill>
              </a:rPr>
              <a:t>nodes</a:t>
            </a:r>
            <a:r>
              <a:rPr lang="it-IT" sz="1000" dirty="0">
                <a:solidFill>
                  <a:srgbClr val="07133D"/>
                </a:solidFill>
              </a:rPr>
              <a:t> via </a:t>
            </a:r>
            <a:r>
              <a:rPr lang="it-IT" sz="1000" dirty="0" err="1">
                <a:solidFill>
                  <a:srgbClr val="07133D"/>
                </a:solidFill>
              </a:rPr>
              <a:t>Managed</a:t>
            </a:r>
            <a:r>
              <a:rPr lang="it-IT" sz="1000" dirty="0">
                <a:solidFill>
                  <a:srgbClr val="07133D"/>
                </a:solidFill>
              </a:rPr>
              <a:t> </a:t>
            </a:r>
            <a:r>
              <a:rPr lang="it-IT" sz="1000" dirty="0" err="1">
                <a:solidFill>
                  <a:srgbClr val="07133D"/>
                </a:solidFill>
              </a:rPr>
              <a:t>Node</a:t>
            </a:r>
            <a:r>
              <a:rPr lang="it-IT" sz="1000" dirty="0">
                <a:solidFill>
                  <a:srgbClr val="07133D"/>
                </a:solidFill>
              </a:rPr>
              <a:t> Groups and Cluster </a:t>
            </a:r>
            <a:r>
              <a:rPr lang="it-IT" sz="1000" dirty="0" err="1">
                <a:solidFill>
                  <a:srgbClr val="07133D"/>
                </a:solidFill>
              </a:rPr>
              <a:t>Autoscaler</a:t>
            </a:r>
            <a:r>
              <a:rPr lang="it-IT" sz="1000" dirty="0">
                <a:solidFill>
                  <a:srgbClr val="07133D"/>
                </a:solidFill>
              </a:rPr>
              <a:t>.</a:t>
            </a:r>
          </a:p>
          <a:p>
            <a:pPr marL="285750" indent="-285750">
              <a:buFont typeface="Arial" panose="020B0604020202020204" pitchFamily="34" charset="0"/>
              <a:buChar char="•"/>
            </a:pPr>
            <a:r>
              <a:rPr lang="it-IT" sz="1000" dirty="0">
                <a:solidFill>
                  <a:srgbClr val="07133D"/>
                </a:solidFill>
              </a:rPr>
              <a:t>SQS </a:t>
            </a:r>
            <a:r>
              <a:rPr lang="it-IT" sz="1000" dirty="0" err="1">
                <a:solidFill>
                  <a:srgbClr val="07133D"/>
                </a:solidFill>
              </a:rPr>
              <a:t>absorbs</a:t>
            </a:r>
            <a:r>
              <a:rPr lang="it-IT" sz="1000" dirty="0">
                <a:solidFill>
                  <a:srgbClr val="07133D"/>
                </a:solidFill>
              </a:rPr>
              <a:t> spikes </a:t>
            </a:r>
            <a:r>
              <a:rPr lang="it-IT" sz="1000" dirty="0" err="1">
                <a:solidFill>
                  <a:srgbClr val="07133D"/>
                </a:solidFill>
              </a:rPr>
              <a:t>while</a:t>
            </a:r>
            <a:r>
              <a:rPr lang="it-IT" sz="1000" dirty="0">
                <a:solidFill>
                  <a:srgbClr val="07133D"/>
                </a:solidFill>
              </a:rPr>
              <a:t> </a:t>
            </a:r>
            <a:r>
              <a:rPr lang="it-IT" sz="1000" dirty="0" err="1">
                <a:solidFill>
                  <a:srgbClr val="07133D"/>
                </a:solidFill>
              </a:rPr>
              <a:t>capacity</a:t>
            </a:r>
            <a:r>
              <a:rPr lang="it-IT" sz="1000" dirty="0">
                <a:solidFill>
                  <a:srgbClr val="07133D"/>
                </a:solidFill>
              </a:rPr>
              <a:t> starts. HPA on app </a:t>
            </a:r>
            <a:r>
              <a:rPr lang="it-IT" sz="1000" dirty="0" err="1">
                <a:solidFill>
                  <a:srgbClr val="07133D"/>
                </a:solidFill>
              </a:rPr>
              <a:t>signals</a:t>
            </a:r>
            <a:r>
              <a:rPr lang="it-IT" sz="1000" dirty="0">
                <a:solidFill>
                  <a:srgbClr val="07133D"/>
                </a:solidFill>
              </a:rPr>
              <a:t> </a:t>
            </a:r>
            <a:r>
              <a:rPr lang="it-IT" sz="1000" dirty="0" err="1">
                <a:solidFill>
                  <a:srgbClr val="07133D"/>
                </a:solidFill>
              </a:rPr>
              <a:t>needs</a:t>
            </a:r>
            <a:r>
              <a:rPr lang="it-IT" sz="1000" dirty="0">
                <a:solidFill>
                  <a:srgbClr val="07133D"/>
                </a:solidFill>
              </a:rPr>
              <a:t> a </a:t>
            </a:r>
            <a:r>
              <a:rPr lang="it-IT" sz="1000" dirty="0" err="1">
                <a:solidFill>
                  <a:srgbClr val="07133D"/>
                </a:solidFill>
              </a:rPr>
              <a:t>metrics</a:t>
            </a:r>
            <a:r>
              <a:rPr lang="it-IT" sz="1000" dirty="0">
                <a:solidFill>
                  <a:srgbClr val="07133D"/>
                </a:solidFill>
              </a:rPr>
              <a:t> </a:t>
            </a:r>
            <a:r>
              <a:rPr lang="it-IT" sz="1000" dirty="0" err="1">
                <a:solidFill>
                  <a:srgbClr val="07133D"/>
                </a:solidFill>
              </a:rPr>
              <a:t>adapter</a:t>
            </a:r>
            <a:r>
              <a:rPr lang="it-IT" sz="1000" dirty="0">
                <a:solidFill>
                  <a:srgbClr val="07133D"/>
                </a:solidFill>
              </a:rPr>
              <a:t>.</a:t>
            </a:r>
          </a:p>
        </p:txBody>
      </p:sp>
      <p:sp>
        <p:nvSpPr>
          <p:cNvPr id="55" name="Shape 10">
            <a:extLst>
              <a:ext uri="{FF2B5EF4-FFF2-40B4-BE49-F238E27FC236}">
                <a16:creationId xmlns:a16="http://schemas.microsoft.com/office/drawing/2014/main" id="{BDF005CB-41D9-A54D-4D3C-799B1091AA6C}"/>
              </a:ext>
            </a:extLst>
          </p:cNvPr>
          <p:cNvSpPr/>
          <p:nvPr/>
        </p:nvSpPr>
        <p:spPr>
          <a:xfrm>
            <a:off x="5062639" y="4716714"/>
            <a:ext cx="1870943" cy="0"/>
          </a:xfrm>
          <a:prstGeom prst="line">
            <a:avLst/>
          </a:prstGeom>
          <a:noFill/>
          <a:ln w="17780">
            <a:solidFill>
              <a:srgbClr val="607089"/>
            </a:solidFill>
            <a:prstDash val="solid"/>
            <a:tailEnd type="triangle"/>
          </a:ln>
        </p:spPr>
        <p:txBody>
          <a:bodyPr/>
          <a:lstStyle/>
          <a:p>
            <a:endParaRPr lang="it-IT"/>
          </a:p>
        </p:txBody>
      </p:sp>
      <p:sp>
        <p:nvSpPr>
          <p:cNvPr id="56" name="Rounded Rectangle 16">
            <a:extLst>
              <a:ext uri="{FF2B5EF4-FFF2-40B4-BE49-F238E27FC236}">
                <a16:creationId xmlns:a16="http://schemas.microsoft.com/office/drawing/2014/main" id="{B014353C-841D-7E78-C819-13C36BC5CCE1}"/>
              </a:ext>
            </a:extLst>
          </p:cNvPr>
          <p:cNvSpPr/>
          <p:nvPr/>
        </p:nvSpPr>
        <p:spPr>
          <a:xfrm>
            <a:off x="8017567" y="3797748"/>
            <a:ext cx="3154680" cy="2121998"/>
          </a:xfrm>
          <a:prstGeom prst="roundRect">
            <a:avLst>
              <a:gd name="adj" fmla="val 8000"/>
            </a:avLst>
          </a:prstGeom>
          <a:solidFill>
            <a:srgbClr val="FFFFFF"/>
          </a:solidFill>
          <a:ln w="12700">
            <a:solidFill>
              <a:srgbClr val="D6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it-IT" dirty="0"/>
              <a:t>©©</a:t>
            </a:r>
            <a:endParaRPr dirty="0"/>
          </a:p>
        </p:txBody>
      </p:sp>
      <p:sp>
        <p:nvSpPr>
          <p:cNvPr id="57" name="TextBox 8">
            <a:extLst>
              <a:ext uri="{FF2B5EF4-FFF2-40B4-BE49-F238E27FC236}">
                <a16:creationId xmlns:a16="http://schemas.microsoft.com/office/drawing/2014/main" id="{B6362339-33E0-E82D-C2C4-A0249E2763EE}"/>
              </a:ext>
            </a:extLst>
          </p:cNvPr>
          <p:cNvSpPr txBox="1"/>
          <p:nvPr/>
        </p:nvSpPr>
        <p:spPr>
          <a:xfrm>
            <a:off x="8104236" y="3930945"/>
            <a:ext cx="2825496" cy="276999"/>
          </a:xfrm>
          <a:prstGeom prst="rect">
            <a:avLst/>
          </a:prstGeom>
          <a:noFill/>
        </p:spPr>
        <p:txBody>
          <a:bodyPr wrap="square" lIns="0" tIns="0" rIns="0" bIns="0" anchor="t">
            <a:spAutoFit/>
          </a:bodyPr>
          <a:lstStyle/>
          <a:p>
            <a:pPr algn="ctr"/>
            <a:r>
              <a:rPr lang="it-IT" sz="1800" b="1" dirty="0" err="1">
                <a:solidFill>
                  <a:srgbClr val="0B63E5"/>
                </a:solidFill>
                <a:latin typeface="Aptos"/>
              </a:rPr>
              <a:t>If</a:t>
            </a:r>
            <a:r>
              <a:rPr lang="it-IT" sz="1800" b="1" dirty="0">
                <a:solidFill>
                  <a:srgbClr val="0B63E5"/>
                </a:solidFill>
                <a:latin typeface="Aptos"/>
              </a:rPr>
              <a:t> </a:t>
            </a:r>
            <a:r>
              <a:rPr lang="it-IT" sz="1800" b="1" dirty="0" err="1">
                <a:solidFill>
                  <a:srgbClr val="0B63E5"/>
                </a:solidFill>
                <a:latin typeface="Aptos"/>
              </a:rPr>
              <a:t>evidence</a:t>
            </a:r>
            <a:r>
              <a:rPr lang="it-IT" sz="1800" b="1" dirty="0">
                <a:solidFill>
                  <a:srgbClr val="0B63E5"/>
                </a:solidFill>
                <a:latin typeface="Aptos"/>
              </a:rPr>
              <a:t> </a:t>
            </a:r>
            <a:r>
              <a:rPr lang="it-IT" sz="1800" b="1" dirty="0" err="1">
                <a:solidFill>
                  <a:srgbClr val="0B63E5"/>
                </a:solidFill>
                <a:latin typeface="Aptos"/>
              </a:rPr>
              <a:t>confirm</a:t>
            </a:r>
            <a:endParaRPr sz="1800" b="1" dirty="0">
              <a:solidFill>
                <a:srgbClr val="0B63E5"/>
              </a:solidFill>
              <a:latin typeface="Aptos"/>
            </a:endParaRPr>
          </a:p>
        </p:txBody>
      </p:sp>
      <p:sp>
        <p:nvSpPr>
          <p:cNvPr id="58" name="CasellaDiTesto 57">
            <a:extLst>
              <a:ext uri="{FF2B5EF4-FFF2-40B4-BE49-F238E27FC236}">
                <a16:creationId xmlns:a16="http://schemas.microsoft.com/office/drawing/2014/main" id="{A692BD3D-02BF-377D-13CA-69E80AEAF694}"/>
              </a:ext>
            </a:extLst>
          </p:cNvPr>
          <p:cNvSpPr txBox="1"/>
          <p:nvPr/>
        </p:nvSpPr>
        <p:spPr>
          <a:xfrm>
            <a:off x="8168244" y="4297478"/>
            <a:ext cx="2825496" cy="1015663"/>
          </a:xfrm>
          <a:prstGeom prst="rect">
            <a:avLst/>
          </a:prstGeom>
          <a:noFill/>
        </p:spPr>
        <p:txBody>
          <a:bodyPr wrap="square" rtlCol="0">
            <a:spAutoFit/>
          </a:bodyPr>
          <a:lstStyle/>
          <a:p>
            <a:pPr marL="285750" indent="-285750">
              <a:buFont typeface="Arial" panose="020B0604020202020204" pitchFamily="34" charset="0"/>
              <a:buChar char="•"/>
            </a:pPr>
            <a:r>
              <a:rPr lang="it-IT" sz="1000" dirty="0" err="1">
                <a:solidFill>
                  <a:srgbClr val="07133D"/>
                </a:solidFill>
              </a:rPr>
              <a:t>Dedicated</a:t>
            </a:r>
            <a:r>
              <a:rPr lang="it-IT" sz="1000" dirty="0">
                <a:solidFill>
                  <a:srgbClr val="07133D"/>
                </a:solidFill>
              </a:rPr>
              <a:t> CPU-</a:t>
            </a:r>
            <a:r>
              <a:rPr lang="it-IT" sz="1000" dirty="0" err="1">
                <a:solidFill>
                  <a:srgbClr val="07133D"/>
                </a:solidFill>
              </a:rPr>
              <a:t>nodes</a:t>
            </a:r>
            <a:r>
              <a:rPr lang="it-IT" sz="1000" dirty="0">
                <a:solidFill>
                  <a:srgbClr val="07133D"/>
                </a:solidFill>
              </a:rPr>
              <a:t> </a:t>
            </a:r>
            <a:r>
              <a:rPr lang="it-IT" sz="1000" dirty="0" err="1">
                <a:solidFill>
                  <a:srgbClr val="07133D"/>
                </a:solidFill>
              </a:rPr>
              <a:t>fro</a:t>
            </a:r>
            <a:r>
              <a:rPr lang="it-IT" sz="1000" dirty="0">
                <a:solidFill>
                  <a:srgbClr val="07133D"/>
                </a:solidFill>
              </a:rPr>
              <a:t> CPU intensive </a:t>
            </a:r>
            <a:r>
              <a:rPr lang="it-IT" sz="1000" dirty="0" err="1">
                <a:solidFill>
                  <a:srgbClr val="07133D"/>
                </a:solidFill>
              </a:rPr>
              <a:t>workloads</a:t>
            </a:r>
            <a:endParaRPr lang="it-IT" sz="1000" dirty="0">
              <a:solidFill>
                <a:srgbClr val="07133D"/>
              </a:solidFill>
            </a:endParaRPr>
          </a:p>
          <a:p>
            <a:pPr marL="285750" indent="-285750">
              <a:buFont typeface="Arial" panose="020B0604020202020204" pitchFamily="34" charset="0"/>
              <a:buChar char="•"/>
            </a:pPr>
            <a:r>
              <a:rPr lang="it-IT" sz="1000" dirty="0">
                <a:solidFill>
                  <a:srgbClr val="07133D"/>
                </a:solidFill>
              </a:rPr>
              <a:t>GPU devices for Meridian-</a:t>
            </a:r>
            <a:r>
              <a:rPr lang="it-IT" sz="1000" dirty="0" err="1">
                <a:solidFill>
                  <a:srgbClr val="07133D"/>
                </a:solidFill>
              </a:rPr>
              <a:t>managed</a:t>
            </a:r>
            <a:r>
              <a:rPr lang="it-IT" sz="1000" dirty="0">
                <a:solidFill>
                  <a:srgbClr val="07133D"/>
                </a:solidFill>
              </a:rPr>
              <a:t> </a:t>
            </a:r>
            <a:r>
              <a:rPr lang="it-IT" sz="1000" dirty="0" err="1">
                <a:solidFill>
                  <a:srgbClr val="07133D"/>
                </a:solidFill>
              </a:rPr>
              <a:t>inference</a:t>
            </a:r>
            <a:r>
              <a:rPr lang="it-IT" sz="1000" dirty="0">
                <a:solidFill>
                  <a:srgbClr val="07133D"/>
                </a:solidFill>
              </a:rPr>
              <a:t> models</a:t>
            </a:r>
          </a:p>
          <a:p>
            <a:pPr marL="285750" indent="-285750">
              <a:buFont typeface="Arial" panose="020B0604020202020204" pitchFamily="34" charset="0"/>
              <a:buChar char="•"/>
            </a:pPr>
            <a:r>
              <a:rPr lang="it-IT" sz="1000" dirty="0">
                <a:solidFill>
                  <a:srgbClr val="07133D"/>
                </a:solidFill>
              </a:rPr>
              <a:t>Caching, database access </a:t>
            </a:r>
            <a:r>
              <a:rPr lang="it-IT" sz="1000" dirty="0" err="1">
                <a:solidFill>
                  <a:srgbClr val="07133D"/>
                </a:solidFill>
              </a:rPr>
              <a:t>optimization</a:t>
            </a:r>
            <a:r>
              <a:rPr lang="it-IT" sz="1000" dirty="0">
                <a:solidFill>
                  <a:srgbClr val="07133D"/>
                </a:solidFill>
              </a:rPr>
              <a:t> </a:t>
            </a:r>
            <a:r>
              <a:rPr lang="it-IT" sz="1000" dirty="0" err="1">
                <a:solidFill>
                  <a:srgbClr val="07133D"/>
                </a:solidFill>
              </a:rPr>
              <a:t>etc</a:t>
            </a:r>
            <a:r>
              <a:rPr lang="it-IT" sz="1000" dirty="0">
                <a:solidFill>
                  <a:srgbClr val="07133D"/>
                </a:solidFill>
              </a:rPr>
              <a:t>…</a:t>
            </a:r>
          </a:p>
        </p:txBody>
      </p:sp>
      <p:sp>
        <p:nvSpPr>
          <p:cNvPr id="59" name="CasellaDiTesto 58">
            <a:extLst>
              <a:ext uri="{FF2B5EF4-FFF2-40B4-BE49-F238E27FC236}">
                <a16:creationId xmlns:a16="http://schemas.microsoft.com/office/drawing/2014/main" id="{82988122-3C0A-35CC-1651-9D0CA27D733D}"/>
              </a:ext>
            </a:extLst>
          </p:cNvPr>
          <p:cNvSpPr txBox="1"/>
          <p:nvPr/>
        </p:nvSpPr>
        <p:spPr>
          <a:xfrm>
            <a:off x="5268449" y="4297478"/>
            <a:ext cx="1441741" cy="400110"/>
          </a:xfrm>
          <a:prstGeom prst="rect">
            <a:avLst/>
          </a:prstGeom>
          <a:noFill/>
        </p:spPr>
        <p:txBody>
          <a:bodyPr wrap="none" rtlCol="0">
            <a:spAutoFit/>
          </a:bodyPr>
          <a:lstStyle/>
          <a:p>
            <a:r>
              <a:rPr lang="it-IT" sz="2000" b="1" dirty="0">
                <a:solidFill>
                  <a:schemeClr val="bg2">
                    <a:lumMod val="25000"/>
                  </a:schemeClr>
                </a:solidFill>
              </a:rPr>
              <a:t>Monitoring</a:t>
            </a:r>
          </a:p>
        </p:txBody>
      </p:sp>
      <p:sp>
        <p:nvSpPr>
          <p:cNvPr id="62" name="CasellaDiTesto 61">
            <a:extLst>
              <a:ext uri="{FF2B5EF4-FFF2-40B4-BE49-F238E27FC236}">
                <a16:creationId xmlns:a16="http://schemas.microsoft.com/office/drawing/2014/main" id="{AA792CD6-E4D9-2938-A3BC-1E00AB951859}"/>
              </a:ext>
            </a:extLst>
          </p:cNvPr>
          <p:cNvSpPr txBox="1"/>
          <p:nvPr/>
        </p:nvSpPr>
        <p:spPr>
          <a:xfrm>
            <a:off x="5140214" y="4859243"/>
            <a:ext cx="1715791" cy="954107"/>
          </a:xfrm>
          <a:prstGeom prst="rect">
            <a:avLst/>
          </a:prstGeom>
          <a:noFill/>
          <a:ln w="19050">
            <a:solidFill>
              <a:srgbClr val="C00000"/>
            </a:solidFill>
          </a:ln>
        </p:spPr>
        <p:txBody>
          <a:bodyPr wrap="none" rtlCol="0">
            <a:spAutoFit/>
          </a:bodyPr>
          <a:lstStyle/>
          <a:p>
            <a:r>
              <a:rPr lang="it-IT" sz="1400" b="1" dirty="0">
                <a:solidFill>
                  <a:srgbClr val="07133D"/>
                </a:solidFill>
              </a:rPr>
              <a:t>Limits</a:t>
            </a:r>
            <a:r>
              <a:rPr lang="it-IT" sz="1400" dirty="0">
                <a:solidFill>
                  <a:srgbClr val="07133D"/>
                </a:solidFill>
              </a:rPr>
              <a:t>: </a:t>
            </a:r>
          </a:p>
          <a:p>
            <a:pPr marL="285750" indent="-285750">
              <a:buFont typeface="Arial" panose="020B0604020202020204" pitchFamily="34" charset="0"/>
              <a:buChar char="•"/>
            </a:pPr>
            <a:r>
              <a:rPr lang="it-IT" sz="1400" dirty="0">
                <a:solidFill>
                  <a:srgbClr val="07133D"/>
                </a:solidFill>
              </a:rPr>
              <a:t>DB connections</a:t>
            </a:r>
          </a:p>
          <a:p>
            <a:pPr marL="285750" indent="-285750">
              <a:buFont typeface="Arial" panose="020B0604020202020204" pitchFamily="34" charset="0"/>
              <a:buChar char="•"/>
            </a:pPr>
            <a:r>
              <a:rPr lang="it-IT" sz="1400" dirty="0">
                <a:solidFill>
                  <a:srgbClr val="07133D"/>
                </a:solidFill>
              </a:rPr>
              <a:t>Provider </a:t>
            </a:r>
            <a:r>
              <a:rPr lang="it-IT" sz="1400" dirty="0" err="1">
                <a:solidFill>
                  <a:srgbClr val="07133D"/>
                </a:solidFill>
              </a:rPr>
              <a:t>quotas</a:t>
            </a:r>
            <a:endParaRPr lang="it-IT" sz="1400" dirty="0">
              <a:solidFill>
                <a:srgbClr val="07133D"/>
              </a:solidFill>
            </a:endParaRPr>
          </a:p>
          <a:p>
            <a:pPr marL="285750" indent="-285750">
              <a:buFont typeface="Arial" panose="020B0604020202020204" pitchFamily="34" charset="0"/>
              <a:buChar char="•"/>
            </a:pPr>
            <a:r>
              <a:rPr lang="it-IT" sz="1400" dirty="0">
                <a:solidFill>
                  <a:srgbClr val="07133D"/>
                </a:solidFill>
              </a:rPr>
              <a:t>AI budget.</a:t>
            </a:r>
            <a:endParaRPr lang="it-IT"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sp>
        <p:nvSpPr>
          <p:cNvPr id="3" name="Text 1"/>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Initial Cost Estimation</a:t>
            </a:r>
            <a:endParaRPr lang="en-US" sz="2750" dirty="0"/>
          </a:p>
        </p:txBody>
      </p:sp>
      <p:sp>
        <p:nvSpPr>
          <p:cNvPr id="4" name="Shape 2"/>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5" name="Shape 3"/>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6" name="Text 4"/>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8/10</a:t>
            </a:r>
            <a:endParaRPr lang="en-US" sz="850" dirty="0"/>
          </a:p>
        </p:txBody>
      </p:sp>
      <p:sp>
        <p:nvSpPr>
          <p:cNvPr id="95" name="Shape 13">
            <a:extLst>
              <a:ext uri="{FF2B5EF4-FFF2-40B4-BE49-F238E27FC236}">
                <a16:creationId xmlns:a16="http://schemas.microsoft.com/office/drawing/2014/main" id="{074D63C8-E1B9-65F6-EEDA-D8C7AEB599D5}"/>
              </a:ext>
            </a:extLst>
          </p:cNvPr>
          <p:cNvSpPr/>
          <p:nvPr/>
        </p:nvSpPr>
        <p:spPr>
          <a:xfrm>
            <a:off x="636104" y="1353313"/>
            <a:ext cx="2971800" cy="3959352"/>
          </a:xfrm>
          <a:prstGeom prst="roundRect">
            <a:avLst>
              <a:gd name="adj" fmla="val 2462"/>
            </a:avLst>
          </a:prstGeom>
          <a:solidFill>
            <a:srgbClr val="F8FAFC"/>
          </a:solidFill>
          <a:ln w="12700">
            <a:solidFill>
              <a:srgbClr val="BFC9D7"/>
            </a:solidFill>
            <a:prstDash val="solid"/>
          </a:ln>
        </p:spPr>
        <p:txBody>
          <a:bodyPr/>
          <a:lstStyle/>
          <a:p>
            <a:endParaRPr lang="it-IT"/>
          </a:p>
        </p:txBody>
      </p:sp>
      <p:sp>
        <p:nvSpPr>
          <p:cNvPr id="96" name="Shape 14">
            <a:extLst>
              <a:ext uri="{FF2B5EF4-FFF2-40B4-BE49-F238E27FC236}">
                <a16:creationId xmlns:a16="http://schemas.microsoft.com/office/drawing/2014/main" id="{7AE911E8-C13C-6145-E4D8-3EE5C933B882}"/>
              </a:ext>
            </a:extLst>
          </p:cNvPr>
          <p:cNvSpPr/>
          <p:nvPr/>
        </p:nvSpPr>
        <p:spPr>
          <a:xfrm>
            <a:off x="3739499" y="1371203"/>
            <a:ext cx="2971800" cy="3959352"/>
          </a:xfrm>
          <a:prstGeom prst="roundRect">
            <a:avLst>
              <a:gd name="adj" fmla="val 2462"/>
            </a:avLst>
          </a:prstGeom>
          <a:solidFill>
            <a:srgbClr val="F8FAFC"/>
          </a:solidFill>
          <a:ln w="12700">
            <a:solidFill>
              <a:srgbClr val="BFC9D7"/>
            </a:solidFill>
            <a:prstDash val="solid"/>
          </a:ln>
        </p:spPr>
        <p:txBody>
          <a:bodyPr/>
          <a:lstStyle/>
          <a:p>
            <a:endParaRPr lang="it-IT"/>
          </a:p>
        </p:txBody>
      </p:sp>
      <p:sp>
        <p:nvSpPr>
          <p:cNvPr id="99" name="Text 17">
            <a:extLst>
              <a:ext uri="{FF2B5EF4-FFF2-40B4-BE49-F238E27FC236}">
                <a16:creationId xmlns:a16="http://schemas.microsoft.com/office/drawing/2014/main" id="{FC766E1C-98A1-70BA-1759-6DBAFCEB9692}"/>
              </a:ext>
            </a:extLst>
          </p:cNvPr>
          <p:cNvSpPr/>
          <p:nvPr/>
        </p:nvSpPr>
        <p:spPr>
          <a:xfrm>
            <a:off x="782408" y="1517905"/>
            <a:ext cx="2688336" cy="164592"/>
          </a:xfrm>
          <a:prstGeom prst="rect">
            <a:avLst/>
          </a:prstGeom>
          <a:noFill/>
          <a:ln/>
        </p:spPr>
        <p:txBody>
          <a:bodyPr wrap="square" lIns="254" tIns="254" rIns="254" bIns="254" rtlCol="0" anchor="t">
            <a:normAutofit fontScale="85000" lnSpcReduction="20000"/>
          </a:bodyPr>
          <a:lstStyle/>
          <a:p>
            <a:pPr marL="0" indent="0" algn="ctr">
              <a:buNone/>
            </a:pPr>
            <a:r>
              <a:rPr lang="en-US" sz="1380" b="1" dirty="0">
                <a:solidFill>
                  <a:srgbClr val="0B63E5"/>
                </a:solidFill>
                <a:latin typeface="Aptos" pitchFamily="34" charset="0"/>
                <a:ea typeface="Aptos" pitchFamily="34" charset="-122"/>
                <a:cs typeface="Aptos" pitchFamily="34" charset="-120"/>
              </a:rPr>
              <a:t>Baseline costs</a:t>
            </a:r>
            <a:endParaRPr lang="en-US" sz="1380" dirty="0"/>
          </a:p>
        </p:txBody>
      </p:sp>
      <p:sp>
        <p:nvSpPr>
          <p:cNvPr id="100" name="Text 18">
            <a:extLst>
              <a:ext uri="{FF2B5EF4-FFF2-40B4-BE49-F238E27FC236}">
                <a16:creationId xmlns:a16="http://schemas.microsoft.com/office/drawing/2014/main" id="{E264CD4C-07DC-24EF-CD80-010E5694EA80}"/>
              </a:ext>
            </a:extLst>
          </p:cNvPr>
          <p:cNvSpPr/>
          <p:nvPr/>
        </p:nvSpPr>
        <p:spPr>
          <a:xfrm>
            <a:off x="3882224" y="1517905"/>
            <a:ext cx="2688336" cy="164592"/>
          </a:xfrm>
          <a:prstGeom prst="rect">
            <a:avLst/>
          </a:prstGeom>
          <a:noFill/>
          <a:ln/>
        </p:spPr>
        <p:txBody>
          <a:bodyPr wrap="square" lIns="254" tIns="254" rIns="254" bIns="254" rtlCol="0" anchor="t">
            <a:normAutofit fontScale="85000" lnSpcReduction="20000"/>
          </a:bodyPr>
          <a:lstStyle/>
          <a:p>
            <a:pPr marL="0" indent="0" algn="ctr">
              <a:buNone/>
            </a:pPr>
            <a:r>
              <a:rPr lang="en-US" sz="1380" b="1" dirty="0">
                <a:solidFill>
                  <a:srgbClr val="673AB7"/>
                </a:solidFill>
                <a:latin typeface="Aptos" pitchFamily="34" charset="0"/>
                <a:ea typeface="Aptos" pitchFamily="34" charset="-122"/>
                <a:cs typeface="Aptos" pitchFamily="34" charset="-120"/>
              </a:rPr>
              <a:t>Variable costs</a:t>
            </a:r>
            <a:endParaRPr lang="en-US" sz="1380" dirty="0"/>
          </a:p>
        </p:txBody>
      </p:sp>
      <p:sp>
        <p:nvSpPr>
          <p:cNvPr id="101" name="Text 19">
            <a:extLst>
              <a:ext uri="{FF2B5EF4-FFF2-40B4-BE49-F238E27FC236}">
                <a16:creationId xmlns:a16="http://schemas.microsoft.com/office/drawing/2014/main" id="{60ACE883-F52B-B776-C53B-E93ED927708D}"/>
              </a:ext>
            </a:extLst>
          </p:cNvPr>
          <p:cNvSpPr/>
          <p:nvPr/>
        </p:nvSpPr>
        <p:spPr>
          <a:xfrm>
            <a:off x="936664" y="2121008"/>
            <a:ext cx="1408176" cy="224627"/>
          </a:xfrm>
          <a:prstGeom prst="rect">
            <a:avLst/>
          </a:prstGeom>
          <a:noFill/>
          <a:ln/>
        </p:spPr>
        <p:txBody>
          <a:bodyPr wrap="square" lIns="254" tIns="254" rIns="254" bIns="254" rtlCol="0" anchor="t">
            <a:normAutofit/>
          </a:bodyPr>
          <a:lstStyle/>
          <a:p>
            <a:pPr marL="0" indent="0" algn="l">
              <a:buNone/>
            </a:pPr>
            <a:r>
              <a:rPr lang="en-US" sz="1080" dirty="0">
                <a:solidFill>
                  <a:srgbClr val="07133D"/>
                </a:solidFill>
                <a:latin typeface="Aptos" pitchFamily="34" charset="0"/>
                <a:ea typeface="Aptos" pitchFamily="34" charset="-122"/>
                <a:cs typeface="Aptos" pitchFamily="34" charset="-120"/>
              </a:rPr>
              <a:t>EKS control plane</a:t>
            </a:r>
            <a:endParaRPr lang="en-US" sz="1080" dirty="0"/>
          </a:p>
        </p:txBody>
      </p:sp>
      <p:sp>
        <p:nvSpPr>
          <p:cNvPr id="102" name="Shape 20">
            <a:extLst>
              <a:ext uri="{FF2B5EF4-FFF2-40B4-BE49-F238E27FC236}">
                <a16:creationId xmlns:a16="http://schemas.microsoft.com/office/drawing/2014/main" id="{84B39EFD-CFB7-8657-FBB7-0DCF8083E42D}"/>
              </a:ext>
            </a:extLst>
          </p:cNvPr>
          <p:cNvSpPr/>
          <p:nvPr/>
        </p:nvSpPr>
        <p:spPr>
          <a:xfrm>
            <a:off x="2400300" y="2084833"/>
            <a:ext cx="1042416" cy="256032"/>
          </a:xfrm>
          <a:prstGeom prst="roundRect">
            <a:avLst>
              <a:gd name="adj" fmla="val 28571"/>
            </a:avLst>
          </a:prstGeom>
          <a:solidFill>
            <a:srgbClr val="EAF5FF"/>
          </a:solidFill>
          <a:ln w="10160">
            <a:solidFill>
              <a:srgbClr val="0B63E5"/>
            </a:solidFill>
            <a:prstDash val="solid"/>
          </a:ln>
        </p:spPr>
        <p:txBody>
          <a:bodyPr/>
          <a:lstStyle/>
          <a:p>
            <a:endParaRPr lang="it-IT"/>
          </a:p>
        </p:txBody>
      </p:sp>
      <p:sp>
        <p:nvSpPr>
          <p:cNvPr id="103" name="Text 21">
            <a:extLst>
              <a:ext uri="{FF2B5EF4-FFF2-40B4-BE49-F238E27FC236}">
                <a16:creationId xmlns:a16="http://schemas.microsoft.com/office/drawing/2014/main" id="{45FA3C10-5618-0E99-CE2A-A8E71DF60C23}"/>
              </a:ext>
            </a:extLst>
          </p:cNvPr>
          <p:cNvSpPr/>
          <p:nvPr/>
        </p:nvSpPr>
        <p:spPr>
          <a:xfrm>
            <a:off x="2419184" y="2121014"/>
            <a:ext cx="969264" cy="215877"/>
          </a:xfrm>
          <a:prstGeom prst="rect">
            <a:avLst/>
          </a:prstGeom>
          <a:noFill/>
          <a:ln/>
        </p:spPr>
        <p:txBody>
          <a:bodyPr wrap="square" lIns="0" tIns="0" rIns="0" bIns="0" rtlCol="0" anchor="t">
            <a:normAutofit/>
          </a:bodyPr>
          <a:lstStyle/>
          <a:p>
            <a:pPr marL="0" indent="0" algn="ctr">
              <a:buNone/>
            </a:pPr>
            <a:r>
              <a:rPr lang="en-US" sz="1200" b="1" dirty="0">
                <a:solidFill>
                  <a:srgbClr val="0B63E5"/>
                </a:solidFill>
                <a:latin typeface="Aptos" pitchFamily="34" charset="0"/>
                <a:ea typeface="Aptos" pitchFamily="34" charset="-122"/>
                <a:cs typeface="Aptos" pitchFamily="34" charset="-120"/>
              </a:rPr>
              <a:t>≈€60–70/mo</a:t>
            </a:r>
            <a:endParaRPr lang="en-US" sz="1200" dirty="0"/>
          </a:p>
        </p:txBody>
      </p:sp>
      <p:sp>
        <p:nvSpPr>
          <p:cNvPr id="104" name="Shape 22">
            <a:extLst>
              <a:ext uri="{FF2B5EF4-FFF2-40B4-BE49-F238E27FC236}">
                <a16:creationId xmlns:a16="http://schemas.microsoft.com/office/drawing/2014/main" id="{0A315406-B97D-8758-26E5-5D0E5A75DE37}"/>
              </a:ext>
            </a:extLst>
          </p:cNvPr>
          <p:cNvSpPr/>
          <p:nvPr/>
        </p:nvSpPr>
        <p:spPr>
          <a:xfrm>
            <a:off x="928712" y="2532889"/>
            <a:ext cx="2331720" cy="0"/>
          </a:xfrm>
          <a:prstGeom prst="line">
            <a:avLst/>
          </a:prstGeom>
          <a:noFill/>
          <a:ln w="10160">
            <a:solidFill>
              <a:srgbClr val="D6DEE9"/>
            </a:solidFill>
            <a:prstDash val="solid"/>
          </a:ln>
        </p:spPr>
        <p:txBody>
          <a:bodyPr/>
          <a:lstStyle/>
          <a:p>
            <a:endParaRPr lang="it-IT"/>
          </a:p>
        </p:txBody>
      </p:sp>
      <p:sp>
        <p:nvSpPr>
          <p:cNvPr id="108" name="Shape 26">
            <a:extLst>
              <a:ext uri="{FF2B5EF4-FFF2-40B4-BE49-F238E27FC236}">
                <a16:creationId xmlns:a16="http://schemas.microsoft.com/office/drawing/2014/main" id="{567C79E7-08BC-8CDE-97B7-54B99B62C85C}"/>
              </a:ext>
            </a:extLst>
          </p:cNvPr>
          <p:cNvSpPr/>
          <p:nvPr/>
        </p:nvSpPr>
        <p:spPr>
          <a:xfrm>
            <a:off x="928712" y="3246121"/>
            <a:ext cx="2331720" cy="0"/>
          </a:xfrm>
          <a:prstGeom prst="line">
            <a:avLst/>
          </a:prstGeom>
          <a:noFill/>
          <a:ln w="10160">
            <a:solidFill>
              <a:srgbClr val="D6DEE9"/>
            </a:solidFill>
            <a:prstDash val="solid"/>
          </a:ln>
        </p:spPr>
        <p:txBody>
          <a:bodyPr/>
          <a:lstStyle/>
          <a:p>
            <a:endParaRPr lang="it-IT"/>
          </a:p>
        </p:txBody>
      </p:sp>
      <p:sp>
        <p:nvSpPr>
          <p:cNvPr id="109" name="Text 27">
            <a:extLst>
              <a:ext uri="{FF2B5EF4-FFF2-40B4-BE49-F238E27FC236}">
                <a16:creationId xmlns:a16="http://schemas.microsoft.com/office/drawing/2014/main" id="{58FCDDE8-BD1B-8287-9CCA-C3976A2BDC50}"/>
              </a:ext>
            </a:extLst>
          </p:cNvPr>
          <p:cNvSpPr/>
          <p:nvPr/>
        </p:nvSpPr>
        <p:spPr>
          <a:xfrm>
            <a:off x="928712" y="3502153"/>
            <a:ext cx="1408176" cy="347472"/>
          </a:xfrm>
          <a:prstGeom prst="rect">
            <a:avLst/>
          </a:prstGeom>
          <a:noFill/>
          <a:ln/>
        </p:spPr>
        <p:txBody>
          <a:bodyPr wrap="square" lIns="254" tIns="254" rIns="254" bIns="254" rtlCol="0" anchor="t">
            <a:normAutofit/>
          </a:bodyPr>
          <a:lstStyle/>
          <a:p>
            <a:pPr marL="0" indent="0" algn="l">
              <a:buNone/>
            </a:pPr>
            <a:r>
              <a:rPr lang="en-US" sz="1080" dirty="0">
                <a:solidFill>
                  <a:srgbClr val="07133D"/>
                </a:solidFill>
                <a:latin typeface="Aptos" pitchFamily="34" charset="0"/>
                <a:ea typeface="Aptos" pitchFamily="34" charset="-122"/>
                <a:cs typeface="Aptos" pitchFamily="34" charset="-120"/>
              </a:rPr>
              <a:t>RDS Multi-AZ baseline</a:t>
            </a:r>
            <a:endParaRPr lang="en-US" sz="1080" dirty="0"/>
          </a:p>
        </p:txBody>
      </p:sp>
      <p:sp>
        <p:nvSpPr>
          <p:cNvPr id="112" name="Shape 30">
            <a:extLst>
              <a:ext uri="{FF2B5EF4-FFF2-40B4-BE49-F238E27FC236}">
                <a16:creationId xmlns:a16="http://schemas.microsoft.com/office/drawing/2014/main" id="{494991C2-EB57-4F4B-966C-576F2D9388F2}"/>
              </a:ext>
            </a:extLst>
          </p:cNvPr>
          <p:cNvSpPr/>
          <p:nvPr/>
        </p:nvSpPr>
        <p:spPr>
          <a:xfrm>
            <a:off x="928712" y="3959353"/>
            <a:ext cx="2331720" cy="0"/>
          </a:xfrm>
          <a:prstGeom prst="line">
            <a:avLst/>
          </a:prstGeom>
          <a:noFill/>
          <a:ln w="10160">
            <a:solidFill>
              <a:srgbClr val="D6DEE9"/>
            </a:solidFill>
            <a:prstDash val="solid"/>
          </a:ln>
        </p:spPr>
        <p:txBody>
          <a:bodyPr/>
          <a:lstStyle/>
          <a:p>
            <a:endParaRPr lang="it-IT"/>
          </a:p>
        </p:txBody>
      </p:sp>
      <p:sp>
        <p:nvSpPr>
          <p:cNvPr id="113" name="Text 31">
            <a:extLst>
              <a:ext uri="{FF2B5EF4-FFF2-40B4-BE49-F238E27FC236}">
                <a16:creationId xmlns:a16="http://schemas.microsoft.com/office/drawing/2014/main" id="{8BF6337D-D67A-AAA6-F23E-8F7F8D9976E4}"/>
              </a:ext>
            </a:extLst>
          </p:cNvPr>
          <p:cNvSpPr/>
          <p:nvPr/>
        </p:nvSpPr>
        <p:spPr>
          <a:xfrm>
            <a:off x="928712" y="4215385"/>
            <a:ext cx="1408176" cy="347472"/>
          </a:xfrm>
          <a:prstGeom prst="rect">
            <a:avLst/>
          </a:prstGeom>
          <a:noFill/>
          <a:ln/>
        </p:spPr>
        <p:txBody>
          <a:bodyPr wrap="square" lIns="254" tIns="254" rIns="254" bIns="254" rtlCol="0" anchor="t">
            <a:normAutofit/>
          </a:bodyPr>
          <a:lstStyle/>
          <a:p>
            <a:pPr marL="0" indent="0" algn="l">
              <a:buNone/>
            </a:pPr>
            <a:r>
              <a:rPr lang="en-US" sz="1080" dirty="0">
                <a:solidFill>
                  <a:srgbClr val="07133D"/>
                </a:solidFill>
                <a:latin typeface="Aptos" pitchFamily="34" charset="0"/>
                <a:ea typeface="Aptos" pitchFamily="34" charset="-122"/>
                <a:cs typeface="Aptos" pitchFamily="34" charset="-120"/>
              </a:rPr>
              <a:t>NAT gateways and ALB hourly charges</a:t>
            </a:r>
            <a:endParaRPr lang="en-US" sz="1080" dirty="0"/>
          </a:p>
        </p:txBody>
      </p:sp>
      <p:sp>
        <p:nvSpPr>
          <p:cNvPr id="116" name="Text 34">
            <a:extLst>
              <a:ext uri="{FF2B5EF4-FFF2-40B4-BE49-F238E27FC236}">
                <a16:creationId xmlns:a16="http://schemas.microsoft.com/office/drawing/2014/main" id="{548364E8-ECEF-8D5F-1146-8747880C3E3F}"/>
              </a:ext>
            </a:extLst>
          </p:cNvPr>
          <p:cNvSpPr/>
          <p:nvPr/>
        </p:nvSpPr>
        <p:spPr>
          <a:xfrm>
            <a:off x="4019384" y="2075689"/>
            <a:ext cx="1444752" cy="384048"/>
          </a:xfrm>
          <a:prstGeom prst="rect">
            <a:avLst/>
          </a:prstGeom>
          <a:noFill/>
          <a:ln/>
        </p:spPr>
        <p:txBody>
          <a:bodyPr wrap="square" lIns="254" tIns="254" rIns="254" bIns="254" rtlCol="0" anchor="t">
            <a:normAutofit/>
          </a:bodyPr>
          <a:lstStyle/>
          <a:p>
            <a:pPr marL="0" indent="0" algn="l">
              <a:buNone/>
            </a:pPr>
            <a:r>
              <a:rPr lang="en-US" sz="1020" dirty="0">
                <a:solidFill>
                  <a:srgbClr val="07133D"/>
                </a:solidFill>
                <a:latin typeface="Aptos" pitchFamily="34" charset="0"/>
                <a:ea typeface="Aptos" pitchFamily="34" charset="-122"/>
                <a:cs typeface="Aptos" pitchFamily="34" charset="-120"/>
              </a:rPr>
              <a:t>Additional compute capacity</a:t>
            </a:r>
            <a:endParaRPr lang="en-US" sz="1020" dirty="0"/>
          </a:p>
        </p:txBody>
      </p:sp>
      <p:sp>
        <p:nvSpPr>
          <p:cNvPr id="117" name="Shape 35">
            <a:extLst>
              <a:ext uri="{FF2B5EF4-FFF2-40B4-BE49-F238E27FC236}">
                <a16:creationId xmlns:a16="http://schemas.microsoft.com/office/drawing/2014/main" id="{C6738F49-1E89-3761-A8E2-2B436B273875}"/>
              </a:ext>
            </a:extLst>
          </p:cNvPr>
          <p:cNvSpPr/>
          <p:nvPr/>
        </p:nvSpPr>
        <p:spPr>
          <a:xfrm>
            <a:off x="5500711" y="2084833"/>
            <a:ext cx="1003455" cy="252052"/>
          </a:xfrm>
          <a:prstGeom prst="roundRect">
            <a:avLst>
              <a:gd name="adj" fmla="val 28571"/>
            </a:avLst>
          </a:prstGeom>
          <a:solidFill>
            <a:srgbClr val="F1ECFF"/>
          </a:solidFill>
          <a:ln w="10160">
            <a:solidFill>
              <a:srgbClr val="673AB7"/>
            </a:solidFill>
            <a:prstDash val="solid"/>
          </a:ln>
        </p:spPr>
        <p:txBody>
          <a:bodyPr/>
          <a:lstStyle/>
          <a:p>
            <a:endParaRPr lang="it-IT" sz="3200"/>
          </a:p>
        </p:txBody>
      </p:sp>
      <p:sp>
        <p:nvSpPr>
          <p:cNvPr id="118" name="Text 36">
            <a:extLst>
              <a:ext uri="{FF2B5EF4-FFF2-40B4-BE49-F238E27FC236}">
                <a16:creationId xmlns:a16="http://schemas.microsoft.com/office/drawing/2014/main" id="{AE43F874-E379-2AF2-E905-413470D120FF}"/>
              </a:ext>
            </a:extLst>
          </p:cNvPr>
          <p:cNvSpPr/>
          <p:nvPr/>
        </p:nvSpPr>
        <p:spPr>
          <a:xfrm>
            <a:off x="5500711" y="2134334"/>
            <a:ext cx="1003455" cy="310893"/>
          </a:xfrm>
          <a:prstGeom prst="rect">
            <a:avLst/>
          </a:prstGeom>
          <a:noFill/>
          <a:ln/>
        </p:spPr>
        <p:txBody>
          <a:bodyPr wrap="square" lIns="0" tIns="0" rIns="0" bIns="0" rtlCol="0" anchor="t">
            <a:noAutofit/>
          </a:bodyPr>
          <a:lstStyle/>
          <a:p>
            <a:pPr marL="0" indent="0" algn="ctr">
              <a:buNone/>
            </a:pPr>
            <a:r>
              <a:rPr lang="en-US" sz="1100" b="1" dirty="0">
                <a:solidFill>
                  <a:srgbClr val="673AB7"/>
                </a:solidFill>
                <a:latin typeface="Aptos" pitchFamily="34" charset="0"/>
                <a:ea typeface="Aptos" pitchFamily="34" charset="-122"/>
                <a:cs typeface="Aptos" pitchFamily="34" charset="-120"/>
              </a:rPr>
              <a:t>≈€70/node/mo</a:t>
            </a:r>
            <a:endParaRPr lang="en-US" sz="1100" dirty="0"/>
          </a:p>
        </p:txBody>
      </p:sp>
      <p:sp>
        <p:nvSpPr>
          <p:cNvPr id="119" name="Shape 37">
            <a:extLst>
              <a:ext uri="{FF2B5EF4-FFF2-40B4-BE49-F238E27FC236}">
                <a16:creationId xmlns:a16="http://schemas.microsoft.com/office/drawing/2014/main" id="{FE65FBE1-36C9-F9D9-38F6-8DFEE91C9745}"/>
              </a:ext>
            </a:extLst>
          </p:cNvPr>
          <p:cNvSpPr/>
          <p:nvPr/>
        </p:nvSpPr>
        <p:spPr>
          <a:xfrm>
            <a:off x="4019384" y="2532889"/>
            <a:ext cx="2331720" cy="0"/>
          </a:xfrm>
          <a:prstGeom prst="line">
            <a:avLst/>
          </a:prstGeom>
          <a:noFill/>
          <a:ln w="10160">
            <a:solidFill>
              <a:srgbClr val="D6DEE9"/>
            </a:solidFill>
            <a:prstDash val="solid"/>
          </a:ln>
        </p:spPr>
        <p:txBody>
          <a:bodyPr/>
          <a:lstStyle/>
          <a:p>
            <a:endParaRPr lang="it-IT"/>
          </a:p>
        </p:txBody>
      </p:sp>
      <p:sp>
        <p:nvSpPr>
          <p:cNvPr id="120" name="Text 38">
            <a:extLst>
              <a:ext uri="{FF2B5EF4-FFF2-40B4-BE49-F238E27FC236}">
                <a16:creationId xmlns:a16="http://schemas.microsoft.com/office/drawing/2014/main" id="{C813C4B3-6094-631C-4D8C-394D412639EE}"/>
              </a:ext>
            </a:extLst>
          </p:cNvPr>
          <p:cNvSpPr/>
          <p:nvPr/>
        </p:nvSpPr>
        <p:spPr>
          <a:xfrm>
            <a:off x="4019384" y="2788921"/>
            <a:ext cx="1444752" cy="384048"/>
          </a:xfrm>
          <a:prstGeom prst="rect">
            <a:avLst/>
          </a:prstGeom>
          <a:noFill/>
          <a:ln/>
        </p:spPr>
        <p:txBody>
          <a:bodyPr wrap="square" lIns="254" tIns="254" rIns="254" bIns="254" rtlCol="0" anchor="t">
            <a:normAutofit/>
          </a:bodyPr>
          <a:lstStyle/>
          <a:p>
            <a:pPr marL="0" indent="0" algn="l">
              <a:buNone/>
            </a:pPr>
            <a:r>
              <a:rPr lang="en-US" sz="1020" dirty="0">
                <a:solidFill>
                  <a:srgbClr val="07133D"/>
                </a:solidFill>
                <a:latin typeface="Aptos" pitchFamily="34" charset="0"/>
                <a:ea typeface="Aptos" pitchFamily="34" charset="-122"/>
                <a:cs typeface="Aptos" pitchFamily="34" charset="-120"/>
              </a:rPr>
              <a:t>AI inference and business-provider usage</a:t>
            </a:r>
            <a:endParaRPr lang="en-US" sz="1020" dirty="0"/>
          </a:p>
        </p:txBody>
      </p:sp>
      <p:sp>
        <p:nvSpPr>
          <p:cNvPr id="121" name="Shape 39">
            <a:extLst>
              <a:ext uri="{FF2B5EF4-FFF2-40B4-BE49-F238E27FC236}">
                <a16:creationId xmlns:a16="http://schemas.microsoft.com/office/drawing/2014/main" id="{D7040443-6866-3B4A-4747-6FFAD7D2A4C4}"/>
              </a:ext>
            </a:extLst>
          </p:cNvPr>
          <p:cNvSpPr/>
          <p:nvPr/>
        </p:nvSpPr>
        <p:spPr>
          <a:xfrm>
            <a:off x="5537288" y="2789720"/>
            <a:ext cx="932688" cy="256032"/>
          </a:xfrm>
          <a:prstGeom prst="roundRect">
            <a:avLst>
              <a:gd name="adj" fmla="val 28571"/>
            </a:avLst>
          </a:prstGeom>
          <a:solidFill>
            <a:srgbClr val="F1ECFF"/>
          </a:solidFill>
          <a:ln w="10160">
            <a:solidFill>
              <a:srgbClr val="673AB7"/>
            </a:solidFill>
            <a:prstDash val="solid"/>
          </a:ln>
        </p:spPr>
        <p:txBody>
          <a:bodyPr/>
          <a:lstStyle/>
          <a:p>
            <a:endParaRPr lang="it-IT"/>
          </a:p>
        </p:txBody>
      </p:sp>
      <p:sp>
        <p:nvSpPr>
          <p:cNvPr id="122" name="Text 40">
            <a:extLst>
              <a:ext uri="{FF2B5EF4-FFF2-40B4-BE49-F238E27FC236}">
                <a16:creationId xmlns:a16="http://schemas.microsoft.com/office/drawing/2014/main" id="{9D480EC2-41F4-E7D3-84B6-05C5B4E14F83}"/>
              </a:ext>
            </a:extLst>
          </p:cNvPr>
          <p:cNvSpPr/>
          <p:nvPr/>
        </p:nvSpPr>
        <p:spPr>
          <a:xfrm>
            <a:off x="5565913" y="2840805"/>
            <a:ext cx="859536" cy="91440"/>
          </a:xfrm>
          <a:prstGeom prst="rect">
            <a:avLst/>
          </a:prstGeom>
          <a:noFill/>
          <a:ln/>
        </p:spPr>
        <p:txBody>
          <a:bodyPr wrap="square" lIns="0" tIns="0" rIns="0" bIns="0" rtlCol="0" anchor="t">
            <a:noAutofit/>
          </a:bodyPr>
          <a:lstStyle/>
          <a:p>
            <a:pPr marL="0" indent="0" algn="ctr">
              <a:buNone/>
            </a:pPr>
            <a:r>
              <a:rPr lang="en-US" sz="1100" b="1" dirty="0">
                <a:solidFill>
                  <a:srgbClr val="673AB7"/>
                </a:solidFill>
                <a:latin typeface="Aptos" pitchFamily="34" charset="0"/>
                <a:ea typeface="Aptos" pitchFamily="34" charset="-122"/>
                <a:cs typeface="Aptos" pitchFamily="34" charset="-120"/>
              </a:rPr>
              <a:t>excluded</a:t>
            </a:r>
            <a:endParaRPr lang="en-US" sz="1100" dirty="0"/>
          </a:p>
        </p:txBody>
      </p:sp>
      <p:sp>
        <p:nvSpPr>
          <p:cNvPr id="123" name="Shape 41">
            <a:extLst>
              <a:ext uri="{FF2B5EF4-FFF2-40B4-BE49-F238E27FC236}">
                <a16:creationId xmlns:a16="http://schemas.microsoft.com/office/drawing/2014/main" id="{A17CDEA2-205A-56B1-2F4F-DBB8899645B0}"/>
              </a:ext>
            </a:extLst>
          </p:cNvPr>
          <p:cNvSpPr/>
          <p:nvPr/>
        </p:nvSpPr>
        <p:spPr>
          <a:xfrm>
            <a:off x="4019384" y="3246121"/>
            <a:ext cx="2331720" cy="0"/>
          </a:xfrm>
          <a:prstGeom prst="line">
            <a:avLst/>
          </a:prstGeom>
          <a:noFill/>
          <a:ln w="10160">
            <a:solidFill>
              <a:srgbClr val="D6DEE9"/>
            </a:solidFill>
            <a:prstDash val="solid"/>
          </a:ln>
        </p:spPr>
        <p:txBody>
          <a:bodyPr/>
          <a:lstStyle/>
          <a:p>
            <a:endParaRPr lang="it-IT"/>
          </a:p>
        </p:txBody>
      </p:sp>
      <p:sp>
        <p:nvSpPr>
          <p:cNvPr id="124" name="Text 42">
            <a:extLst>
              <a:ext uri="{FF2B5EF4-FFF2-40B4-BE49-F238E27FC236}">
                <a16:creationId xmlns:a16="http://schemas.microsoft.com/office/drawing/2014/main" id="{064C4D7F-9E87-6BEE-1F34-35F901FC680A}"/>
              </a:ext>
            </a:extLst>
          </p:cNvPr>
          <p:cNvSpPr/>
          <p:nvPr/>
        </p:nvSpPr>
        <p:spPr>
          <a:xfrm>
            <a:off x="4019384" y="3502153"/>
            <a:ext cx="1444752" cy="384048"/>
          </a:xfrm>
          <a:prstGeom prst="rect">
            <a:avLst/>
          </a:prstGeom>
          <a:noFill/>
          <a:ln/>
        </p:spPr>
        <p:txBody>
          <a:bodyPr wrap="square" lIns="254" tIns="254" rIns="254" bIns="254" rtlCol="0" anchor="t">
            <a:normAutofit/>
          </a:bodyPr>
          <a:lstStyle/>
          <a:p>
            <a:pPr marL="0" indent="0" algn="l">
              <a:buNone/>
            </a:pPr>
            <a:r>
              <a:rPr lang="en-US" sz="1020" dirty="0">
                <a:solidFill>
                  <a:srgbClr val="07133D"/>
                </a:solidFill>
                <a:latin typeface="Aptos" pitchFamily="34" charset="0"/>
                <a:ea typeface="Aptos" pitchFamily="34" charset="-122"/>
                <a:cs typeface="Aptos" pitchFamily="34" charset="-120"/>
              </a:rPr>
              <a:t>Storage growth and data transfer</a:t>
            </a:r>
            <a:endParaRPr lang="en-US" sz="1020" dirty="0"/>
          </a:p>
        </p:txBody>
      </p:sp>
      <p:sp>
        <p:nvSpPr>
          <p:cNvPr id="125" name="Shape 43">
            <a:extLst>
              <a:ext uri="{FF2B5EF4-FFF2-40B4-BE49-F238E27FC236}">
                <a16:creationId xmlns:a16="http://schemas.microsoft.com/office/drawing/2014/main" id="{8A11F7EC-A7C7-2E0B-A9BA-1C7FA85C0877}"/>
              </a:ext>
            </a:extLst>
          </p:cNvPr>
          <p:cNvSpPr/>
          <p:nvPr/>
        </p:nvSpPr>
        <p:spPr>
          <a:xfrm>
            <a:off x="5500712" y="3511297"/>
            <a:ext cx="932688" cy="256032"/>
          </a:xfrm>
          <a:prstGeom prst="roundRect">
            <a:avLst>
              <a:gd name="adj" fmla="val 28571"/>
            </a:avLst>
          </a:prstGeom>
          <a:solidFill>
            <a:srgbClr val="F1ECFF"/>
          </a:solidFill>
          <a:ln w="10160">
            <a:solidFill>
              <a:srgbClr val="673AB7"/>
            </a:solidFill>
            <a:prstDash val="solid"/>
          </a:ln>
        </p:spPr>
        <p:txBody>
          <a:bodyPr/>
          <a:lstStyle/>
          <a:p>
            <a:endParaRPr lang="it-IT"/>
          </a:p>
        </p:txBody>
      </p:sp>
      <p:sp>
        <p:nvSpPr>
          <p:cNvPr id="126" name="Text 44">
            <a:extLst>
              <a:ext uri="{FF2B5EF4-FFF2-40B4-BE49-F238E27FC236}">
                <a16:creationId xmlns:a16="http://schemas.microsoft.com/office/drawing/2014/main" id="{80D7DC76-8D05-381F-2A05-FA5D941E8AA6}"/>
              </a:ext>
            </a:extLst>
          </p:cNvPr>
          <p:cNvSpPr/>
          <p:nvPr/>
        </p:nvSpPr>
        <p:spPr>
          <a:xfrm>
            <a:off x="5537288" y="3559199"/>
            <a:ext cx="859536" cy="287445"/>
          </a:xfrm>
          <a:prstGeom prst="rect">
            <a:avLst/>
          </a:prstGeom>
          <a:noFill/>
          <a:ln/>
        </p:spPr>
        <p:txBody>
          <a:bodyPr wrap="square" lIns="0" tIns="0" rIns="0" bIns="0" rtlCol="0" anchor="t">
            <a:noAutofit/>
          </a:bodyPr>
          <a:lstStyle/>
          <a:p>
            <a:pPr algn="ctr"/>
            <a:r>
              <a:rPr lang="en-US" sz="1100" b="1" dirty="0">
                <a:solidFill>
                  <a:srgbClr val="673AB7"/>
                </a:solidFill>
                <a:latin typeface="Aptos" pitchFamily="34" charset="0"/>
                <a:ea typeface="Aptos" pitchFamily="34" charset="-122"/>
                <a:cs typeface="Aptos" pitchFamily="34" charset="-120"/>
              </a:rPr>
              <a:t>≈€25-50/</a:t>
            </a:r>
            <a:r>
              <a:rPr lang="en-US" sz="1100" b="1" dirty="0" err="1">
                <a:solidFill>
                  <a:srgbClr val="673AB7"/>
                </a:solidFill>
                <a:latin typeface="Aptos" pitchFamily="34" charset="0"/>
                <a:ea typeface="Aptos" pitchFamily="34" charset="-122"/>
                <a:cs typeface="Aptos" pitchFamily="34" charset="-120"/>
              </a:rPr>
              <a:t>mo</a:t>
            </a:r>
            <a:endParaRPr lang="en-US" sz="1100" dirty="0"/>
          </a:p>
          <a:p>
            <a:pPr marL="0" indent="0" algn="ctr">
              <a:buNone/>
            </a:pPr>
            <a:endParaRPr lang="en-US" sz="1100" dirty="0"/>
          </a:p>
        </p:txBody>
      </p:sp>
      <p:sp>
        <p:nvSpPr>
          <p:cNvPr id="127" name="Shape 45">
            <a:extLst>
              <a:ext uri="{FF2B5EF4-FFF2-40B4-BE49-F238E27FC236}">
                <a16:creationId xmlns:a16="http://schemas.microsoft.com/office/drawing/2014/main" id="{FDDBE6F4-51CA-BAC8-8B00-9E981D390DCF}"/>
              </a:ext>
            </a:extLst>
          </p:cNvPr>
          <p:cNvSpPr/>
          <p:nvPr/>
        </p:nvSpPr>
        <p:spPr>
          <a:xfrm>
            <a:off x="4019384" y="3959353"/>
            <a:ext cx="2331720" cy="0"/>
          </a:xfrm>
          <a:prstGeom prst="line">
            <a:avLst/>
          </a:prstGeom>
          <a:noFill/>
          <a:ln w="10160">
            <a:solidFill>
              <a:srgbClr val="D6DEE9"/>
            </a:solidFill>
            <a:prstDash val="solid"/>
          </a:ln>
        </p:spPr>
        <p:txBody>
          <a:bodyPr/>
          <a:lstStyle/>
          <a:p>
            <a:endParaRPr lang="it-IT"/>
          </a:p>
        </p:txBody>
      </p:sp>
      <p:sp>
        <p:nvSpPr>
          <p:cNvPr id="128" name="Text 46">
            <a:extLst>
              <a:ext uri="{FF2B5EF4-FFF2-40B4-BE49-F238E27FC236}">
                <a16:creationId xmlns:a16="http://schemas.microsoft.com/office/drawing/2014/main" id="{51BCAAEC-8320-2564-2782-0FD6528C8384}"/>
              </a:ext>
            </a:extLst>
          </p:cNvPr>
          <p:cNvSpPr/>
          <p:nvPr/>
        </p:nvSpPr>
        <p:spPr>
          <a:xfrm>
            <a:off x="4019384" y="4187953"/>
            <a:ext cx="1444752" cy="509280"/>
          </a:xfrm>
          <a:prstGeom prst="rect">
            <a:avLst/>
          </a:prstGeom>
          <a:noFill/>
          <a:ln/>
        </p:spPr>
        <p:txBody>
          <a:bodyPr wrap="square" lIns="254" tIns="254" rIns="254" bIns="254" rtlCol="0" anchor="t">
            <a:normAutofit/>
          </a:bodyPr>
          <a:lstStyle/>
          <a:p>
            <a:pPr marL="0" indent="0" algn="l">
              <a:buNone/>
            </a:pPr>
            <a:r>
              <a:rPr lang="en-US" sz="1020" dirty="0">
                <a:solidFill>
                  <a:srgbClr val="07133D"/>
                </a:solidFill>
                <a:latin typeface="Aptos" pitchFamily="34" charset="0"/>
                <a:ea typeface="Aptos" pitchFamily="34" charset="-122"/>
                <a:cs typeface="Aptos" pitchFamily="34" charset="-120"/>
              </a:rPr>
              <a:t>Requests, workflow transitions, logs and traces</a:t>
            </a:r>
            <a:endParaRPr lang="en-US" sz="1020" dirty="0"/>
          </a:p>
        </p:txBody>
      </p:sp>
      <p:sp>
        <p:nvSpPr>
          <p:cNvPr id="131" name="Text 19">
            <a:extLst>
              <a:ext uri="{FF2B5EF4-FFF2-40B4-BE49-F238E27FC236}">
                <a16:creationId xmlns:a16="http://schemas.microsoft.com/office/drawing/2014/main" id="{737D7FD1-34DA-E7B2-41E4-70D04C44A10D}"/>
              </a:ext>
            </a:extLst>
          </p:cNvPr>
          <p:cNvSpPr/>
          <p:nvPr/>
        </p:nvSpPr>
        <p:spPr>
          <a:xfrm>
            <a:off x="936664" y="2829469"/>
            <a:ext cx="1408176" cy="224627"/>
          </a:xfrm>
          <a:prstGeom prst="rect">
            <a:avLst/>
          </a:prstGeom>
          <a:noFill/>
          <a:ln/>
        </p:spPr>
        <p:txBody>
          <a:bodyPr wrap="square" lIns="254" tIns="254" rIns="254" bIns="254" rtlCol="0" anchor="t">
            <a:normAutofit/>
          </a:bodyPr>
          <a:lstStyle/>
          <a:p>
            <a:pPr marL="0" indent="0" algn="l">
              <a:buNone/>
            </a:pPr>
            <a:r>
              <a:rPr lang="en-US" sz="1080" dirty="0">
                <a:solidFill>
                  <a:srgbClr val="07133D"/>
                </a:solidFill>
                <a:latin typeface="Aptos" pitchFamily="34" charset="0"/>
                <a:ea typeface="Aptos" pitchFamily="34" charset="-122"/>
                <a:cs typeface="Aptos" pitchFamily="34" charset="-120"/>
              </a:rPr>
              <a:t>Initial worker nodes</a:t>
            </a:r>
            <a:endParaRPr lang="en-US" sz="1080" dirty="0"/>
          </a:p>
        </p:txBody>
      </p:sp>
      <p:sp>
        <p:nvSpPr>
          <p:cNvPr id="132" name="Shape 20">
            <a:extLst>
              <a:ext uri="{FF2B5EF4-FFF2-40B4-BE49-F238E27FC236}">
                <a16:creationId xmlns:a16="http://schemas.microsoft.com/office/drawing/2014/main" id="{594AA79F-1D23-C65F-4ED6-68785B50F38C}"/>
              </a:ext>
            </a:extLst>
          </p:cNvPr>
          <p:cNvSpPr/>
          <p:nvPr/>
        </p:nvSpPr>
        <p:spPr>
          <a:xfrm>
            <a:off x="2382608" y="2793694"/>
            <a:ext cx="1042416" cy="256032"/>
          </a:xfrm>
          <a:prstGeom prst="roundRect">
            <a:avLst>
              <a:gd name="adj" fmla="val 28571"/>
            </a:avLst>
          </a:prstGeom>
          <a:solidFill>
            <a:srgbClr val="EAF5FF"/>
          </a:solidFill>
          <a:ln w="10160">
            <a:solidFill>
              <a:srgbClr val="0B63E5"/>
            </a:solidFill>
            <a:prstDash val="solid"/>
          </a:ln>
        </p:spPr>
        <p:txBody>
          <a:bodyPr/>
          <a:lstStyle/>
          <a:p>
            <a:endParaRPr lang="it-IT"/>
          </a:p>
        </p:txBody>
      </p:sp>
      <p:sp>
        <p:nvSpPr>
          <p:cNvPr id="133" name="Text 21">
            <a:extLst>
              <a:ext uri="{FF2B5EF4-FFF2-40B4-BE49-F238E27FC236}">
                <a16:creationId xmlns:a16="http://schemas.microsoft.com/office/drawing/2014/main" id="{33CAF22C-30B5-9916-9D2E-B9A9CBC343F6}"/>
              </a:ext>
            </a:extLst>
          </p:cNvPr>
          <p:cNvSpPr/>
          <p:nvPr/>
        </p:nvSpPr>
        <p:spPr>
          <a:xfrm>
            <a:off x="2400300" y="2838219"/>
            <a:ext cx="969264" cy="215877"/>
          </a:xfrm>
          <a:prstGeom prst="rect">
            <a:avLst/>
          </a:prstGeom>
          <a:noFill/>
          <a:ln/>
        </p:spPr>
        <p:txBody>
          <a:bodyPr wrap="square" lIns="0" tIns="0" rIns="0" bIns="0" rtlCol="0" anchor="t">
            <a:normAutofit/>
          </a:bodyPr>
          <a:lstStyle/>
          <a:p>
            <a:pPr marL="0" indent="0" algn="ctr">
              <a:buNone/>
            </a:pPr>
            <a:r>
              <a:rPr lang="en-US" sz="1000" b="1" dirty="0">
                <a:solidFill>
                  <a:srgbClr val="0B63E5"/>
                </a:solidFill>
                <a:latin typeface="Aptos" pitchFamily="34" charset="0"/>
                <a:ea typeface="Aptos" pitchFamily="34" charset="-122"/>
                <a:cs typeface="Aptos" pitchFamily="34" charset="-120"/>
              </a:rPr>
              <a:t>≈€130-150/mo</a:t>
            </a:r>
            <a:endParaRPr lang="en-US" sz="1000" dirty="0"/>
          </a:p>
        </p:txBody>
      </p:sp>
      <p:sp>
        <p:nvSpPr>
          <p:cNvPr id="134" name="Shape 20">
            <a:extLst>
              <a:ext uri="{FF2B5EF4-FFF2-40B4-BE49-F238E27FC236}">
                <a16:creationId xmlns:a16="http://schemas.microsoft.com/office/drawing/2014/main" id="{E0C5D986-F42D-218E-3FFD-A54781AF068F}"/>
              </a:ext>
            </a:extLst>
          </p:cNvPr>
          <p:cNvSpPr/>
          <p:nvPr/>
        </p:nvSpPr>
        <p:spPr>
          <a:xfrm>
            <a:off x="2400300" y="3446890"/>
            <a:ext cx="1042416" cy="256032"/>
          </a:xfrm>
          <a:prstGeom prst="roundRect">
            <a:avLst>
              <a:gd name="adj" fmla="val 28571"/>
            </a:avLst>
          </a:prstGeom>
          <a:solidFill>
            <a:srgbClr val="EAF5FF"/>
          </a:solidFill>
          <a:ln w="10160">
            <a:solidFill>
              <a:srgbClr val="0B63E5"/>
            </a:solidFill>
            <a:prstDash val="solid"/>
          </a:ln>
        </p:spPr>
        <p:txBody>
          <a:bodyPr/>
          <a:lstStyle/>
          <a:p>
            <a:endParaRPr lang="it-IT"/>
          </a:p>
        </p:txBody>
      </p:sp>
      <p:sp>
        <p:nvSpPr>
          <p:cNvPr id="135" name="Text 21">
            <a:extLst>
              <a:ext uri="{FF2B5EF4-FFF2-40B4-BE49-F238E27FC236}">
                <a16:creationId xmlns:a16="http://schemas.microsoft.com/office/drawing/2014/main" id="{7530CB8A-5D32-07E2-E5CC-7F2F784FD098}"/>
              </a:ext>
            </a:extLst>
          </p:cNvPr>
          <p:cNvSpPr/>
          <p:nvPr/>
        </p:nvSpPr>
        <p:spPr>
          <a:xfrm>
            <a:off x="2417992" y="3491415"/>
            <a:ext cx="969264" cy="215877"/>
          </a:xfrm>
          <a:prstGeom prst="rect">
            <a:avLst/>
          </a:prstGeom>
          <a:noFill/>
          <a:ln/>
        </p:spPr>
        <p:txBody>
          <a:bodyPr wrap="square" lIns="0" tIns="0" rIns="0" bIns="0" rtlCol="0" anchor="t">
            <a:normAutofit/>
          </a:bodyPr>
          <a:lstStyle/>
          <a:p>
            <a:pPr marL="0" indent="0" algn="ctr">
              <a:buNone/>
            </a:pPr>
            <a:r>
              <a:rPr lang="en-US" sz="1000" b="1" dirty="0">
                <a:solidFill>
                  <a:srgbClr val="0B63E5"/>
                </a:solidFill>
                <a:latin typeface="Aptos" pitchFamily="34" charset="0"/>
                <a:ea typeface="Aptos" pitchFamily="34" charset="-122"/>
                <a:cs typeface="Aptos" pitchFamily="34" charset="-120"/>
              </a:rPr>
              <a:t>≈€230-250/mo</a:t>
            </a:r>
            <a:endParaRPr lang="en-US" sz="1000" dirty="0"/>
          </a:p>
        </p:txBody>
      </p:sp>
      <p:sp>
        <p:nvSpPr>
          <p:cNvPr id="136" name="Shape 20">
            <a:extLst>
              <a:ext uri="{FF2B5EF4-FFF2-40B4-BE49-F238E27FC236}">
                <a16:creationId xmlns:a16="http://schemas.microsoft.com/office/drawing/2014/main" id="{F22DA328-8073-102F-DF0B-0DD4036F5574}"/>
              </a:ext>
            </a:extLst>
          </p:cNvPr>
          <p:cNvSpPr/>
          <p:nvPr/>
        </p:nvSpPr>
        <p:spPr>
          <a:xfrm>
            <a:off x="2400300" y="4249376"/>
            <a:ext cx="1042416" cy="256032"/>
          </a:xfrm>
          <a:prstGeom prst="roundRect">
            <a:avLst>
              <a:gd name="adj" fmla="val 28571"/>
            </a:avLst>
          </a:prstGeom>
          <a:solidFill>
            <a:srgbClr val="EAF5FF"/>
          </a:solidFill>
          <a:ln w="10160">
            <a:solidFill>
              <a:srgbClr val="0B63E5"/>
            </a:solidFill>
            <a:prstDash val="solid"/>
          </a:ln>
        </p:spPr>
        <p:txBody>
          <a:bodyPr/>
          <a:lstStyle/>
          <a:p>
            <a:endParaRPr lang="it-IT"/>
          </a:p>
        </p:txBody>
      </p:sp>
      <p:sp>
        <p:nvSpPr>
          <p:cNvPr id="137" name="Text 21">
            <a:extLst>
              <a:ext uri="{FF2B5EF4-FFF2-40B4-BE49-F238E27FC236}">
                <a16:creationId xmlns:a16="http://schemas.microsoft.com/office/drawing/2014/main" id="{18BBB088-8192-9F4A-8CDA-156B64721C1F}"/>
              </a:ext>
            </a:extLst>
          </p:cNvPr>
          <p:cNvSpPr/>
          <p:nvPr/>
        </p:nvSpPr>
        <p:spPr>
          <a:xfrm>
            <a:off x="2417992" y="4293901"/>
            <a:ext cx="969264" cy="215877"/>
          </a:xfrm>
          <a:prstGeom prst="rect">
            <a:avLst/>
          </a:prstGeom>
          <a:noFill/>
          <a:ln/>
        </p:spPr>
        <p:txBody>
          <a:bodyPr wrap="square" lIns="0" tIns="0" rIns="0" bIns="0" rtlCol="0" anchor="t">
            <a:normAutofit/>
          </a:bodyPr>
          <a:lstStyle/>
          <a:p>
            <a:pPr marL="0" indent="0" algn="ctr">
              <a:buNone/>
            </a:pPr>
            <a:r>
              <a:rPr lang="en-US" sz="1000" b="1" dirty="0">
                <a:solidFill>
                  <a:srgbClr val="0B63E5"/>
                </a:solidFill>
                <a:latin typeface="Aptos" pitchFamily="34" charset="0"/>
                <a:ea typeface="Aptos" pitchFamily="34" charset="-122"/>
                <a:cs typeface="Aptos" pitchFamily="34" charset="-120"/>
              </a:rPr>
              <a:t>≈€100-130/mo</a:t>
            </a:r>
            <a:endParaRPr lang="en-US" sz="1000" dirty="0"/>
          </a:p>
        </p:txBody>
      </p:sp>
      <p:sp>
        <p:nvSpPr>
          <p:cNvPr id="138" name="Shape 43">
            <a:extLst>
              <a:ext uri="{FF2B5EF4-FFF2-40B4-BE49-F238E27FC236}">
                <a16:creationId xmlns:a16="http://schemas.microsoft.com/office/drawing/2014/main" id="{A74C3DCE-D3D0-F76B-2141-200DC71838AD}"/>
              </a:ext>
            </a:extLst>
          </p:cNvPr>
          <p:cNvSpPr/>
          <p:nvPr/>
        </p:nvSpPr>
        <p:spPr>
          <a:xfrm>
            <a:off x="5537288" y="4235264"/>
            <a:ext cx="932688" cy="256032"/>
          </a:xfrm>
          <a:prstGeom prst="roundRect">
            <a:avLst>
              <a:gd name="adj" fmla="val 28571"/>
            </a:avLst>
          </a:prstGeom>
          <a:solidFill>
            <a:srgbClr val="F1ECFF"/>
          </a:solidFill>
          <a:ln w="10160">
            <a:solidFill>
              <a:srgbClr val="673AB7"/>
            </a:solidFill>
            <a:prstDash val="solid"/>
          </a:ln>
        </p:spPr>
        <p:txBody>
          <a:bodyPr/>
          <a:lstStyle/>
          <a:p>
            <a:endParaRPr lang="it-IT"/>
          </a:p>
        </p:txBody>
      </p:sp>
      <p:sp>
        <p:nvSpPr>
          <p:cNvPr id="139" name="Text 44">
            <a:extLst>
              <a:ext uri="{FF2B5EF4-FFF2-40B4-BE49-F238E27FC236}">
                <a16:creationId xmlns:a16="http://schemas.microsoft.com/office/drawing/2014/main" id="{F4231BBE-12E7-36F3-7798-1312774FFD42}"/>
              </a:ext>
            </a:extLst>
          </p:cNvPr>
          <p:cNvSpPr/>
          <p:nvPr/>
        </p:nvSpPr>
        <p:spPr>
          <a:xfrm>
            <a:off x="5573864" y="4283166"/>
            <a:ext cx="859536" cy="287445"/>
          </a:xfrm>
          <a:prstGeom prst="rect">
            <a:avLst/>
          </a:prstGeom>
          <a:noFill/>
          <a:ln/>
        </p:spPr>
        <p:txBody>
          <a:bodyPr wrap="square" lIns="0" tIns="0" rIns="0" bIns="0" rtlCol="0" anchor="t">
            <a:noAutofit/>
          </a:bodyPr>
          <a:lstStyle/>
          <a:p>
            <a:pPr algn="ctr"/>
            <a:r>
              <a:rPr lang="en-US" sz="1100" b="1" dirty="0">
                <a:solidFill>
                  <a:srgbClr val="673AB7"/>
                </a:solidFill>
                <a:latin typeface="Aptos" pitchFamily="34" charset="0"/>
                <a:ea typeface="Aptos" pitchFamily="34" charset="-122"/>
                <a:cs typeface="Aptos" pitchFamily="34" charset="-120"/>
              </a:rPr>
              <a:t>≈€30-95/</a:t>
            </a:r>
            <a:r>
              <a:rPr lang="en-US" sz="1100" b="1" dirty="0" err="1">
                <a:solidFill>
                  <a:srgbClr val="673AB7"/>
                </a:solidFill>
                <a:latin typeface="Aptos" pitchFamily="34" charset="0"/>
                <a:ea typeface="Aptos" pitchFamily="34" charset="-122"/>
                <a:cs typeface="Aptos" pitchFamily="34" charset="-120"/>
              </a:rPr>
              <a:t>mo</a:t>
            </a:r>
            <a:endParaRPr lang="en-US" sz="1100" dirty="0"/>
          </a:p>
          <a:p>
            <a:pPr marL="0" indent="0" algn="ctr">
              <a:buNone/>
            </a:pPr>
            <a:endParaRPr lang="en-US" sz="1100" dirty="0"/>
          </a:p>
        </p:txBody>
      </p:sp>
      <p:sp>
        <p:nvSpPr>
          <p:cNvPr id="140" name="Shape 3">
            <a:extLst>
              <a:ext uri="{FF2B5EF4-FFF2-40B4-BE49-F238E27FC236}">
                <a16:creationId xmlns:a16="http://schemas.microsoft.com/office/drawing/2014/main" id="{8B687751-350C-2FEC-1981-6E4724741D6A}"/>
              </a:ext>
            </a:extLst>
          </p:cNvPr>
          <p:cNvSpPr/>
          <p:nvPr/>
        </p:nvSpPr>
        <p:spPr>
          <a:xfrm>
            <a:off x="7300756" y="1935745"/>
            <a:ext cx="4069080" cy="2788920"/>
          </a:xfrm>
          <a:prstGeom prst="roundRect">
            <a:avLst>
              <a:gd name="adj" fmla="val 2623"/>
            </a:avLst>
          </a:prstGeom>
          <a:solidFill>
            <a:srgbClr val="EAF5FF"/>
          </a:solidFill>
          <a:ln w="16510">
            <a:solidFill>
              <a:srgbClr val="0B63E5"/>
            </a:solidFill>
            <a:prstDash val="solid"/>
          </a:ln>
        </p:spPr>
        <p:txBody>
          <a:bodyPr/>
          <a:lstStyle/>
          <a:p>
            <a:endParaRPr lang="it-IT"/>
          </a:p>
        </p:txBody>
      </p:sp>
      <p:sp>
        <p:nvSpPr>
          <p:cNvPr id="141" name="Text 4">
            <a:extLst>
              <a:ext uri="{FF2B5EF4-FFF2-40B4-BE49-F238E27FC236}">
                <a16:creationId xmlns:a16="http://schemas.microsoft.com/office/drawing/2014/main" id="{FAED1166-F7E3-BDF6-3717-73EE0DCB47BC}"/>
              </a:ext>
            </a:extLst>
          </p:cNvPr>
          <p:cNvSpPr/>
          <p:nvPr/>
        </p:nvSpPr>
        <p:spPr>
          <a:xfrm>
            <a:off x="7547644" y="2182633"/>
            <a:ext cx="3566160" cy="219456"/>
          </a:xfrm>
          <a:prstGeom prst="rect">
            <a:avLst/>
          </a:prstGeom>
          <a:noFill/>
          <a:ln/>
        </p:spPr>
        <p:txBody>
          <a:bodyPr wrap="square" lIns="254" tIns="254" rIns="254" bIns="254" rtlCol="0" anchor="t">
            <a:normAutofit/>
          </a:bodyPr>
          <a:lstStyle/>
          <a:p>
            <a:pPr marL="0" indent="0" algn="ctr">
              <a:buNone/>
            </a:pPr>
            <a:r>
              <a:rPr lang="en-US" sz="1300" b="1" dirty="0">
                <a:solidFill>
                  <a:srgbClr val="0B63E5"/>
                </a:solidFill>
                <a:latin typeface="Aptos" pitchFamily="34" charset="0"/>
                <a:ea typeface="Aptos" pitchFamily="34" charset="-122"/>
                <a:cs typeface="Aptos" pitchFamily="34" charset="-120"/>
              </a:rPr>
              <a:t>Estimated launch infrastructure</a:t>
            </a:r>
            <a:endParaRPr lang="en-US" sz="1300" dirty="0"/>
          </a:p>
        </p:txBody>
      </p:sp>
      <p:sp>
        <p:nvSpPr>
          <p:cNvPr id="142" name="Text 5">
            <a:extLst>
              <a:ext uri="{FF2B5EF4-FFF2-40B4-BE49-F238E27FC236}">
                <a16:creationId xmlns:a16="http://schemas.microsoft.com/office/drawing/2014/main" id="{996BF863-CA1E-475C-D398-68FC72DDEC89}"/>
              </a:ext>
            </a:extLst>
          </p:cNvPr>
          <p:cNvSpPr/>
          <p:nvPr/>
        </p:nvSpPr>
        <p:spPr>
          <a:xfrm>
            <a:off x="7483636" y="2402089"/>
            <a:ext cx="3703320" cy="566928"/>
          </a:xfrm>
          <a:prstGeom prst="rect">
            <a:avLst/>
          </a:prstGeom>
          <a:noFill/>
          <a:ln/>
        </p:spPr>
        <p:txBody>
          <a:bodyPr wrap="square" lIns="254" tIns="254" rIns="254" bIns="254" rtlCol="0" anchor="t">
            <a:normAutofit/>
          </a:bodyPr>
          <a:lstStyle/>
          <a:p>
            <a:pPr marL="0" indent="0" algn="ctr">
              <a:buNone/>
            </a:pPr>
            <a:r>
              <a:rPr lang="en-US" sz="3600" b="1" dirty="0">
                <a:solidFill>
                  <a:srgbClr val="07133D"/>
                </a:solidFill>
                <a:latin typeface="Aptos" pitchFamily="34" charset="0"/>
                <a:ea typeface="Aptos" pitchFamily="34" charset="-122"/>
                <a:cs typeface="Aptos" pitchFamily="34" charset="-120"/>
              </a:rPr>
              <a:t>€600–700</a:t>
            </a:r>
            <a:endParaRPr lang="en-US" sz="3600" dirty="0"/>
          </a:p>
        </p:txBody>
      </p:sp>
      <p:sp>
        <p:nvSpPr>
          <p:cNvPr id="143" name="Text 6">
            <a:extLst>
              <a:ext uri="{FF2B5EF4-FFF2-40B4-BE49-F238E27FC236}">
                <a16:creationId xmlns:a16="http://schemas.microsoft.com/office/drawing/2014/main" id="{EE74AC14-5E4C-7C30-1A57-174320E13B3D}"/>
              </a:ext>
            </a:extLst>
          </p:cNvPr>
          <p:cNvSpPr/>
          <p:nvPr/>
        </p:nvSpPr>
        <p:spPr>
          <a:xfrm>
            <a:off x="8434612" y="3087889"/>
            <a:ext cx="1783080" cy="219456"/>
          </a:xfrm>
          <a:prstGeom prst="rect">
            <a:avLst/>
          </a:prstGeom>
          <a:noFill/>
          <a:ln/>
        </p:spPr>
        <p:txBody>
          <a:bodyPr wrap="square" lIns="254" tIns="254" rIns="254" bIns="254" rtlCol="0" anchor="t">
            <a:normAutofit lnSpcReduction="10000"/>
          </a:bodyPr>
          <a:lstStyle/>
          <a:p>
            <a:pPr marL="0" indent="0" algn="ctr">
              <a:buNone/>
            </a:pPr>
            <a:r>
              <a:rPr lang="en-US" sz="1500" b="1" dirty="0">
                <a:solidFill>
                  <a:srgbClr val="5B6475"/>
                </a:solidFill>
                <a:latin typeface="Aptos" pitchFamily="34" charset="0"/>
                <a:ea typeface="Aptos" pitchFamily="34" charset="-122"/>
                <a:cs typeface="Aptos" pitchFamily="34" charset="-120"/>
              </a:rPr>
              <a:t>per month</a:t>
            </a:r>
            <a:endParaRPr lang="en-US" sz="1500" dirty="0"/>
          </a:p>
        </p:txBody>
      </p:sp>
      <p:sp>
        <p:nvSpPr>
          <p:cNvPr id="144" name="Shape 7">
            <a:extLst>
              <a:ext uri="{FF2B5EF4-FFF2-40B4-BE49-F238E27FC236}">
                <a16:creationId xmlns:a16="http://schemas.microsoft.com/office/drawing/2014/main" id="{73B7D258-D2B1-71A9-0B1B-1C8A4664A966}"/>
              </a:ext>
            </a:extLst>
          </p:cNvPr>
          <p:cNvSpPr/>
          <p:nvPr/>
        </p:nvSpPr>
        <p:spPr>
          <a:xfrm>
            <a:off x="7639084" y="3499369"/>
            <a:ext cx="3383280" cy="0"/>
          </a:xfrm>
          <a:prstGeom prst="line">
            <a:avLst/>
          </a:prstGeom>
          <a:noFill/>
          <a:ln w="12700">
            <a:solidFill>
              <a:srgbClr val="B7CBE8"/>
            </a:solidFill>
            <a:prstDash val="solid"/>
          </a:ln>
        </p:spPr>
        <p:txBody>
          <a:bodyPr/>
          <a:lstStyle/>
          <a:p>
            <a:endParaRPr lang="it-IT"/>
          </a:p>
        </p:txBody>
      </p:sp>
      <p:sp>
        <p:nvSpPr>
          <p:cNvPr id="145" name="Text 8">
            <a:extLst>
              <a:ext uri="{FF2B5EF4-FFF2-40B4-BE49-F238E27FC236}">
                <a16:creationId xmlns:a16="http://schemas.microsoft.com/office/drawing/2014/main" id="{BBA0D8BB-7755-F620-92D9-36546B261B3D}"/>
              </a:ext>
            </a:extLst>
          </p:cNvPr>
          <p:cNvSpPr/>
          <p:nvPr/>
        </p:nvSpPr>
        <p:spPr>
          <a:xfrm>
            <a:off x="7703092" y="3673105"/>
            <a:ext cx="3246120" cy="201168"/>
          </a:xfrm>
          <a:prstGeom prst="rect">
            <a:avLst/>
          </a:prstGeom>
          <a:noFill/>
          <a:ln/>
        </p:spPr>
        <p:txBody>
          <a:bodyPr wrap="square" lIns="254" tIns="254" rIns="254" bIns="254" rtlCol="0" anchor="t">
            <a:normAutofit/>
          </a:bodyPr>
          <a:lstStyle/>
          <a:p>
            <a:pPr marL="0" indent="0" algn="ctr">
              <a:buNone/>
            </a:pPr>
            <a:r>
              <a:rPr lang="en-US" sz="1220" dirty="0">
                <a:solidFill>
                  <a:srgbClr val="5B6475"/>
                </a:solidFill>
                <a:latin typeface="Aptos" pitchFamily="34" charset="0"/>
                <a:ea typeface="Aptos" pitchFamily="34" charset="-122"/>
                <a:cs typeface="Aptos" pitchFamily="34" charset="-120"/>
              </a:rPr>
              <a:t>Budget with contingency</a:t>
            </a:r>
            <a:endParaRPr lang="en-US" sz="1220" dirty="0"/>
          </a:p>
        </p:txBody>
      </p:sp>
      <p:sp>
        <p:nvSpPr>
          <p:cNvPr id="146" name="Text 9">
            <a:extLst>
              <a:ext uri="{FF2B5EF4-FFF2-40B4-BE49-F238E27FC236}">
                <a16:creationId xmlns:a16="http://schemas.microsoft.com/office/drawing/2014/main" id="{1E35A1D3-A3D8-C3A8-D552-24B3DBC50671}"/>
              </a:ext>
            </a:extLst>
          </p:cNvPr>
          <p:cNvSpPr/>
          <p:nvPr/>
        </p:nvSpPr>
        <p:spPr>
          <a:xfrm>
            <a:off x="7684804" y="3919993"/>
            <a:ext cx="3273552" cy="292608"/>
          </a:xfrm>
          <a:prstGeom prst="rect">
            <a:avLst/>
          </a:prstGeom>
          <a:noFill/>
          <a:ln/>
        </p:spPr>
        <p:txBody>
          <a:bodyPr wrap="square" lIns="254" tIns="254" rIns="254" bIns="254" rtlCol="0" anchor="t">
            <a:normAutofit/>
          </a:bodyPr>
          <a:lstStyle/>
          <a:p>
            <a:pPr marL="0" indent="0" algn="ctr">
              <a:buNone/>
            </a:pPr>
            <a:r>
              <a:rPr lang="en-US" sz="1900" b="1" dirty="0">
                <a:solidFill>
                  <a:srgbClr val="07133D"/>
                </a:solidFill>
                <a:latin typeface="Aptos" pitchFamily="34" charset="0"/>
                <a:ea typeface="Aptos" pitchFamily="34" charset="-122"/>
                <a:cs typeface="Aptos" pitchFamily="34" charset="-120"/>
              </a:rPr>
              <a:t>€700–850/month</a:t>
            </a:r>
            <a:endParaRPr lang="en-US" sz="1900" dirty="0"/>
          </a:p>
        </p:txBody>
      </p:sp>
      <p:sp>
        <p:nvSpPr>
          <p:cNvPr id="161" name="Text 12">
            <a:extLst>
              <a:ext uri="{FF2B5EF4-FFF2-40B4-BE49-F238E27FC236}">
                <a16:creationId xmlns:a16="http://schemas.microsoft.com/office/drawing/2014/main" id="{719B6683-2032-88C9-6241-DD1C95C1E23C}"/>
              </a:ext>
            </a:extLst>
          </p:cNvPr>
          <p:cNvSpPr/>
          <p:nvPr/>
        </p:nvSpPr>
        <p:spPr>
          <a:xfrm>
            <a:off x="4841946" y="6217919"/>
            <a:ext cx="6816654" cy="192023"/>
          </a:xfrm>
          <a:prstGeom prst="rect">
            <a:avLst/>
          </a:prstGeom>
          <a:noFill/>
          <a:ln/>
        </p:spPr>
        <p:txBody>
          <a:bodyPr wrap="square" lIns="254" tIns="254" rIns="254" bIns="254" rtlCol="0" anchor="t">
            <a:normAutofit fontScale="92500"/>
          </a:bodyPr>
          <a:lstStyle/>
          <a:p>
            <a:pPr marL="0" indent="0" algn="ctr">
              <a:buNone/>
            </a:pPr>
            <a:r>
              <a:rPr lang="en-US" sz="950" b="1" dirty="0">
                <a:solidFill>
                  <a:srgbClr val="5B6475"/>
                </a:solidFill>
                <a:latin typeface="Aptos" pitchFamily="34" charset="0"/>
                <a:ea typeface="Aptos" pitchFamily="34" charset="-122"/>
                <a:cs typeface="Aptos" pitchFamily="34" charset="-120"/>
              </a:rPr>
              <a:t>Sources</a:t>
            </a:r>
            <a:r>
              <a:rPr lang="en-US" sz="950" dirty="0">
                <a:solidFill>
                  <a:srgbClr val="5B6475"/>
                </a:solidFill>
                <a:latin typeface="Aptos" pitchFamily="34" charset="0"/>
                <a:ea typeface="Aptos" pitchFamily="34" charset="-122"/>
                <a:cs typeface="Aptos" pitchFamily="34" charset="-120"/>
              </a:rPr>
              <a:t>: Ireland, September 2026. Includes baseline and assumed initial usage; excludes AI/business-provider fees and appendix items.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sp>
        <p:nvSpPr>
          <p:cNvPr id="3" name="Text 1"/>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rPr>
              <a:t>Delivery Roadmap Estimation</a:t>
            </a:r>
            <a:endParaRPr lang="en-US" sz="2750" dirty="0"/>
          </a:p>
        </p:txBody>
      </p:sp>
      <p:sp>
        <p:nvSpPr>
          <p:cNvPr id="4" name="Shape 2"/>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5" name="Shape 3"/>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6" name="Text 4"/>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9/10</a:t>
            </a:r>
            <a:endParaRPr lang="en-US" sz="850" dirty="0"/>
          </a:p>
        </p:txBody>
      </p:sp>
      <p:sp>
        <p:nvSpPr>
          <p:cNvPr id="34" name="Rectangle 4">
            <a:extLst>
              <a:ext uri="{FF2B5EF4-FFF2-40B4-BE49-F238E27FC236}">
                <a16:creationId xmlns:a16="http://schemas.microsoft.com/office/drawing/2014/main" id="{F8DC2E2B-2D35-B823-89F8-1C0C98060CAF}"/>
              </a:ext>
            </a:extLst>
          </p:cNvPr>
          <p:cNvSpPr/>
          <p:nvPr/>
        </p:nvSpPr>
        <p:spPr>
          <a:xfrm>
            <a:off x="960120" y="1901952"/>
            <a:ext cx="10012680" cy="18288"/>
          </a:xfrm>
          <a:prstGeom prst="rect">
            <a:avLst/>
          </a:prstGeom>
          <a:solidFill>
            <a:srgbClr val="D6D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7">
            <a:extLst>
              <a:ext uri="{FF2B5EF4-FFF2-40B4-BE49-F238E27FC236}">
                <a16:creationId xmlns:a16="http://schemas.microsoft.com/office/drawing/2014/main" id="{83FEECCC-94C5-E988-6714-1105EA90CD75}"/>
              </a:ext>
            </a:extLst>
          </p:cNvPr>
          <p:cNvSpPr/>
          <p:nvPr/>
        </p:nvSpPr>
        <p:spPr>
          <a:xfrm>
            <a:off x="1325880" y="1645920"/>
            <a:ext cx="530352" cy="530352"/>
          </a:xfrm>
          <a:prstGeom prst="ellipse">
            <a:avLst/>
          </a:prstGeom>
          <a:solidFill>
            <a:srgbClr val="EAF5FF"/>
          </a:solidFill>
          <a:ln w="25400">
            <a:solidFill>
              <a:srgbClr val="0B6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8">
            <a:extLst>
              <a:ext uri="{FF2B5EF4-FFF2-40B4-BE49-F238E27FC236}">
                <a16:creationId xmlns:a16="http://schemas.microsoft.com/office/drawing/2014/main" id="{C69BAF66-73B4-B2E8-E364-97726F27D397}"/>
              </a:ext>
            </a:extLst>
          </p:cNvPr>
          <p:cNvSpPr txBox="1"/>
          <p:nvPr/>
        </p:nvSpPr>
        <p:spPr>
          <a:xfrm>
            <a:off x="960119" y="2304288"/>
            <a:ext cx="1261872" cy="182880"/>
          </a:xfrm>
          <a:prstGeom prst="rect">
            <a:avLst/>
          </a:prstGeom>
          <a:noFill/>
        </p:spPr>
        <p:txBody>
          <a:bodyPr wrap="square" lIns="0" tIns="0" rIns="0" bIns="0" anchor="t">
            <a:spAutoFit/>
          </a:bodyPr>
          <a:lstStyle/>
          <a:p>
            <a:pPr algn="ctr"/>
            <a:r>
              <a:rPr sz="1150" b="1">
                <a:solidFill>
                  <a:srgbClr val="0B63E5"/>
                </a:solidFill>
                <a:latin typeface="Aptos"/>
              </a:rPr>
              <a:t>Weeks 1–2</a:t>
            </a:r>
          </a:p>
        </p:txBody>
      </p:sp>
      <p:sp>
        <p:nvSpPr>
          <p:cNvPr id="39" name="TextBox 9">
            <a:extLst>
              <a:ext uri="{FF2B5EF4-FFF2-40B4-BE49-F238E27FC236}">
                <a16:creationId xmlns:a16="http://schemas.microsoft.com/office/drawing/2014/main" id="{60A779E4-0CB5-197D-5C64-F052D2C1C5A1}"/>
              </a:ext>
            </a:extLst>
          </p:cNvPr>
          <p:cNvSpPr txBox="1"/>
          <p:nvPr/>
        </p:nvSpPr>
        <p:spPr>
          <a:xfrm>
            <a:off x="640080" y="2505456"/>
            <a:ext cx="1874519" cy="201168"/>
          </a:xfrm>
          <a:prstGeom prst="rect">
            <a:avLst/>
          </a:prstGeom>
          <a:noFill/>
        </p:spPr>
        <p:txBody>
          <a:bodyPr wrap="square" lIns="0" tIns="0" rIns="0" bIns="0" anchor="t">
            <a:spAutoFit/>
          </a:bodyPr>
          <a:lstStyle/>
          <a:p>
            <a:pPr algn="ctr"/>
            <a:r>
              <a:rPr sz="1150" b="0">
                <a:solidFill>
                  <a:srgbClr val="07133D"/>
                </a:solidFill>
                <a:latin typeface="Aptos"/>
              </a:rPr>
              <a:t>Foundations</a:t>
            </a:r>
          </a:p>
        </p:txBody>
      </p:sp>
      <p:sp>
        <p:nvSpPr>
          <p:cNvPr id="40" name="Oval 10">
            <a:extLst>
              <a:ext uri="{FF2B5EF4-FFF2-40B4-BE49-F238E27FC236}">
                <a16:creationId xmlns:a16="http://schemas.microsoft.com/office/drawing/2014/main" id="{53C4316F-EF17-A991-26C9-4142AAD7FD1F}"/>
              </a:ext>
            </a:extLst>
          </p:cNvPr>
          <p:cNvSpPr/>
          <p:nvPr/>
        </p:nvSpPr>
        <p:spPr>
          <a:xfrm>
            <a:off x="5637276" y="1635788"/>
            <a:ext cx="530352" cy="530352"/>
          </a:xfrm>
          <a:prstGeom prst="ellipse">
            <a:avLst/>
          </a:prstGeom>
          <a:solidFill>
            <a:srgbClr val="E8F7EE"/>
          </a:solidFill>
          <a:ln w="25400">
            <a:solidFill>
              <a:srgbClr val="0B9F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11">
            <a:extLst>
              <a:ext uri="{FF2B5EF4-FFF2-40B4-BE49-F238E27FC236}">
                <a16:creationId xmlns:a16="http://schemas.microsoft.com/office/drawing/2014/main" id="{7C8577BF-702B-23A3-5165-D13F5D3106D2}"/>
              </a:ext>
            </a:extLst>
          </p:cNvPr>
          <p:cNvSpPr txBox="1"/>
          <p:nvPr/>
        </p:nvSpPr>
        <p:spPr>
          <a:xfrm>
            <a:off x="5271516" y="2294156"/>
            <a:ext cx="1261872" cy="182880"/>
          </a:xfrm>
          <a:prstGeom prst="rect">
            <a:avLst/>
          </a:prstGeom>
          <a:noFill/>
        </p:spPr>
        <p:txBody>
          <a:bodyPr wrap="square" lIns="0" tIns="0" rIns="0" bIns="0" anchor="t">
            <a:spAutoFit/>
          </a:bodyPr>
          <a:lstStyle/>
          <a:p>
            <a:pPr algn="ctr"/>
            <a:r>
              <a:rPr sz="1150" b="1">
                <a:solidFill>
                  <a:srgbClr val="0B9F63"/>
                </a:solidFill>
                <a:latin typeface="Aptos"/>
              </a:rPr>
              <a:t>Weeks 3–5</a:t>
            </a:r>
          </a:p>
        </p:txBody>
      </p:sp>
      <p:sp>
        <p:nvSpPr>
          <p:cNvPr id="42" name="TextBox 12">
            <a:extLst>
              <a:ext uri="{FF2B5EF4-FFF2-40B4-BE49-F238E27FC236}">
                <a16:creationId xmlns:a16="http://schemas.microsoft.com/office/drawing/2014/main" id="{513601DE-9BA1-B7D1-37E3-E876B6CF5D42}"/>
              </a:ext>
            </a:extLst>
          </p:cNvPr>
          <p:cNvSpPr txBox="1"/>
          <p:nvPr/>
        </p:nvSpPr>
        <p:spPr>
          <a:xfrm>
            <a:off x="4951476" y="2495324"/>
            <a:ext cx="1874519" cy="201168"/>
          </a:xfrm>
          <a:prstGeom prst="rect">
            <a:avLst/>
          </a:prstGeom>
          <a:noFill/>
        </p:spPr>
        <p:txBody>
          <a:bodyPr wrap="square" lIns="0" tIns="0" rIns="0" bIns="0" anchor="t">
            <a:spAutoFit/>
          </a:bodyPr>
          <a:lstStyle/>
          <a:p>
            <a:pPr algn="ctr"/>
            <a:r>
              <a:rPr sz="1150" b="0" dirty="0">
                <a:solidFill>
                  <a:srgbClr val="07133D"/>
                </a:solidFill>
                <a:latin typeface="Aptos"/>
              </a:rPr>
              <a:t>Complete journey</a:t>
            </a:r>
          </a:p>
        </p:txBody>
      </p:sp>
      <p:sp>
        <p:nvSpPr>
          <p:cNvPr id="43" name="Oval 13">
            <a:extLst>
              <a:ext uri="{FF2B5EF4-FFF2-40B4-BE49-F238E27FC236}">
                <a16:creationId xmlns:a16="http://schemas.microsoft.com/office/drawing/2014/main" id="{E41487D5-8AC9-1158-8869-0E96298B1B95}"/>
              </a:ext>
            </a:extLst>
          </p:cNvPr>
          <p:cNvSpPr/>
          <p:nvPr/>
        </p:nvSpPr>
        <p:spPr>
          <a:xfrm>
            <a:off x="9921240" y="1645920"/>
            <a:ext cx="530352" cy="530352"/>
          </a:xfrm>
          <a:prstGeom prst="ellipse">
            <a:avLst/>
          </a:prstGeom>
          <a:solidFill>
            <a:srgbClr val="FFF4E4"/>
          </a:solidFill>
          <a:ln w="25400">
            <a:solidFill>
              <a:srgbClr val="F2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14">
            <a:extLst>
              <a:ext uri="{FF2B5EF4-FFF2-40B4-BE49-F238E27FC236}">
                <a16:creationId xmlns:a16="http://schemas.microsoft.com/office/drawing/2014/main" id="{207E554A-3C65-237B-853B-37AF90A92BD9}"/>
              </a:ext>
            </a:extLst>
          </p:cNvPr>
          <p:cNvSpPr txBox="1"/>
          <p:nvPr/>
        </p:nvSpPr>
        <p:spPr>
          <a:xfrm>
            <a:off x="9555480" y="2304288"/>
            <a:ext cx="1261872" cy="182880"/>
          </a:xfrm>
          <a:prstGeom prst="rect">
            <a:avLst/>
          </a:prstGeom>
          <a:noFill/>
        </p:spPr>
        <p:txBody>
          <a:bodyPr wrap="square" lIns="0" tIns="0" rIns="0" bIns="0" anchor="t">
            <a:spAutoFit/>
          </a:bodyPr>
          <a:lstStyle/>
          <a:p>
            <a:pPr algn="ctr"/>
            <a:r>
              <a:rPr sz="1150" b="1">
                <a:solidFill>
                  <a:srgbClr val="F28A00"/>
                </a:solidFill>
                <a:latin typeface="Aptos"/>
              </a:rPr>
              <a:t>Weeks 6–8</a:t>
            </a:r>
          </a:p>
        </p:txBody>
      </p:sp>
      <p:sp>
        <p:nvSpPr>
          <p:cNvPr id="45" name="TextBox 15">
            <a:extLst>
              <a:ext uri="{FF2B5EF4-FFF2-40B4-BE49-F238E27FC236}">
                <a16:creationId xmlns:a16="http://schemas.microsoft.com/office/drawing/2014/main" id="{983D3AED-22F6-101A-F778-328E05A129D0}"/>
              </a:ext>
            </a:extLst>
          </p:cNvPr>
          <p:cNvSpPr txBox="1"/>
          <p:nvPr/>
        </p:nvSpPr>
        <p:spPr>
          <a:xfrm>
            <a:off x="9235440" y="2505456"/>
            <a:ext cx="1874519" cy="201168"/>
          </a:xfrm>
          <a:prstGeom prst="rect">
            <a:avLst/>
          </a:prstGeom>
          <a:noFill/>
        </p:spPr>
        <p:txBody>
          <a:bodyPr wrap="square" lIns="0" tIns="0" rIns="0" bIns="0" anchor="t">
            <a:spAutoFit/>
          </a:bodyPr>
          <a:lstStyle/>
          <a:p>
            <a:pPr algn="ctr"/>
            <a:r>
              <a:rPr sz="1150" b="0">
                <a:solidFill>
                  <a:srgbClr val="07133D"/>
                </a:solidFill>
                <a:latin typeface="Aptos"/>
              </a:rPr>
              <a:t>Launch readiness</a:t>
            </a:r>
          </a:p>
        </p:txBody>
      </p:sp>
      <p:sp>
        <p:nvSpPr>
          <p:cNvPr id="46" name="Rectangle 16">
            <a:extLst>
              <a:ext uri="{FF2B5EF4-FFF2-40B4-BE49-F238E27FC236}">
                <a16:creationId xmlns:a16="http://schemas.microsoft.com/office/drawing/2014/main" id="{1AF71003-7010-D4C8-241D-070F54F6EBCB}"/>
              </a:ext>
            </a:extLst>
          </p:cNvPr>
          <p:cNvSpPr/>
          <p:nvPr/>
        </p:nvSpPr>
        <p:spPr>
          <a:xfrm>
            <a:off x="640080" y="2912165"/>
            <a:ext cx="1966874" cy="420624"/>
          </a:xfrm>
          <a:prstGeom prst="rect">
            <a:avLst/>
          </a:prstGeom>
          <a:solidFill>
            <a:srgbClr val="07133D"/>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17">
            <a:extLst>
              <a:ext uri="{FF2B5EF4-FFF2-40B4-BE49-F238E27FC236}">
                <a16:creationId xmlns:a16="http://schemas.microsoft.com/office/drawing/2014/main" id="{47A2EF84-9915-3516-1522-D6A2D8EC6E84}"/>
              </a:ext>
            </a:extLst>
          </p:cNvPr>
          <p:cNvSpPr txBox="1"/>
          <p:nvPr/>
        </p:nvSpPr>
        <p:spPr>
          <a:xfrm>
            <a:off x="731519" y="3012749"/>
            <a:ext cx="1783994" cy="182880"/>
          </a:xfrm>
          <a:prstGeom prst="rect">
            <a:avLst/>
          </a:prstGeom>
          <a:noFill/>
        </p:spPr>
        <p:txBody>
          <a:bodyPr wrap="square" lIns="0" tIns="0" rIns="0" bIns="0" anchor="t">
            <a:spAutoFit/>
          </a:bodyPr>
          <a:lstStyle/>
          <a:p>
            <a:pPr algn="l"/>
            <a:r>
              <a:rPr sz="1150" b="1">
                <a:solidFill>
                  <a:srgbClr val="FFFFFF"/>
                </a:solidFill>
                <a:latin typeface="Aptos"/>
              </a:rPr>
              <a:t>Phase</a:t>
            </a:r>
          </a:p>
        </p:txBody>
      </p:sp>
      <p:sp>
        <p:nvSpPr>
          <p:cNvPr id="48" name="Rectangle 18">
            <a:extLst>
              <a:ext uri="{FF2B5EF4-FFF2-40B4-BE49-F238E27FC236}">
                <a16:creationId xmlns:a16="http://schemas.microsoft.com/office/drawing/2014/main" id="{E0393CCC-2FCD-AA19-7A48-FD3475419BFA}"/>
              </a:ext>
            </a:extLst>
          </p:cNvPr>
          <p:cNvSpPr/>
          <p:nvPr/>
        </p:nvSpPr>
        <p:spPr>
          <a:xfrm>
            <a:off x="2606954" y="2912165"/>
            <a:ext cx="5354269" cy="420624"/>
          </a:xfrm>
          <a:prstGeom prst="rect">
            <a:avLst/>
          </a:prstGeom>
          <a:solidFill>
            <a:srgbClr val="07133D"/>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19">
            <a:extLst>
              <a:ext uri="{FF2B5EF4-FFF2-40B4-BE49-F238E27FC236}">
                <a16:creationId xmlns:a16="http://schemas.microsoft.com/office/drawing/2014/main" id="{14DD7CE1-793E-8ABC-BF42-A81881CDCF6F}"/>
              </a:ext>
            </a:extLst>
          </p:cNvPr>
          <p:cNvSpPr txBox="1"/>
          <p:nvPr/>
        </p:nvSpPr>
        <p:spPr>
          <a:xfrm>
            <a:off x="2698394" y="3012749"/>
            <a:ext cx="5171389" cy="182880"/>
          </a:xfrm>
          <a:prstGeom prst="rect">
            <a:avLst/>
          </a:prstGeom>
          <a:noFill/>
        </p:spPr>
        <p:txBody>
          <a:bodyPr wrap="square" lIns="0" tIns="0" rIns="0" bIns="0" anchor="t">
            <a:spAutoFit/>
          </a:bodyPr>
          <a:lstStyle/>
          <a:p>
            <a:pPr algn="l"/>
            <a:r>
              <a:rPr sz="1150" b="1">
                <a:solidFill>
                  <a:srgbClr val="FFFFFF"/>
                </a:solidFill>
                <a:latin typeface="Aptos"/>
              </a:rPr>
              <a:t>Main activities</a:t>
            </a:r>
          </a:p>
        </p:txBody>
      </p:sp>
      <p:sp>
        <p:nvSpPr>
          <p:cNvPr id="50" name="Rectangle 20">
            <a:extLst>
              <a:ext uri="{FF2B5EF4-FFF2-40B4-BE49-F238E27FC236}">
                <a16:creationId xmlns:a16="http://schemas.microsoft.com/office/drawing/2014/main" id="{E9635A96-4A27-0DE2-25DE-36FE7D58D7E6}"/>
              </a:ext>
            </a:extLst>
          </p:cNvPr>
          <p:cNvSpPr/>
          <p:nvPr/>
        </p:nvSpPr>
        <p:spPr>
          <a:xfrm>
            <a:off x="7961223" y="2912165"/>
            <a:ext cx="3605936" cy="420624"/>
          </a:xfrm>
          <a:prstGeom prst="rect">
            <a:avLst/>
          </a:prstGeom>
          <a:solidFill>
            <a:srgbClr val="07133D"/>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21">
            <a:extLst>
              <a:ext uri="{FF2B5EF4-FFF2-40B4-BE49-F238E27FC236}">
                <a16:creationId xmlns:a16="http://schemas.microsoft.com/office/drawing/2014/main" id="{EFD0FF75-ECFA-518A-CFD6-B6857E9CF8C2}"/>
              </a:ext>
            </a:extLst>
          </p:cNvPr>
          <p:cNvSpPr txBox="1"/>
          <p:nvPr/>
        </p:nvSpPr>
        <p:spPr>
          <a:xfrm>
            <a:off x="8052663" y="3012749"/>
            <a:ext cx="3423056" cy="182880"/>
          </a:xfrm>
          <a:prstGeom prst="rect">
            <a:avLst/>
          </a:prstGeom>
          <a:noFill/>
        </p:spPr>
        <p:txBody>
          <a:bodyPr wrap="square" lIns="0" tIns="0" rIns="0" bIns="0" anchor="t">
            <a:spAutoFit/>
          </a:bodyPr>
          <a:lstStyle/>
          <a:p>
            <a:pPr algn="l"/>
            <a:r>
              <a:rPr sz="1150" b="1">
                <a:solidFill>
                  <a:srgbClr val="FFFFFF"/>
                </a:solidFill>
                <a:latin typeface="Aptos"/>
              </a:rPr>
              <a:t>Expected outcome</a:t>
            </a:r>
          </a:p>
        </p:txBody>
      </p:sp>
      <p:sp>
        <p:nvSpPr>
          <p:cNvPr id="52" name="Rectangle 22">
            <a:extLst>
              <a:ext uri="{FF2B5EF4-FFF2-40B4-BE49-F238E27FC236}">
                <a16:creationId xmlns:a16="http://schemas.microsoft.com/office/drawing/2014/main" id="{E9CBC7CF-4FF2-1086-CB0E-A9D6F70A47F8}"/>
              </a:ext>
            </a:extLst>
          </p:cNvPr>
          <p:cNvSpPr/>
          <p:nvPr/>
        </p:nvSpPr>
        <p:spPr>
          <a:xfrm>
            <a:off x="640080" y="3332789"/>
            <a:ext cx="1966874" cy="914400"/>
          </a:xfrm>
          <a:prstGeom prst="rect">
            <a:avLst/>
          </a:prstGeom>
          <a:solidFill>
            <a:srgbClr val="FFFFFF"/>
          </a:solidFill>
          <a:ln w="10160">
            <a:solidFill>
              <a:srgbClr val="BCC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23">
            <a:extLst>
              <a:ext uri="{FF2B5EF4-FFF2-40B4-BE49-F238E27FC236}">
                <a16:creationId xmlns:a16="http://schemas.microsoft.com/office/drawing/2014/main" id="{EC742F13-8C6B-9426-9B4B-E4AAADFB965F}"/>
              </a:ext>
            </a:extLst>
          </p:cNvPr>
          <p:cNvSpPr/>
          <p:nvPr/>
        </p:nvSpPr>
        <p:spPr>
          <a:xfrm>
            <a:off x="640080" y="3332789"/>
            <a:ext cx="54864" cy="914400"/>
          </a:xfrm>
          <a:prstGeom prst="rect">
            <a:avLst/>
          </a:prstGeom>
          <a:solidFill>
            <a:srgbClr val="0B6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24">
            <a:extLst>
              <a:ext uri="{FF2B5EF4-FFF2-40B4-BE49-F238E27FC236}">
                <a16:creationId xmlns:a16="http://schemas.microsoft.com/office/drawing/2014/main" id="{C1E2C158-AE63-9C98-2EB0-E60CCD5D582F}"/>
              </a:ext>
            </a:extLst>
          </p:cNvPr>
          <p:cNvSpPr txBox="1"/>
          <p:nvPr/>
        </p:nvSpPr>
        <p:spPr>
          <a:xfrm>
            <a:off x="749808" y="3781237"/>
            <a:ext cx="1783994" cy="181588"/>
          </a:xfrm>
          <a:prstGeom prst="rect">
            <a:avLst/>
          </a:prstGeom>
          <a:noFill/>
        </p:spPr>
        <p:txBody>
          <a:bodyPr wrap="square" lIns="0" tIns="0" rIns="0" bIns="0" anchor="ctr">
            <a:spAutoFit/>
          </a:bodyPr>
          <a:lstStyle/>
          <a:p>
            <a:pPr algn="l"/>
            <a:r>
              <a:rPr sz="1180" b="1">
                <a:solidFill>
                  <a:srgbClr val="07133D"/>
                </a:solidFill>
                <a:latin typeface="Aptos"/>
              </a:rPr>
              <a:t>Foundations</a:t>
            </a:r>
          </a:p>
        </p:txBody>
      </p:sp>
      <p:sp>
        <p:nvSpPr>
          <p:cNvPr id="55" name="Rectangle 25">
            <a:extLst>
              <a:ext uri="{FF2B5EF4-FFF2-40B4-BE49-F238E27FC236}">
                <a16:creationId xmlns:a16="http://schemas.microsoft.com/office/drawing/2014/main" id="{A65F0BAB-CCCB-209E-E21E-52BD076D442D}"/>
              </a:ext>
            </a:extLst>
          </p:cNvPr>
          <p:cNvSpPr/>
          <p:nvPr/>
        </p:nvSpPr>
        <p:spPr>
          <a:xfrm>
            <a:off x="2606954" y="3332789"/>
            <a:ext cx="5354269" cy="914400"/>
          </a:xfrm>
          <a:prstGeom prst="rect">
            <a:avLst/>
          </a:prstGeom>
          <a:solidFill>
            <a:srgbClr val="FFFFFF"/>
          </a:solidFill>
          <a:ln w="10160">
            <a:solidFill>
              <a:srgbClr val="BCC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26">
            <a:extLst>
              <a:ext uri="{FF2B5EF4-FFF2-40B4-BE49-F238E27FC236}">
                <a16:creationId xmlns:a16="http://schemas.microsoft.com/office/drawing/2014/main" id="{0C3172AB-70FC-F8C2-6F83-39A235693E83}"/>
              </a:ext>
            </a:extLst>
          </p:cNvPr>
          <p:cNvSpPr txBox="1"/>
          <p:nvPr/>
        </p:nvSpPr>
        <p:spPr>
          <a:xfrm>
            <a:off x="2734969" y="3595977"/>
            <a:ext cx="5098237" cy="326243"/>
          </a:xfrm>
          <a:prstGeom prst="rect">
            <a:avLst/>
          </a:prstGeom>
          <a:noFill/>
        </p:spPr>
        <p:txBody>
          <a:bodyPr wrap="square" lIns="0" tIns="0" rIns="0" bIns="0" anchor="t">
            <a:spAutoFit/>
          </a:bodyPr>
          <a:lstStyle/>
          <a:p>
            <a:pPr algn="l"/>
            <a:r>
              <a:rPr sz="1060" b="0" dirty="0">
                <a:solidFill>
                  <a:srgbClr val="07133D"/>
                </a:solidFill>
                <a:latin typeface="Aptos"/>
              </a:rPr>
              <a:t>Confirm recovery scope and provider guarantees. </a:t>
            </a:r>
            <a:endParaRPr lang="it-IT" sz="1060" b="0" dirty="0">
              <a:solidFill>
                <a:srgbClr val="07133D"/>
              </a:solidFill>
              <a:latin typeface="Aptos"/>
            </a:endParaRPr>
          </a:p>
          <a:p>
            <a:pPr algn="l"/>
            <a:r>
              <a:rPr sz="1060" b="0" dirty="0">
                <a:solidFill>
                  <a:srgbClr val="07133D"/>
                </a:solidFill>
                <a:latin typeface="Aptos"/>
              </a:rPr>
              <a:t>Set up Terraform, security, CI</a:t>
            </a:r>
            <a:r>
              <a:rPr lang="it-IT" sz="1060" b="0" dirty="0">
                <a:solidFill>
                  <a:srgbClr val="07133D"/>
                </a:solidFill>
                <a:latin typeface="Aptos"/>
              </a:rPr>
              <a:t>, </a:t>
            </a:r>
            <a:r>
              <a:rPr sz="1060" b="0" dirty="0">
                <a:solidFill>
                  <a:srgbClr val="07133D"/>
                </a:solidFill>
                <a:latin typeface="Aptos"/>
              </a:rPr>
              <a:t>telemetry.</a:t>
            </a:r>
          </a:p>
        </p:txBody>
      </p:sp>
      <p:sp>
        <p:nvSpPr>
          <p:cNvPr id="57" name="Rectangle 27">
            <a:extLst>
              <a:ext uri="{FF2B5EF4-FFF2-40B4-BE49-F238E27FC236}">
                <a16:creationId xmlns:a16="http://schemas.microsoft.com/office/drawing/2014/main" id="{0D14C98E-C542-3C39-8957-EFBD1995393B}"/>
              </a:ext>
            </a:extLst>
          </p:cNvPr>
          <p:cNvSpPr/>
          <p:nvPr/>
        </p:nvSpPr>
        <p:spPr>
          <a:xfrm>
            <a:off x="7961223" y="3332789"/>
            <a:ext cx="3605936" cy="914400"/>
          </a:xfrm>
          <a:prstGeom prst="rect">
            <a:avLst/>
          </a:prstGeom>
          <a:solidFill>
            <a:srgbClr val="FFFFFF"/>
          </a:solidFill>
          <a:ln w="10160">
            <a:solidFill>
              <a:srgbClr val="BCC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28">
            <a:extLst>
              <a:ext uri="{FF2B5EF4-FFF2-40B4-BE49-F238E27FC236}">
                <a16:creationId xmlns:a16="http://schemas.microsoft.com/office/drawing/2014/main" id="{AC39CB7D-D4EE-A024-AE67-0F98AE104C05}"/>
              </a:ext>
            </a:extLst>
          </p:cNvPr>
          <p:cNvSpPr txBox="1"/>
          <p:nvPr/>
        </p:nvSpPr>
        <p:spPr>
          <a:xfrm>
            <a:off x="8089239" y="3585442"/>
            <a:ext cx="3349904" cy="320088"/>
          </a:xfrm>
          <a:prstGeom prst="rect">
            <a:avLst/>
          </a:prstGeom>
          <a:noFill/>
        </p:spPr>
        <p:txBody>
          <a:bodyPr wrap="square" lIns="0" tIns="0" rIns="0" bIns="0" anchor="t">
            <a:spAutoFit/>
          </a:bodyPr>
          <a:lstStyle/>
          <a:p>
            <a:pPr algn="l"/>
            <a:r>
              <a:rPr sz="1040" b="0" dirty="0">
                <a:solidFill>
                  <a:srgbClr val="5B6475"/>
                </a:solidFill>
                <a:latin typeface="Aptos"/>
              </a:rPr>
              <a:t>Infrastructure ready for integration; critical assumptions reviewed.</a:t>
            </a:r>
          </a:p>
        </p:txBody>
      </p:sp>
      <p:sp>
        <p:nvSpPr>
          <p:cNvPr id="59" name="Rectangle 29">
            <a:extLst>
              <a:ext uri="{FF2B5EF4-FFF2-40B4-BE49-F238E27FC236}">
                <a16:creationId xmlns:a16="http://schemas.microsoft.com/office/drawing/2014/main" id="{F71BF7F7-35E4-4A8E-2A1B-86E1F106639C}"/>
              </a:ext>
            </a:extLst>
          </p:cNvPr>
          <p:cNvSpPr/>
          <p:nvPr/>
        </p:nvSpPr>
        <p:spPr>
          <a:xfrm>
            <a:off x="640080" y="4247189"/>
            <a:ext cx="1966874" cy="914400"/>
          </a:xfrm>
          <a:prstGeom prst="rect">
            <a:avLst/>
          </a:prstGeom>
          <a:solidFill>
            <a:srgbClr val="FFFFFF"/>
          </a:solidFill>
          <a:ln w="10160">
            <a:solidFill>
              <a:srgbClr val="BCC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30">
            <a:extLst>
              <a:ext uri="{FF2B5EF4-FFF2-40B4-BE49-F238E27FC236}">
                <a16:creationId xmlns:a16="http://schemas.microsoft.com/office/drawing/2014/main" id="{4557E9A8-2664-EFEA-784F-FE888FDAC447}"/>
              </a:ext>
            </a:extLst>
          </p:cNvPr>
          <p:cNvSpPr/>
          <p:nvPr/>
        </p:nvSpPr>
        <p:spPr>
          <a:xfrm>
            <a:off x="640080" y="4247189"/>
            <a:ext cx="54864" cy="914400"/>
          </a:xfrm>
          <a:prstGeom prst="rect">
            <a:avLst/>
          </a:prstGeom>
          <a:solidFill>
            <a:srgbClr val="0B9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31">
            <a:extLst>
              <a:ext uri="{FF2B5EF4-FFF2-40B4-BE49-F238E27FC236}">
                <a16:creationId xmlns:a16="http://schemas.microsoft.com/office/drawing/2014/main" id="{22A47348-A7B0-5D9F-8A13-843C50831D72}"/>
              </a:ext>
            </a:extLst>
          </p:cNvPr>
          <p:cNvSpPr txBox="1"/>
          <p:nvPr/>
        </p:nvSpPr>
        <p:spPr>
          <a:xfrm>
            <a:off x="758952" y="4621845"/>
            <a:ext cx="1783994" cy="181588"/>
          </a:xfrm>
          <a:prstGeom prst="rect">
            <a:avLst/>
          </a:prstGeom>
          <a:noFill/>
        </p:spPr>
        <p:txBody>
          <a:bodyPr wrap="square" lIns="0" tIns="0" rIns="0" bIns="0" anchor="ctr">
            <a:spAutoFit/>
          </a:bodyPr>
          <a:lstStyle/>
          <a:p>
            <a:pPr algn="l"/>
            <a:r>
              <a:rPr sz="1180" b="1" dirty="0">
                <a:solidFill>
                  <a:srgbClr val="07133D"/>
                </a:solidFill>
                <a:latin typeface="Aptos"/>
              </a:rPr>
              <a:t>Complete journey</a:t>
            </a:r>
          </a:p>
        </p:txBody>
      </p:sp>
      <p:sp>
        <p:nvSpPr>
          <p:cNvPr id="62" name="Rectangle 32">
            <a:extLst>
              <a:ext uri="{FF2B5EF4-FFF2-40B4-BE49-F238E27FC236}">
                <a16:creationId xmlns:a16="http://schemas.microsoft.com/office/drawing/2014/main" id="{AA22564C-9F5C-5B19-C3FF-3733A3E14AF3}"/>
              </a:ext>
            </a:extLst>
          </p:cNvPr>
          <p:cNvSpPr/>
          <p:nvPr/>
        </p:nvSpPr>
        <p:spPr>
          <a:xfrm>
            <a:off x="2606954" y="4247189"/>
            <a:ext cx="5354269" cy="914400"/>
          </a:xfrm>
          <a:prstGeom prst="rect">
            <a:avLst/>
          </a:prstGeom>
          <a:solidFill>
            <a:srgbClr val="FFFFFF"/>
          </a:solidFill>
          <a:ln w="10160">
            <a:solidFill>
              <a:srgbClr val="BCC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33">
            <a:extLst>
              <a:ext uri="{FF2B5EF4-FFF2-40B4-BE49-F238E27FC236}">
                <a16:creationId xmlns:a16="http://schemas.microsoft.com/office/drawing/2014/main" id="{A6479BB9-6D66-4796-F51E-F6B96E17058A}"/>
              </a:ext>
            </a:extLst>
          </p:cNvPr>
          <p:cNvSpPr txBox="1"/>
          <p:nvPr/>
        </p:nvSpPr>
        <p:spPr>
          <a:xfrm>
            <a:off x="2734968" y="4525724"/>
            <a:ext cx="5098237" cy="326243"/>
          </a:xfrm>
          <a:prstGeom prst="rect">
            <a:avLst/>
          </a:prstGeom>
          <a:noFill/>
        </p:spPr>
        <p:txBody>
          <a:bodyPr wrap="square" lIns="0" tIns="0" rIns="0" bIns="0" anchor="t">
            <a:spAutoFit/>
          </a:bodyPr>
          <a:lstStyle/>
          <a:p>
            <a:pPr algn="l"/>
            <a:r>
              <a:rPr sz="1060" b="0" dirty="0">
                <a:solidFill>
                  <a:srgbClr val="07133D"/>
                </a:solidFill>
                <a:latin typeface="Aptos"/>
              </a:rPr>
              <a:t>Integrate the customer journey, reconciliation, notifications and manual review. Start failure testing.</a:t>
            </a:r>
          </a:p>
        </p:txBody>
      </p:sp>
      <p:sp>
        <p:nvSpPr>
          <p:cNvPr id="64" name="Rectangle 34">
            <a:extLst>
              <a:ext uri="{FF2B5EF4-FFF2-40B4-BE49-F238E27FC236}">
                <a16:creationId xmlns:a16="http://schemas.microsoft.com/office/drawing/2014/main" id="{4CA61EFD-6EE3-AD30-EE97-1E8148092490}"/>
              </a:ext>
            </a:extLst>
          </p:cNvPr>
          <p:cNvSpPr/>
          <p:nvPr/>
        </p:nvSpPr>
        <p:spPr>
          <a:xfrm>
            <a:off x="7961223" y="4247189"/>
            <a:ext cx="3605936" cy="914400"/>
          </a:xfrm>
          <a:prstGeom prst="rect">
            <a:avLst/>
          </a:prstGeom>
          <a:solidFill>
            <a:srgbClr val="FFFFFF"/>
          </a:solidFill>
          <a:ln w="10160">
            <a:solidFill>
              <a:srgbClr val="BCC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35">
            <a:extLst>
              <a:ext uri="{FF2B5EF4-FFF2-40B4-BE49-F238E27FC236}">
                <a16:creationId xmlns:a16="http://schemas.microsoft.com/office/drawing/2014/main" id="{5EE8197D-065A-EDCD-46A8-9DC3B31C2F22}"/>
              </a:ext>
            </a:extLst>
          </p:cNvPr>
          <p:cNvSpPr txBox="1"/>
          <p:nvPr/>
        </p:nvSpPr>
        <p:spPr>
          <a:xfrm>
            <a:off x="8089237" y="4507593"/>
            <a:ext cx="3349904" cy="320088"/>
          </a:xfrm>
          <a:prstGeom prst="rect">
            <a:avLst/>
          </a:prstGeom>
          <a:noFill/>
        </p:spPr>
        <p:txBody>
          <a:bodyPr wrap="square" lIns="0" tIns="0" rIns="0" bIns="0" anchor="t">
            <a:spAutoFit/>
          </a:bodyPr>
          <a:lstStyle/>
          <a:p>
            <a:pPr algn="l"/>
            <a:r>
              <a:rPr sz="1040" b="0" dirty="0">
                <a:solidFill>
                  <a:srgbClr val="5B6475"/>
                </a:solidFill>
                <a:latin typeface="Aptos"/>
              </a:rPr>
              <a:t>Customers can resume their journey; uncertain outcomes reach review.</a:t>
            </a:r>
          </a:p>
        </p:txBody>
      </p:sp>
      <p:sp>
        <p:nvSpPr>
          <p:cNvPr id="66" name="Rectangle 36">
            <a:extLst>
              <a:ext uri="{FF2B5EF4-FFF2-40B4-BE49-F238E27FC236}">
                <a16:creationId xmlns:a16="http://schemas.microsoft.com/office/drawing/2014/main" id="{92564CDB-A085-CEBE-C237-80F915836A7A}"/>
              </a:ext>
            </a:extLst>
          </p:cNvPr>
          <p:cNvSpPr/>
          <p:nvPr/>
        </p:nvSpPr>
        <p:spPr>
          <a:xfrm>
            <a:off x="640080" y="5161589"/>
            <a:ext cx="1966874" cy="914400"/>
          </a:xfrm>
          <a:prstGeom prst="rect">
            <a:avLst/>
          </a:prstGeom>
          <a:solidFill>
            <a:srgbClr val="FFFFFF"/>
          </a:solidFill>
          <a:ln w="10160">
            <a:solidFill>
              <a:srgbClr val="BCC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37">
            <a:extLst>
              <a:ext uri="{FF2B5EF4-FFF2-40B4-BE49-F238E27FC236}">
                <a16:creationId xmlns:a16="http://schemas.microsoft.com/office/drawing/2014/main" id="{FB785CB4-15EA-E665-FFE8-751F618474B3}"/>
              </a:ext>
            </a:extLst>
          </p:cNvPr>
          <p:cNvSpPr/>
          <p:nvPr/>
        </p:nvSpPr>
        <p:spPr>
          <a:xfrm>
            <a:off x="640080" y="5161589"/>
            <a:ext cx="54864" cy="914400"/>
          </a:xfrm>
          <a:prstGeom prst="rect">
            <a:avLst/>
          </a:prstGeom>
          <a:solidFill>
            <a:srgbClr val="F2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38">
            <a:extLst>
              <a:ext uri="{FF2B5EF4-FFF2-40B4-BE49-F238E27FC236}">
                <a16:creationId xmlns:a16="http://schemas.microsoft.com/office/drawing/2014/main" id="{0D53504D-338D-0233-A050-D00535D9D83F}"/>
              </a:ext>
            </a:extLst>
          </p:cNvPr>
          <p:cNvSpPr txBox="1"/>
          <p:nvPr/>
        </p:nvSpPr>
        <p:spPr>
          <a:xfrm>
            <a:off x="758952" y="5465846"/>
            <a:ext cx="1783994" cy="181588"/>
          </a:xfrm>
          <a:prstGeom prst="rect">
            <a:avLst/>
          </a:prstGeom>
          <a:noFill/>
        </p:spPr>
        <p:txBody>
          <a:bodyPr wrap="square" lIns="0" tIns="0" rIns="0" bIns="0" anchor="ctr">
            <a:spAutoFit/>
          </a:bodyPr>
          <a:lstStyle/>
          <a:p>
            <a:pPr algn="l"/>
            <a:r>
              <a:rPr sz="1180" b="1" dirty="0">
                <a:solidFill>
                  <a:srgbClr val="07133D"/>
                </a:solidFill>
                <a:latin typeface="Aptos"/>
              </a:rPr>
              <a:t>Launch readiness</a:t>
            </a:r>
          </a:p>
        </p:txBody>
      </p:sp>
      <p:sp>
        <p:nvSpPr>
          <p:cNvPr id="69" name="Rectangle 39">
            <a:extLst>
              <a:ext uri="{FF2B5EF4-FFF2-40B4-BE49-F238E27FC236}">
                <a16:creationId xmlns:a16="http://schemas.microsoft.com/office/drawing/2014/main" id="{246771A0-A082-00B3-85CB-E5EAF12CAB41}"/>
              </a:ext>
            </a:extLst>
          </p:cNvPr>
          <p:cNvSpPr/>
          <p:nvPr/>
        </p:nvSpPr>
        <p:spPr>
          <a:xfrm>
            <a:off x="2606954" y="5161589"/>
            <a:ext cx="5354269" cy="914400"/>
          </a:xfrm>
          <a:prstGeom prst="rect">
            <a:avLst/>
          </a:prstGeom>
          <a:solidFill>
            <a:srgbClr val="FFFFFF"/>
          </a:solidFill>
          <a:ln w="10160">
            <a:solidFill>
              <a:srgbClr val="BCC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40">
            <a:extLst>
              <a:ext uri="{FF2B5EF4-FFF2-40B4-BE49-F238E27FC236}">
                <a16:creationId xmlns:a16="http://schemas.microsoft.com/office/drawing/2014/main" id="{A62E83AB-73B9-9631-5B8D-8E2D4C8D6865}"/>
              </a:ext>
            </a:extLst>
          </p:cNvPr>
          <p:cNvSpPr txBox="1"/>
          <p:nvPr/>
        </p:nvSpPr>
        <p:spPr>
          <a:xfrm>
            <a:off x="2734968" y="5454197"/>
            <a:ext cx="5098237" cy="163122"/>
          </a:xfrm>
          <a:prstGeom prst="rect">
            <a:avLst/>
          </a:prstGeom>
          <a:noFill/>
        </p:spPr>
        <p:txBody>
          <a:bodyPr wrap="square" lIns="0" tIns="0" rIns="0" bIns="0" anchor="t">
            <a:spAutoFit/>
          </a:bodyPr>
          <a:lstStyle/>
          <a:p>
            <a:pPr algn="l"/>
            <a:r>
              <a:rPr sz="1060" b="0" dirty="0">
                <a:solidFill>
                  <a:srgbClr val="07133D"/>
                </a:solidFill>
                <a:latin typeface="Aptos"/>
              </a:rPr>
              <a:t>Test load, recovery and deployment compatibility. </a:t>
            </a:r>
          </a:p>
        </p:txBody>
      </p:sp>
      <p:sp>
        <p:nvSpPr>
          <p:cNvPr id="71" name="Rectangle 41">
            <a:extLst>
              <a:ext uri="{FF2B5EF4-FFF2-40B4-BE49-F238E27FC236}">
                <a16:creationId xmlns:a16="http://schemas.microsoft.com/office/drawing/2014/main" id="{B15D5ABD-7BDC-3552-82A3-5EE2A2B6C17E}"/>
              </a:ext>
            </a:extLst>
          </p:cNvPr>
          <p:cNvSpPr/>
          <p:nvPr/>
        </p:nvSpPr>
        <p:spPr>
          <a:xfrm>
            <a:off x="7961223" y="5161589"/>
            <a:ext cx="3605936" cy="914400"/>
          </a:xfrm>
          <a:prstGeom prst="rect">
            <a:avLst/>
          </a:prstGeom>
          <a:solidFill>
            <a:srgbClr val="FFFFFF"/>
          </a:solidFill>
          <a:ln w="10160">
            <a:solidFill>
              <a:srgbClr val="BCC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42">
            <a:extLst>
              <a:ext uri="{FF2B5EF4-FFF2-40B4-BE49-F238E27FC236}">
                <a16:creationId xmlns:a16="http://schemas.microsoft.com/office/drawing/2014/main" id="{5FE38AC0-B862-4E51-8474-BA7FC858AC59}"/>
              </a:ext>
            </a:extLst>
          </p:cNvPr>
          <p:cNvSpPr txBox="1"/>
          <p:nvPr/>
        </p:nvSpPr>
        <p:spPr>
          <a:xfrm>
            <a:off x="8089237" y="5431536"/>
            <a:ext cx="3349904" cy="320088"/>
          </a:xfrm>
          <a:prstGeom prst="rect">
            <a:avLst/>
          </a:prstGeom>
          <a:noFill/>
        </p:spPr>
        <p:txBody>
          <a:bodyPr wrap="square" lIns="0" tIns="0" rIns="0" bIns="0" anchor="t">
            <a:spAutoFit/>
          </a:bodyPr>
          <a:lstStyle/>
          <a:p>
            <a:pPr algn="l"/>
            <a:r>
              <a:rPr sz="1040" b="0" dirty="0">
                <a:solidFill>
                  <a:srgbClr val="5B6475"/>
                </a:solidFill>
                <a:latin typeface="Aptos"/>
              </a:rPr>
              <a:t>Evidence to assess launch readiness, with operational ownership agreed.</a:t>
            </a:r>
          </a:p>
        </p:txBody>
      </p:sp>
      <p:pic>
        <p:nvPicPr>
          <p:cNvPr id="76" name="Immagine 75">
            <a:extLst>
              <a:ext uri="{FF2B5EF4-FFF2-40B4-BE49-F238E27FC236}">
                <a16:creationId xmlns:a16="http://schemas.microsoft.com/office/drawing/2014/main" id="{59B3F25D-7FC3-B75B-06C1-50C308A480C1}"/>
              </a:ext>
            </a:extLst>
          </p:cNvPr>
          <p:cNvPicPr>
            <a:picLocks noChangeAspect="1"/>
          </p:cNvPicPr>
          <p:nvPr/>
        </p:nvPicPr>
        <p:blipFill>
          <a:blip r:embed="rId3"/>
          <a:stretch>
            <a:fillRect/>
          </a:stretch>
        </p:blipFill>
        <p:spPr>
          <a:xfrm>
            <a:off x="1387386" y="1725963"/>
            <a:ext cx="407338" cy="407338"/>
          </a:xfrm>
          <a:prstGeom prst="rect">
            <a:avLst/>
          </a:prstGeom>
        </p:spPr>
      </p:pic>
      <p:pic>
        <p:nvPicPr>
          <p:cNvPr id="78" name="Immagine 77">
            <a:extLst>
              <a:ext uri="{FF2B5EF4-FFF2-40B4-BE49-F238E27FC236}">
                <a16:creationId xmlns:a16="http://schemas.microsoft.com/office/drawing/2014/main" id="{D6F94D0F-1230-D878-7E50-F4BB28177DC7}"/>
              </a:ext>
            </a:extLst>
          </p:cNvPr>
          <p:cNvPicPr>
            <a:picLocks noChangeAspect="1"/>
          </p:cNvPicPr>
          <p:nvPr/>
        </p:nvPicPr>
        <p:blipFill>
          <a:blip r:embed="rId4"/>
          <a:stretch>
            <a:fillRect/>
          </a:stretch>
        </p:blipFill>
        <p:spPr>
          <a:xfrm>
            <a:off x="5728716" y="1722444"/>
            <a:ext cx="374918" cy="374918"/>
          </a:xfrm>
          <a:prstGeom prst="rect">
            <a:avLst/>
          </a:prstGeom>
        </p:spPr>
      </p:pic>
      <p:pic>
        <p:nvPicPr>
          <p:cNvPr id="80" name="Immagine 79">
            <a:extLst>
              <a:ext uri="{FF2B5EF4-FFF2-40B4-BE49-F238E27FC236}">
                <a16:creationId xmlns:a16="http://schemas.microsoft.com/office/drawing/2014/main" id="{9A988D25-409E-C75B-9603-383AAE31BFC9}"/>
              </a:ext>
            </a:extLst>
          </p:cNvPr>
          <p:cNvPicPr>
            <a:picLocks noChangeAspect="1"/>
          </p:cNvPicPr>
          <p:nvPr/>
        </p:nvPicPr>
        <p:blipFill>
          <a:blip r:embed="rId5"/>
          <a:stretch>
            <a:fillRect/>
          </a:stretch>
        </p:blipFill>
        <p:spPr>
          <a:xfrm>
            <a:off x="10016768" y="1752581"/>
            <a:ext cx="330774" cy="33077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sp>
        <p:nvSpPr>
          <p:cNvPr id="3" name="Text 1"/>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AI usage and decisive confirmations</a:t>
            </a:r>
            <a:endParaRPr lang="en-US" sz="2750" dirty="0"/>
          </a:p>
        </p:txBody>
      </p:sp>
      <p:sp>
        <p:nvSpPr>
          <p:cNvPr id="4" name="Shape 2"/>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5" name="Shape 3"/>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6" name="Text 4"/>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10/10</a:t>
            </a:r>
            <a:endParaRPr lang="en-US" sz="850" dirty="0"/>
          </a:p>
        </p:txBody>
      </p:sp>
      <p:sp>
        <p:nvSpPr>
          <p:cNvPr id="15" name="CasellaDiTesto 14">
            <a:extLst>
              <a:ext uri="{FF2B5EF4-FFF2-40B4-BE49-F238E27FC236}">
                <a16:creationId xmlns:a16="http://schemas.microsoft.com/office/drawing/2014/main" id="{74DB8449-4944-5638-4648-CED9602EB49E}"/>
              </a:ext>
            </a:extLst>
          </p:cNvPr>
          <p:cNvSpPr txBox="1"/>
          <p:nvPr/>
        </p:nvSpPr>
        <p:spPr>
          <a:xfrm>
            <a:off x="620202" y="1391478"/>
            <a:ext cx="11038398" cy="1477328"/>
          </a:xfrm>
          <a:prstGeom prst="rect">
            <a:avLst/>
          </a:prstGeom>
          <a:noFill/>
        </p:spPr>
        <p:txBody>
          <a:bodyPr wrap="square" rtlCol="0">
            <a:spAutoFit/>
          </a:bodyPr>
          <a:lstStyle/>
          <a:p>
            <a:pPr marL="285750" indent="-285750">
              <a:buFont typeface="Arial" panose="020B0604020202020204" pitchFamily="34" charset="0"/>
              <a:buChar char="•"/>
            </a:pPr>
            <a:r>
              <a:rPr lang="it-IT" b="1" dirty="0"/>
              <a:t>Tools</a:t>
            </a:r>
            <a:endParaRPr lang="it-IT" dirty="0"/>
          </a:p>
          <a:p>
            <a:pPr marL="742950" lvl="1" indent="-285750">
              <a:buFont typeface="Arial" panose="020B0604020202020204" pitchFamily="34" charset="0"/>
              <a:buChar char="•"/>
            </a:pPr>
            <a:r>
              <a:rPr lang="it-IT" b="1" dirty="0"/>
              <a:t>ChatGPT</a:t>
            </a:r>
            <a:r>
              <a:rPr lang="it-IT" dirty="0"/>
              <a:t>: general </a:t>
            </a:r>
            <a:r>
              <a:rPr lang="it-IT" dirty="0" err="1"/>
              <a:t>discussion</a:t>
            </a:r>
            <a:r>
              <a:rPr lang="it-IT" dirty="0"/>
              <a:t>, image generation for </a:t>
            </a:r>
            <a:r>
              <a:rPr lang="it-IT" dirty="0" err="1"/>
              <a:t>presentation</a:t>
            </a:r>
            <a:r>
              <a:rPr lang="it-IT" dirty="0"/>
              <a:t>, </a:t>
            </a:r>
          </a:p>
          <a:p>
            <a:pPr marL="742950" lvl="1" indent="-285750">
              <a:buFont typeface="Arial" panose="020B0604020202020204" pitchFamily="34" charset="0"/>
              <a:buChar char="•"/>
            </a:pPr>
            <a:r>
              <a:rPr lang="it-IT" b="1" dirty="0"/>
              <a:t>Codex</a:t>
            </a:r>
            <a:r>
              <a:rPr lang="it-IT" dirty="0"/>
              <a:t> (GPT-5.6 Terra e GPT-6 Astra): </a:t>
            </a:r>
            <a:r>
              <a:rPr lang="it-IT" dirty="0" err="1"/>
              <a:t>architecture</a:t>
            </a:r>
            <a:r>
              <a:rPr lang="it-IT" dirty="0"/>
              <a:t> and </a:t>
            </a:r>
            <a:r>
              <a:rPr lang="it-IT" dirty="0" err="1"/>
              <a:t>solution</a:t>
            </a:r>
            <a:r>
              <a:rPr lang="it-IT" dirty="0"/>
              <a:t> design, </a:t>
            </a:r>
            <a:r>
              <a:rPr lang="it-IT" dirty="0" err="1"/>
              <a:t>decision</a:t>
            </a:r>
            <a:r>
              <a:rPr lang="it-IT" dirty="0"/>
              <a:t> and trade-off </a:t>
            </a:r>
            <a:r>
              <a:rPr lang="it-IT" dirty="0" err="1"/>
              <a:t>evaluation</a:t>
            </a:r>
            <a:r>
              <a:rPr lang="it-IT" dirty="0"/>
              <a:t>. Review of </a:t>
            </a:r>
            <a:r>
              <a:rPr lang="it-IT" dirty="0" err="1"/>
              <a:t>solution</a:t>
            </a:r>
            <a:r>
              <a:rPr lang="it-IT" dirty="0"/>
              <a:t> </a:t>
            </a:r>
            <a:r>
              <a:rPr lang="it-IT" dirty="0" err="1"/>
              <a:t>against</a:t>
            </a:r>
            <a:r>
              <a:rPr lang="it-IT" dirty="0"/>
              <a:t> </a:t>
            </a:r>
            <a:r>
              <a:rPr lang="it-IT" dirty="0" err="1"/>
              <a:t>requirements</a:t>
            </a:r>
            <a:r>
              <a:rPr lang="it-IT" dirty="0"/>
              <a:t>.</a:t>
            </a:r>
          </a:p>
          <a:p>
            <a:pPr marL="742950" lvl="1" indent="-285750">
              <a:buFont typeface="Arial" panose="020B0604020202020204" pitchFamily="34" charset="0"/>
              <a:buChar char="•"/>
            </a:pPr>
            <a:r>
              <a:rPr lang="it-IT" b="1" dirty="0" err="1"/>
              <a:t>NotebookLM</a:t>
            </a:r>
            <a:r>
              <a:rPr lang="it-IT" dirty="0"/>
              <a:t>: image and </a:t>
            </a:r>
            <a:r>
              <a:rPr lang="it-IT" dirty="0" err="1"/>
              <a:t>table</a:t>
            </a:r>
            <a:r>
              <a:rPr lang="it-IT" dirty="0"/>
              <a:t> generation for </a:t>
            </a:r>
            <a:r>
              <a:rPr lang="it-IT" dirty="0" err="1"/>
              <a:t>presentation</a:t>
            </a:r>
            <a:r>
              <a:rPr lang="it-IT" dirty="0"/>
              <a:t>.</a:t>
            </a:r>
          </a:p>
        </p:txBody>
      </p:sp>
      <p:sp>
        <p:nvSpPr>
          <p:cNvPr id="16" name="Shape 3">
            <a:extLst>
              <a:ext uri="{FF2B5EF4-FFF2-40B4-BE49-F238E27FC236}">
                <a16:creationId xmlns:a16="http://schemas.microsoft.com/office/drawing/2014/main" id="{EC247BE3-C31D-FC38-8C2F-3D23E64A5304}"/>
              </a:ext>
            </a:extLst>
          </p:cNvPr>
          <p:cNvSpPr/>
          <p:nvPr/>
        </p:nvSpPr>
        <p:spPr>
          <a:xfrm>
            <a:off x="620202" y="3311150"/>
            <a:ext cx="6329239" cy="2782554"/>
          </a:xfrm>
          <a:prstGeom prst="roundRect">
            <a:avLst>
              <a:gd name="adj" fmla="val 1747"/>
            </a:avLst>
          </a:prstGeom>
          <a:solidFill>
            <a:srgbClr val="1E1E1E"/>
          </a:solidFill>
          <a:ln w="13970">
            <a:solidFill>
              <a:srgbClr val="2A2F3A"/>
            </a:solidFill>
            <a:prstDash val="solid"/>
          </a:ln>
        </p:spPr>
        <p:txBody>
          <a:bodyPr/>
          <a:lstStyle/>
          <a:p>
            <a:endParaRPr lang="it-IT"/>
          </a:p>
        </p:txBody>
      </p:sp>
      <p:sp>
        <p:nvSpPr>
          <p:cNvPr id="17" name="Text 4">
            <a:extLst>
              <a:ext uri="{FF2B5EF4-FFF2-40B4-BE49-F238E27FC236}">
                <a16:creationId xmlns:a16="http://schemas.microsoft.com/office/drawing/2014/main" id="{17ED54AC-35FD-8A51-53FC-6843C0FD2C71}"/>
              </a:ext>
            </a:extLst>
          </p:cNvPr>
          <p:cNvSpPr/>
          <p:nvPr/>
        </p:nvSpPr>
        <p:spPr>
          <a:xfrm>
            <a:off x="848803" y="3521462"/>
            <a:ext cx="1097280" cy="201168"/>
          </a:xfrm>
          <a:prstGeom prst="rect">
            <a:avLst/>
          </a:prstGeom>
          <a:noFill/>
          <a:ln/>
        </p:spPr>
        <p:txBody>
          <a:bodyPr wrap="square" lIns="254" tIns="254" rIns="254" bIns="254" rtlCol="0" anchor="t">
            <a:normAutofit/>
          </a:bodyPr>
          <a:lstStyle/>
          <a:p>
            <a:pPr marL="0" indent="0" algn="l">
              <a:buNone/>
            </a:pPr>
            <a:r>
              <a:rPr lang="en-US" sz="1250" b="1" dirty="0">
                <a:solidFill>
                  <a:srgbClr val="BDE0FF"/>
                </a:solidFill>
                <a:latin typeface="Aptos Mono" pitchFamily="34" charset="0"/>
                <a:ea typeface="Aptos Mono" pitchFamily="34" charset="-122"/>
                <a:cs typeface="Aptos Mono" pitchFamily="34" charset="-120"/>
              </a:rPr>
              <a:t>repo /</a:t>
            </a:r>
            <a:endParaRPr lang="en-US" sz="1250" dirty="0"/>
          </a:p>
        </p:txBody>
      </p:sp>
      <p:sp>
        <p:nvSpPr>
          <p:cNvPr id="18" name="Text 5">
            <a:extLst>
              <a:ext uri="{FF2B5EF4-FFF2-40B4-BE49-F238E27FC236}">
                <a16:creationId xmlns:a16="http://schemas.microsoft.com/office/drawing/2014/main" id="{416544CC-19ED-650D-B2F2-6E688E2CFF8D}"/>
              </a:ext>
            </a:extLst>
          </p:cNvPr>
          <p:cNvSpPr/>
          <p:nvPr/>
        </p:nvSpPr>
        <p:spPr>
          <a:xfrm>
            <a:off x="894523" y="3923798"/>
            <a:ext cx="128016" cy="164592"/>
          </a:xfrm>
          <a:prstGeom prst="rect">
            <a:avLst/>
          </a:prstGeom>
          <a:noFill/>
          <a:ln/>
        </p:spPr>
        <p:txBody>
          <a:bodyPr wrap="square" lIns="254" tIns="254" rIns="254" bIns="254" rtlCol="0" anchor="t">
            <a:normAutofit fontScale="92500" lnSpcReduction="10000"/>
          </a:bodyPr>
          <a:lstStyle/>
          <a:p>
            <a:pPr marL="0" indent="0" algn="l">
              <a:buNone/>
            </a:pPr>
            <a:r>
              <a:rPr lang="en-US" sz="1200" dirty="0">
                <a:solidFill>
                  <a:srgbClr val="8AA0B8"/>
                </a:solidFill>
                <a:latin typeface="Aptos Mono" pitchFamily="34" charset="0"/>
                <a:ea typeface="Aptos Mono" pitchFamily="34" charset="-122"/>
                <a:cs typeface="Aptos Mono" pitchFamily="34" charset="-120"/>
              </a:rPr>
              <a:t>•</a:t>
            </a:r>
            <a:endParaRPr lang="en-US" sz="1200" dirty="0"/>
          </a:p>
        </p:txBody>
      </p:sp>
      <p:sp>
        <p:nvSpPr>
          <p:cNvPr id="19" name="Text 6">
            <a:extLst>
              <a:ext uri="{FF2B5EF4-FFF2-40B4-BE49-F238E27FC236}">
                <a16:creationId xmlns:a16="http://schemas.microsoft.com/office/drawing/2014/main" id="{ED18092C-1232-1EFE-8D45-A0E50069DAA6}"/>
              </a:ext>
            </a:extLst>
          </p:cNvPr>
          <p:cNvSpPr/>
          <p:nvPr/>
        </p:nvSpPr>
        <p:spPr>
          <a:xfrm>
            <a:off x="1104835" y="3905510"/>
            <a:ext cx="1591056" cy="201168"/>
          </a:xfrm>
          <a:prstGeom prst="rect">
            <a:avLst/>
          </a:prstGeom>
          <a:noFill/>
          <a:ln/>
        </p:spPr>
        <p:txBody>
          <a:bodyPr wrap="square" lIns="254" tIns="254" rIns="254" bIns="254" rtlCol="0" anchor="t">
            <a:normAutofit/>
          </a:bodyPr>
          <a:lstStyle/>
          <a:p>
            <a:pPr marL="0" indent="0" algn="l">
              <a:buNone/>
            </a:pPr>
            <a:r>
              <a:rPr lang="en-US" sz="1220" b="1" dirty="0">
                <a:solidFill>
                  <a:srgbClr val="FFFFFF"/>
                </a:solidFill>
                <a:latin typeface="Aptos Mono" pitchFamily="34" charset="0"/>
                <a:ea typeface="Aptos Mono" pitchFamily="34" charset="-122"/>
                <a:cs typeface="Aptos Mono" pitchFamily="34" charset="-120"/>
              </a:rPr>
              <a:t>AGENTS.md</a:t>
            </a:r>
            <a:endParaRPr lang="en-US" sz="1220" dirty="0"/>
          </a:p>
        </p:txBody>
      </p:sp>
      <p:sp>
        <p:nvSpPr>
          <p:cNvPr id="20" name="Text 7">
            <a:extLst>
              <a:ext uri="{FF2B5EF4-FFF2-40B4-BE49-F238E27FC236}">
                <a16:creationId xmlns:a16="http://schemas.microsoft.com/office/drawing/2014/main" id="{859E4337-AE4A-0CAF-0195-E96A4321EBB0}"/>
              </a:ext>
            </a:extLst>
          </p:cNvPr>
          <p:cNvSpPr/>
          <p:nvPr/>
        </p:nvSpPr>
        <p:spPr>
          <a:xfrm>
            <a:off x="2814763" y="3745793"/>
            <a:ext cx="3856383" cy="561152"/>
          </a:xfrm>
          <a:prstGeom prst="rect">
            <a:avLst/>
          </a:prstGeom>
          <a:noFill/>
          <a:ln/>
        </p:spPr>
        <p:txBody>
          <a:bodyPr wrap="square" lIns="254" tIns="254" rIns="254" bIns="254" rtlCol="0" anchor="t">
            <a:normAutofit/>
          </a:bodyPr>
          <a:lstStyle/>
          <a:p>
            <a:r>
              <a:rPr lang="en-US" sz="1020" dirty="0">
                <a:solidFill>
                  <a:srgbClr val="D8E1EC"/>
                </a:solidFill>
                <a:latin typeface="Aptos" pitchFamily="34" charset="0"/>
                <a:ea typeface="Aptos" pitchFamily="34" charset="-122"/>
                <a:cs typeface="Aptos" pitchFamily="34" charset="-120"/>
              </a:rPr>
              <a:t>AI working rules and review criteria: e.g.</a:t>
            </a:r>
          </a:p>
          <a:p>
            <a:r>
              <a:rPr lang="en-US" sz="1020" dirty="0">
                <a:solidFill>
                  <a:srgbClr val="D8E1EC"/>
                </a:solidFill>
                <a:latin typeface="Aptos" pitchFamily="34" charset="0"/>
                <a:ea typeface="Aptos" pitchFamily="34" charset="-122"/>
                <a:cs typeface="Aptos" pitchFamily="34" charset="-120"/>
              </a:rPr>
              <a:t> “Treat </a:t>
            </a:r>
            <a:r>
              <a:rPr lang="en-US" sz="1020" dirty="0" err="1">
                <a:solidFill>
                  <a:srgbClr val="D8E1EC"/>
                </a:solidFill>
                <a:latin typeface="Aptos" pitchFamily="34" charset="0"/>
                <a:ea typeface="Aptos" pitchFamily="34" charset="-122"/>
                <a:cs typeface="Aptos" pitchFamily="34" charset="-120"/>
              </a:rPr>
              <a:t>assignment.md</a:t>
            </a:r>
            <a:r>
              <a:rPr lang="en-US" sz="1020" dirty="0">
                <a:solidFill>
                  <a:srgbClr val="D8E1EC"/>
                </a:solidFill>
                <a:latin typeface="Aptos" pitchFamily="34" charset="0"/>
                <a:ea typeface="Aptos" pitchFamily="34" charset="-122"/>
                <a:cs typeface="Aptos" pitchFamily="34" charset="-120"/>
              </a:rPr>
              <a:t> as the source of truth”, “Prefer the simplest credible solution for a two-engineer team”, “Ask for decisions”</a:t>
            </a:r>
            <a:endParaRPr lang="en-US" sz="1020" dirty="0"/>
          </a:p>
        </p:txBody>
      </p:sp>
      <p:sp>
        <p:nvSpPr>
          <p:cNvPr id="21" name="Shape 8">
            <a:extLst>
              <a:ext uri="{FF2B5EF4-FFF2-40B4-BE49-F238E27FC236}">
                <a16:creationId xmlns:a16="http://schemas.microsoft.com/office/drawing/2014/main" id="{7FC1AE33-FA7A-B954-DDC7-6E919F33EE63}"/>
              </a:ext>
            </a:extLst>
          </p:cNvPr>
          <p:cNvSpPr/>
          <p:nvPr/>
        </p:nvSpPr>
        <p:spPr>
          <a:xfrm>
            <a:off x="848802" y="4344421"/>
            <a:ext cx="5703073" cy="15779"/>
          </a:xfrm>
          <a:prstGeom prst="line">
            <a:avLst/>
          </a:prstGeom>
          <a:noFill/>
          <a:ln w="8890">
            <a:solidFill>
              <a:srgbClr val="353D4A"/>
            </a:solidFill>
            <a:prstDash val="solid"/>
          </a:ln>
        </p:spPr>
        <p:txBody>
          <a:bodyPr/>
          <a:lstStyle/>
          <a:p>
            <a:endParaRPr lang="it-IT"/>
          </a:p>
        </p:txBody>
      </p:sp>
      <p:sp>
        <p:nvSpPr>
          <p:cNvPr id="22" name="Text 9">
            <a:extLst>
              <a:ext uri="{FF2B5EF4-FFF2-40B4-BE49-F238E27FC236}">
                <a16:creationId xmlns:a16="http://schemas.microsoft.com/office/drawing/2014/main" id="{C669D1CC-DF5B-F75C-E0F6-FDE425FC524C}"/>
              </a:ext>
            </a:extLst>
          </p:cNvPr>
          <p:cNvSpPr/>
          <p:nvPr/>
        </p:nvSpPr>
        <p:spPr>
          <a:xfrm>
            <a:off x="894523" y="4673606"/>
            <a:ext cx="128016" cy="164592"/>
          </a:xfrm>
          <a:prstGeom prst="rect">
            <a:avLst/>
          </a:prstGeom>
          <a:noFill/>
          <a:ln/>
        </p:spPr>
        <p:txBody>
          <a:bodyPr wrap="square" lIns="254" tIns="254" rIns="254" bIns="254" rtlCol="0" anchor="t">
            <a:normAutofit fontScale="92500" lnSpcReduction="10000"/>
          </a:bodyPr>
          <a:lstStyle/>
          <a:p>
            <a:pPr marL="0" indent="0" algn="l">
              <a:buNone/>
            </a:pPr>
            <a:r>
              <a:rPr lang="en-US" sz="1200" dirty="0">
                <a:solidFill>
                  <a:srgbClr val="8AA0B8"/>
                </a:solidFill>
                <a:latin typeface="Aptos Mono" pitchFamily="34" charset="0"/>
                <a:ea typeface="Aptos Mono" pitchFamily="34" charset="-122"/>
                <a:cs typeface="Aptos Mono" pitchFamily="34" charset="-120"/>
              </a:rPr>
              <a:t>•</a:t>
            </a:r>
            <a:endParaRPr lang="en-US" sz="1200" dirty="0"/>
          </a:p>
        </p:txBody>
      </p:sp>
      <p:sp>
        <p:nvSpPr>
          <p:cNvPr id="23" name="Text 10">
            <a:extLst>
              <a:ext uri="{FF2B5EF4-FFF2-40B4-BE49-F238E27FC236}">
                <a16:creationId xmlns:a16="http://schemas.microsoft.com/office/drawing/2014/main" id="{2A69E7B7-388C-591A-E3E5-990C7ED1AF43}"/>
              </a:ext>
            </a:extLst>
          </p:cNvPr>
          <p:cNvSpPr/>
          <p:nvPr/>
        </p:nvSpPr>
        <p:spPr>
          <a:xfrm>
            <a:off x="1104835" y="4655318"/>
            <a:ext cx="1591056" cy="201168"/>
          </a:xfrm>
          <a:prstGeom prst="rect">
            <a:avLst/>
          </a:prstGeom>
          <a:noFill/>
          <a:ln/>
        </p:spPr>
        <p:txBody>
          <a:bodyPr wrap="square" lIns="254" tIns="254" rIns="254" bIns="254" rtlCol="0" anchor="t">
            <a:normAutofit/>
          </a:bodyPr>
          <a:lstStyle/>
          <a:p>
            <a:pPr marL="0" indent="0" algn="l">
              <a:buNone/>
            </a:pPr>
            <a:r>
              <a:rPr lang="en-US" sz="1220" b="1" dirty="0">
                <a:solidFill>
                  <a:srgbClr val="FFFFFF"/>
                </a:solidFill>
                <a:latin typeface="Aptos Mono" pitchFamily="34" charset="0"/>
                <a:ea typeface="Aptos Mono" pitchFamily="34" charset="-122"/>
                <a:cs typeface="Aptos Mono" pitchFamily="34" charset="-120"/>
              </a:rPr>
              <a:t>assignment.md</a:t>
            </a:r>
            <a:endParaRPr lang="en-US" sz="1220" dirty="0"/>
          </a:p>
        </p:txBody>
      </p:sp>
      <p:sp>
        <p:nvSpPr>
          <p:cNvPr id="24" name="Text 11">
            <a:extLst>
              <a:ext uri="{FF2B5EF4-FFF2-40B4-BE49-F238E27FC236}">
                <a16:creationId xmlns:a16="http://schemas.microsoft.com/office/drawing/2014/main" id="{648D29DF-6E93-CEC2-6DEC-71BFA12AD974}"/>
              </a:ext>
            </a:extLst>
          </p:cNvPr>
          <p:cNvSpPr/>
          <p:nvPr/>
        </p:nvSpPr>
        <p:spPr>
          <a:xfrm>
            <a:off x="2814763" y="4655318"/>
            <a:ext cx="2514600" cy="201168"/>
          </a:xfrm>
          <a:prstGeom prst="rect">
            <a:avLst/>
          </a:prstGeom>
          <a:noFill/>
          <a:ln/>
        </p:spPr>
        <p:txBody>
          <a:bodyPr wrap="square" lIns="254" tIns="254" rIns="254" bIns="254" rtlCol="0" anchor="t">
            <a:normAutofit/>
          </a:bodyPr>
          <a:lstStyle/>
          <a:p>
            <a:pPr marL="0" indent="0" algn="l">
              <a:buNone/>
            </a:pPr>
            <a:r>
              <a:rPr lang="en-US" sz="1020" dirty="0">
                <a:solidFill>
                  <a:srgbClr val="D8E1EC"/>
                </a:solidFill>
                <a:latin typeface="Aptos" pitchFamily="34" charset="0"/>
                <a:ea typeface="Aptos" pitchFamily="34" charset="-122"/>
                <a:cs typeface="Aptos" pitchFamily="34" charset="-120"/>
              </a:rPr>
              <a:t>Authoritative requirements; unchanged</a:t>
            </a:r>
            <a:endParaRPr lang="en-US" sz="1020" dirty="0"/>
          </a:p>
        </p:txBody>
      </p:sp>
      <p:sp>
        <p:nvSpPr>
          <p:cNvPr id="25" name="Shape 12">
            <a:extLst>
              <a:ext uri="{FF2B5EF4-FFF2-40B4-BE49-F238E27FC236}">
                <a16:creationId xmlns:a16="http://schemas.microsoft.com/office/drawing/2014/main" id="{FA1E6BF4-45AC-38F1-7E4E-82EC723017CC}"/>
              </a:ext>
            </a:extLst>
          </p:cNvPr>
          <p:cNvSpPr/>
          <p:nvPr/>
        </p:nvSpPr>
        <p:spPr>
          <a:xfrm flipV="1">
            <a:off x="848803" y="5045142"/>
            <a:ext cx="5703072" cy="49088"/>
          </a:xfrm>
          <a:prstGeom prst="line">
            <a:avLst/>
          </a:prstGeom>
          <a:noFill/>
          <a:ln w="8890">
            <a:solidFill>
              <a:srgbClr val="353D4A"/>
            </a:solidFill>
            <a:prstDash val="solid"/>
          </a:ln>
        </p:spPr>
        <p:txBody>
          <a:bodyPr/>
          <a:lstStyle/>
          <a:p>
            <a:endParaRPr lang="it-IT"/>
          </a:p>
        </p:txBody>
      </p:sp>
      <p:sp>
        <p:nvSpPr>
          <p:cNvPr id="26" name="Text 13">
            <a:extLst>
              <a:ext uri="{FF2B5EF4-FFF2-40B4-BE49-F238E27FC236}">
                <a16:creationId xmlns:a16="http://schemas.microsoft.com/office/drawing/2014/main" id="{09D95708-5268-5228-22D2-2F6F928FC51C}"/>
              </a:ext>
            </a:extLst>
          </p:cNvPr>
          <p:cNvSpPr/>
          <p:nvPr/>
        </p:nvSpPr>
        <p:spPr>
          <a:xfrm>
            <a:off x="894523" y="5423414"/>
            <a:ext cx="128016" cy="164592"/>
          </a:xfrm>
          <a:prstGeom prst="rect">
            <a:avLst/>
          </a:prstGeom>
          <a:noFill/>
          <a:ln/>
        </p:spPr>
        <p:txBody>
          <a:bodyPr wrap="square" lIns="254" tIns="254" rIns="254" bIns="254" rtlCol="0" anchor="t">
            <a:normAutofit fontScale="92500" lnSpcReduction="10000"/>
          </a:bodyPr>
          <a:lstStyle/>
          <a:p>
            <a:pPr marL="0" indent="0" algn="l">
              <a:buNone/>
            </a:pPr>
            <a:r>
              <a:rPr lang="en-US" sz="1200" dirty="0">
                <a:solidFill>
                  <a:srgbClr val="8AA0B8"/>
                </a:solidFill>
                <a:latin typeface="Aptos Mono" pitchFamily="34" charset="0"/>
                <a:ea typeface="Aptos Mono" pitchFamily="34" charset="-122"/>
                <a:cs typeface="Aptos Mono" pitchFamily="34" charset="-120"/>
              </a:rPr>
              <a:t>•</a:t>
            </a:r>
            <a:endParaRPr lang="en-US" sz="1200" dirty="0"/>
          </a:p>
        </p:txBody>
      </p:sp>
      <p:sp>
        <p:nvSpPr>
          <p:cNvPr id="27" name="Text 14">
            <a:extLst>
              <a:ext uri="{FF2B5EF4-FFF2-40B4-BE49-F238E27FC236}">
                <a16:creationId xmlns:a16="http://schemas.microsoft.com/office/drawing/2014/main" id="{87B43704-ED03-D1BF-D9A7-3E24FE45954F}"/>
              </a:ext>
            </a:extLst>
          </p:cNvPr>
          <p:cNvSpPr/>
          <p:nvPr/>
        </p:nvSpPr>
        <p:spPr>
          <a:xfrm>
            <a:off x="1104835" y="5405126"/>
            <a:ext cx="1591056" cy="201168"/>
          </a:xfrm>
          <a:prstGeom prst="rect">
            <a:avLst/>
          </a:prstGeom>
          <a:noFill/>
          <a:ln/>
        </p:spPr>
        <p:txBody>
          <a:bodyPr wrap="square" lIns="254" tIns="254" rIns="254" bIns="254" rtlCol="0" anchor="t">
            <a:normAutofit/>
          </a:bodyPr>
          <a:lstStyle/>
          <a:p>
            <a:pPr marL="0" indent="0" algn="l">
              <a:buNone/>
            </a:pPr>
            <a:r>
              <a:rPr lang="en-US" sz="1220" b="1" dirty="0">
                <a:solidFill>
                  <a:srgbClr val="FFFFFF"/>
                </a:solidFill>
                <a:latin typeface="Aptos Mono" pitchFamily="34" charset="0"/>
                <a:ea typeface="Aptos Mono" pitchFamily="34" charset="-122"/>
                <a:cs typeface="Aptos Mono" pitchFamily="34" charset="-120"/>
              </a:rPr>
              <a:t>solution.md</a:t>
            </a:r>
            <a:endParaRPr lang="en-US" sz="1220" dirty="0"/>
          </a:p>
        </p:txBody>
      </p:sp>
      <p:sp>
        <p:nvSpPr>
          <p:cNvPr id="28" name="Text 15">
            <a:extLst>
              <a:ext uri="{FF2B5EF4-FFF2-40B4-BE49-F238E27FC236}">
                <a16:creationId xmlns:a16="http://schemas.microsoft.com/office/drawing/2014/main" id="{45960EF5-0887-D651-457C-3AE82DFA1E83}"/>
              </a:ext>
            </a:extLst>
          </p:cNvPr>
          <p:cNvSpPr/>
          <p:nvPr/>
        </p:nvSpPr>
        <p:spPr>
          <a:xfrm>
            <a:off x="2814763" y="5405126"/>
            <a:ext cx="2514600" cy="201168"/>
          </a:xfrm>
          <a:prstGeom prst="rect">
            <a:avLst/>
          </a:prstGeom>
          <a:noFill/>
          <a:ln/>
        </p:spPr>
        <p:txBody>
          <a:bodyPr wrap="square" lIns="254" tIns="254" rIns="254" bIns="254" rtlCol="0" anchor="t">
            <a:normAutofit fontScale="77500" lnSpcReduction="20000"/>
          </a:bodyPr>
          <a:lstStyle/>
          <a:p>
            <a:pPr marL="0" indent="0" algn="l">
              <a:buNone/>
            </a:pPr>
            <a:r>
              <a:rPr lang="en-US" sz="1020" dirty="0">
                <a:solidFill>
                  <a:srgbClr val="D8E1EC"/>
                </a:solidFill>
                <a:latin typeface="Aptos" pitchFamily="34" charset="0"/>
                <a:ea typeface="Aptos" pitchFamily="34" charset="-122"/>
                <a:cs typeface="Aptos" pitchFamily="34" charset="-120"/>
              </a:rPr>
              <a:t>Proposal, assumptions, decisions and validation gaps</a:t>
            </a:r>
            <a:endParaRPr lang="en-US" sz="1020" dirty="0"/>
          </a:p>
        </p:txBody>
      </p:sp>
      <p:sp>
        <p:nvSpPr>
          <p:cNvPr id="29" name="Shape 16">
            <a:extLst>
              <a:ext uri="{FF2B5EF4-FFF2-40B4-BE49-F238E27FC236}">
                <a16:creationId xmlns:a16="http://schemas.microsoft.com/office/drawing/2014/main" id="{B6B4585E-C1C7-CA58-2DD8-D40EFA948954}"/>
              </a:ext>
            </a:extLst>
          </p:cNvPr>
          <p:cNvSpPr/>
          <p:nvPr/>
        </p:nvSpPr>
        <p:spPr>
          <a:xfrm>
            <a:off x="848802" y="5844037"/>
            <a:ext cx="5703071" cy="1"/>
          </a:xfrm>
          <a:prstGeom prst="line">
            <a:avLst/>
          </a:prstGeom>
          <a:noFill/>
          <a:ln w="8890">
            <a:solidFill>
              <a:srgbClr val="353D4A"/>
            </a:solidFill>
            <a:prstDash val="solid"/>
          </a:ln>
        </p:spPr>
        <p:txBody>
          <a:bodyPr/>
          <a:lstStyle/>
          <a:p>
            <a:endParaRPr lang="it-IT"/>
          </a:p>
        </p:txBody>
      </p:sp>
      <p:sp>
        <p:nvSpPr>
          <p:cNvPr id="30" name="Text 17">
            <a:extLst>
              <a:ext uri="{FF2B5EF4-FFF2-40B4-BE49-F238E27FC236}">
                <a16:creationId xmlns:a16="http://schemas.microsoft.com/office/drawing/2014/main" id="{67A81441-AFE0-B7AA-ED0F-3F1419CE2D0D}"/>
              </a:ext>
            </a:extLst>
          </p:cNvPr>
          <p:cNvSpPr/>
          <p:nvPr/>
        </p:nvSpPr>
        <p:spPr>
          <a:xfrm>
            <a:off x="894523" y="6173222"/>
            <a:ext cx="128016" cy="164592"/>
          </a:xfrm>
          <a:prstGeom prst="rect">
            <a:avLst/>
          </a:prstGeom>
          <a:noFill/>
          <a:ln/>
        </p:spPr>
        <p:txBody>
          <a:bodyPr wrap="square" lIns="254" tIns="254" rIns="254" bIns="254" rtlCol="0" anchor="t">
            <a:normAutofit fontScale="92500" lnSpcReduction="10000"/>
          </a:bodyPr>
          <a:lstStyle/>
          <a:p>
            <a:pPr marL="0" indent="0" algn="l">
              <a:buNone/>
            </a:pPr>
            <a:endParaRPr lang="en-US" sz="1200" dirty="0"/>
          </a:p>
        </p:txBody>
      </p:sp>
      <p:sp>
        <p:nvSpPr>
          <p:cNvPr id="35" name="CasellaDiTesto 34">
            <a:extLst>
              <a:ext uri="{FF2B5EF4-FFF2-40B4-BE49-F238E27FC236}">
                <a16:creationId xmlns:a16="http://schemas.microsoft.com/office/drawing/2014/main" id="{9C274747-BDD1-55C0-176D-CB097797AA4A}"/>
              </a:ext>
            </a:extLst>
          </p:cNvPr>
          <p:cNvSpPr txBox="1"/>
          <p:nvPr/>
        </p:nvSpPr>
        <p:spPr>
          <a:xfrm>
            <a:off x="7223762" y="3822976"/>
            <a:ext cx="4597841" cy="1600438"/>
          </a:xfrm>
          <a:prstGeom prst="rect">
            <a:avLst/>
          </a:prstGeom>
          <a:noFill/>
        </p:spPr>
        <p:txBody>
          <a:bodyPr wrap="square" rtlCol="0">
            <a:spAutoFit/>
          </a:bodyPr>
          <a:lstStyle/>
          <a:p>
            <a:r>
              <a:rPr lang="it-IT" sz="1400" b="1" dirty="0" err="1"/>
              <a:t>Example</a:t>
            </a:r>
            <a:r>
              <a:rPr lang="it-IT" sz="1400" b="1" dirty="0"/>
              <a:t> of </a:t>
            </a:r>
            <a:r>
              <a:rPr lang="it-IT" sz="1400" b="1" dirty="0" err="1"/>
              <a:t>usage</a:t>
            </a:r>
            <a:r>
              <a:rPr lang="it-IT" sz="1400" b="1" dirty="0"/>
              <a:t>:</a:t>
            </a:r>
          </a:p>
          <a:p>
            <a:pPr marL="285750" indent="-285750">
              <a:buFont typeface="Arial" panose="020B0604020202020204" pitchFamily="34" charset="0"/>
              <a:buChar char="•"/>
            </a:pPr>
            <a:r>
              <a:rPr lang="it-IT" sz="1400" b="1" dirty="0" err="1"/>
              <a:t>Accepted</a:t>
            </a:r>
            <a:r>
              <a:rPr lang="it-IT" sz="1400" b="1" dirty="0"/>
              <a:t> </a:t>
            </a:r>
            <a:r>
              <a:rPr lang="it-IT" sz="1400" b="1" dirty="0" err="1"/>
              <a:t>suggestions</a:t>
            </a:r>
            <a:r>
              <a:rPr lang="it-IT" sz="1400" b="1" dirty="0"/>
              <a:t>: </a:t>
            </a:r>
            <a:r>
              <a:rPr lang="it-IT" sz="1400" dirty="0" err="1"/>
              <a:t>Transactional</a:t>
            </a:r>
            <a:r>
              <a:rPr lang="it-IT" sz="1400" dirty="0"/>
              <a:t> </a:t>
            </a:r>
            <a:r>
              <a:rPr lang="it-IT" sz="1400" dirty="0" err="1"/>
              <a:t>outbox</a:t>
            </a:r>
            <a:r>
              <a:rPr lang="it-IT" sz="1400" dirty="0"/>
              <a:t> pattern, </a:t>
            </a:r>
            <a:r>
              <a:rPr lang="it-IT" sz="1400" dirty="0" err="1"/>
              <a:t>managed</a:t>
            </a:r>
            <a:r>
              <a:rPr lang="it-IT" sz="1400" dirty="0"/>
              <a:t> orchestrator.</a:t>
            </a:r>
            <a:endParaRPr lang="it-IT" sz="1400" b="1" dirty="0"/>
          </a:p>
          <a:p>
            <a:pPr marL="285750" indent="-285750">
              <a:buFont typeface="Arial" panose="020B0604020202020204" pitchFamily="34" charset="0"/>
              <a:buChar char="•"/>
            </a:pPr>
            <a:r>
              <a:rPr lang="it-IT" sz="1400" b="1" dirty="0" err="1"/>
              <a:t>Delegated</a:t>
            </a:r>
            <a:r>
              <a:rPr lang="it-IT" sz="1400" b="1" dirty="0"/>
              <a:t>: </a:t>
            </a:r>
            <a:r>
              <a:rPr lang="it-IT" sz="1400" dirty="0"/>
              <a:t>Review of </a:t>
            </a:r>
            <a:r>
              <a:rPr lang="it-IT" sz="1400" dirty="0" err="1"/>
              <a:t>alternativesm</a:t>
            </a:r>
            <a:r>
              <a:rPr lang="it-IT" sz="1400" dirty="0"/>
              <a:t> </a:t>
            </a:r>
            <a:r>
              <a:rPr lang="it-IT" sz="1400" dirty="0" err="1"/>
              <a:t>drafting</a:t>
            </a:r>
            <a:r>
              <a:rPr lang="it-IT" sz="1400" dirty="0"/>
              <a:t> and cost </a:t>
            </a:r>
            <a:r>
              <a:rPr lang="it-IT" sz="1400" dirty="0" err="1"/>
              <a:t>verification</a:t>
            </a:r>
            <a:r>
              <a:rPr lang="it-IT" sz="1400" dirty="0"/>
              <a:t>.</a:t>
            </a:r>
          </a:p>
          <a:p>
            <a:pPr marL="285750" indent="-285750">
              <a:buFont typeface="Arial" panose="020B0604020202020204" pitchFamily="34" charset="0"/>
              <a:buChar char="•"/>
            </a:pPr>
            <a:r>
              <a:rPr lang="it-IT" sz="1400" b="1" dirty="0" err="1"/>
              <a:t>Deferred</a:t>
            </a:r>
            <a:r>
              <a:rPr lang="it-IT" sz="1400" b="1" dirty="0"/>
              <a:t>/</a:t>
            </a:r>
            <a:r>
              <a:rPr lang="it-IT" sz="1400" b="1" dirty="0" err="1"/>
              <a:t>Rejected</a:t>
            </a:r>
            <a:r>
              <a:rPr lang="it-IT" sz="1400" dirty="0"/>
              <a:t>: GPU self-hosting </a:t>
            </a:r>
            <a:r>
              <a:rPr lang="it-IT" sz="1400" dirty="0" err="1"/>
              <a:t>since</a:t>
            </a:r>
            <a:r>
              <a:rPr lang="it-IT" sz="1400" dirty="0"/>
              <a:t> </a:t>
            </a:r>
            <a:r>
              <a:rPr lang="it-IT" sz="1400" dirty="0" err="1"/>
              <a:t>launch</a:t>
            </a:r>
            <a:r>
              <a:rPr lang="it-IT" sz="1400" dirty="0"/>
              <a:t>, </a:t>
            </a:r>
            <a:r>
              <a:rPr lang="it-IT" sz="1400" dirty="0" err="1"/>
              <a:t>Redis</a:t>
            </a:r>
            <a:r>
              <a:rPr lang="it-IT" sz="1400" dirty="0"/>
              <a:t> cache and </a:t>
            </a:r>
            <a:r>
              <a:rPr lang="it-IT" sz="1400" dirty="0" err="1"/>
              <a:t>complex</a:t>
            </a:r>
            <a:r>
              <a:rPr lang="it-IT" sz="1400" dirty="0"/>
              <a:t> custom </a:t>
            </a:r>
            <a:r>
              <a:rPr lang="it-IT" sz="1400" dirty="0" err="1"/>
              <a:t>orchestration</a:t>
            </a:r>
            <a:r>
              <a:rPr lang="it-IT" sz="1400"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Network and platform view</a:t>
            </a:r>
            <a:endParaRPr lang="en-US" sz="2750" dirty="0"/>
          </a:p>
        </p:txBody>
      </p:sp>
      <p:sp>
        <p:nvSpPr>
          <p:cNvPr id="5" name="Shape 3"/>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7" name="Text 5"/>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Backup A</a:t>
            </a:r>
            <a:endParaRPr lang="en-US" sz="850" dirty="0"/>
          </a:p>
        </p:txBody>
      </p:sp>
      <p:sp>
        <p:nvSpPr>
          <p:cNvPr id="52" name="Text 0">
            <a:extLst>
              <a:ext uri="{FF2B5EF4-FFF2-40B4-BE49-F238E27FC236}">
                <a16:creationId xmlns:a16="http://schemas.microsoft.com/office/drawing/2014/main" id="{D68438AB-5A4E-BF2F-B413-174DB5EF9D23}"/>
              </a:ext>
            </a:extLst>
          </p:cNvPr>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0B63E5"/>
                </a:solidFill>
                <a:latin typeface="Aptos" pitchFamily="34" charset="0"/>
                <a:ea typeface="Aptos" pitchFamily="34" charset="-122"/>
                <a:cs typeface="Aptos" pitchFamily="34" charset="-120"/>
              </a:rPr>
              <a:t>MERIDIAN TELECOM</a:t>
            </a:r>
            <a:endParaRPr lang="en-US" sz="780" dirty="0"/>
          </a:p>
        </p:txBody>
      </p:sp>
      <p:grpSp>
        <p:nvGrpSpPr>
          <p:cNvPr id="66" name="Gruppo 65">
            <a:extLst>
              <a:ext uri="{FF2B5EF4-FFF2-40B4-BE49-F238E27FC236}">
                <a16:creationId xmlns:a16="http://schemas.microsoft.com/office/drawing/2014/main" id="{0532794F-2E1A-19ED-31C0-9D3FD2144629}"/>
              </a:ext>
            </a:extLst>
          </p:cNvPr>
          <p:cNvGrpSpPr/>
          <p:nvPr/>
        </p:nvGrpSpPr>
        <p:grpSpPr>
          <a:xfrm>
            <a:off x="502920" y="1579331"/>
            <a:ext cx="11155680" cy="4876333"/>
            <a:chOff x="502920" y="1579331"/>
            <a:chExt cx="11155680" cy="4876333"/>
          </a:xfrm>
        </p:grpSpPr>
        <p:sp>
          <p:nvSpPr>
            <p:cNvPr id="6" name="Shape 4"/>
            <p:cNvSpPr/>
            <p:nvPr/>
          </p:nvSpPr>
          <p:spPr>
            <a:xfrm>
              <a:off x="502920" y="6455664"/>
              <a:ext cx="11155680" cy="0"/>
            </a:xfrm>
            <a:prstGeom prst="line">
              <a:avLst/>
            </a:prstGeom>
            <a:noFill/>
            <a:ln w="10160">
              <a:solidFill>
                <a:srgbClr val="E1E7F0"/>
              </a:solidFill>
              <a:prstDash val="solid"/>
            </a:ln>
          </p:spPr>
          <p:txBody>
            <a:bodyPr/>
            <a:lstStyle/>
            <a:p>
              <a:endParaRPr lang="it-IT"/>
            </a:p>
          </p:txBody>
        </p:sp>
        <p:pic>
          <p:nvPicPr>
            <p:cNvPr id="54" name="Immagine 53">
              <a:extLst>
                <a:ext uri="{FF2B5EF4-FFF2-40B4-BE49-F238E27FC236}">
                  <a16:creationId xmlns:a16="http://schemas.microsoft.com/office/drawing/2014/main" id="{4A5CBB3B-7478-F208-F7CC-6CCB378E1783}"/>
                </a:ext>
              </a:extLst>
            </p:cNvPr>
            <p:cNvPicPr>
              <a:picLocks noChangeAspect="1"/>
            </p:cNvPicPr>
            <p:nvPr/>
          </p:nvPicPr>
          <p:blipFill>
            <a:blip r:embed="rId3"/>
            <a:srcRect t="12900" b="21269"/>
            <a:stretch>
              <a:fillRect/>
            </a:stretch>
          </p:blipFill>
          <p:spPr>
            <a:xfrm>
              <a:off x="769618" y="1579331"/>
              <a:ext cx="10054289" cy="4412571"/>
            </a:xfrm>
            <a:prstGeom prst="rect">
              <a:avLst/>
            </a:prstGeom>
          </p:spPr>
        </p:pic>
        <p:pic>
          <p:nvPicPr>
            <p:cNvPr id="56" name="Immagine 55">
              <a:extLst>
                <a:ext uri="{FF2B5EF4-FFF2-40B4-BE49-F238E27FC236}">
                  <a16:creationId xmlns:a16="http://schemas.microsoft.com/office/drawing/2014/main" id="{E7B3888B-5678-E7F5-EAA8-8495934EFF41}"/>
                </a:ext>
              </a:extLst>
            </p:cNvPr>
            <p:cNvPicPr>
              <a:picLocks noChangeAspect="1"/>
            </p:cNvPicPr>
            <p:nvPr/>
          </p:nvPicPr>
          <p:blipFill>
            <a:blip r:embed="rId4"/>
            <a:stretch>
              <a:fillRect/>
            </a:stretch>
          </p:blipFill>
          <p:spPr>
            <a:xfrm>
              <a:off x="4392157" y="1706153"/>
              <a:ext cx="497895" cy="179962"/>
            </a:xfrm>
            <a:prstGeom prst="rect">
              <a:avLst/>
            </a:prstGeom>
          </p:spPr>
        </p:pic>
        <p:pic>
          <p:nvPicPr>
            <p:cNvPr id="57" name="Immagine 56">
              <a:extLst>
                <a:ext uri="{FF2B5EF4-FFF2-40B4-BE49-F238E27FC236}">
                  <a16:creationId xmlns:a16="http://schemas.microsoft.com/office/drawing/2014/main" id="{63DD3D3A-2520-6DD1-69A4-B9BE52D47E3F}"/>
                </a:ext>
              </a:extLst>
            </p:cNvPr>
            <p:cNvPicPr>
              <a:picLocks noChangeAspect="1"/>
            </p:cNvPicPr>
            <p:nvPr/>
          </p:nvPicPr>
          <p:blipFill>
            <a:blip r:embed="rId4"/>
            <a:stretch>
              <a:fillRect/>
            </a:stretch>
          </p:blipFill>
          <p:spPr>
            <a:xfrm>
              <a:off x="2539972" y="1886115"/>
              <a:ext cx="497895" cy="179962"/>
            </a:xfrm>
            <a:prstGeom prst="rect">
              <a:avLst/>
            </a:prstGeom>
          </p:spPr>
        </p:pic>
        <p:pic>
          <p:nvPicPr>
            <p:cNvPr id="59" name="Immagine 58">
              <a:extLst>
                <a:ext uri="{FF2B5EF4-FFF2-40B4-BE49-F238E27FC236}">
                  <a16:creationId xmlns:a16="http://schemas.microsoft.com/office/drawing/2014/main" id="{2DC8D447-E6D4-60D4-5734-F3DA7820BB1E}"/>
                </a:ext>
              </a:extLst>
            </p:cNvPr>
            <p:cNvPicPr>
              <a:picLocks noChangeAspect="1"/>
            </p:cNvPicPr>
            <p:nvPr/>
          </p:nvPicPr>
          <p:blipFill>
            <a:blip r:embed="rId5"/>
            <a:stretch>
              <a:fillRect/>
            </a:stretch>
          </p:blipFill>
          <p:spPr>
            <a:xfrm>
              <a:off x="2710704" y="1886115"/>
              <a:ext cx="3860800" cy="179963"/>
            </a:xfrm>
            <a:prstGeom prst="rect">
              <a:avLst/>
            </a:prstGeom>
          </p:spPr>
        </p:pic>
        <p:pic>
          <p:nvPicPr>
            <p:cNvPr id="60" name="Immagine 59">
              <a:extLst>
                <a:ext uri="{FF2B5EF4-FFF2-40B4-BE49-F238E27FC236}">
                  <a16:creationId xmlns:a16="http://schemas.microsoft.com/office/drawing/2014/main" id="{B905A259-E81D-8A71-1888-6981ED2716C4}"/>
                </a:ext>
              </a:extLst>
            </p:cNvPr>
            <p:cNvPicPr>
              <a:picLocks noChangeAspect="1"/>
            </p:cNvPicPr>
            <p:nvPr/>
          </p:nvPicPr>
          <p:blipFill>
            <a:blip r:embed="rId4"/>
            <a:stretch>
              <a:fillRect/>
            </a:stretch>
          </p:blipFill>
          <p:spPr>
            <a:xfrm>
              <a:off x="4544557" y="1858553"/>
              <a:ext cx="497895" cy="179962"/>
            </a:xfrm>
            <a:prstGeom prst="rect">
              <a:avLst/>
            </a:prstGeom>
          </p:spPr>
        </p:pic>
        <p:pic>
          <p:nvPicPr>
            <p:cNvPr id="61" name="Immagine 60">
              <a:extLst>
                <a:ext uri="{FF2B5EF4-FFF2-40B4-BE49-F238E27FC236}">
                  <a16:creationId xmlns:a16="http://schemas.microsoft.com/office/drawing/2014/main" id="{CE8375B3-5F55-1055-3C94-B6121D5DCF1E}"/>
                </a:ext>
              </a:extLst>
            </p:cNvPr>
            <p:cNvPicPr>
              <a:picLocks noChangeAspect="1"/>
            </p:cNvPicPr>
            <p:nvPr/>
          </p:nvPicPr>
          <p:blipFill>
            <a:blip r:embed="rId5"/>
            <a:stretch>
              <a:fillRect/>
            </a:stretch>
          </p:blipFill>
          <p:spPr>
            <a:xfrm>
              <a:off x="3265472" y="1732126"/>
              <a:ext cx="3860800" cy="179963"/>
            </a:xfrm>
            <a:prstGeom prst="rect">
              <a:avLst/>
            </a:prstGeom>
          </p:spPr>
        </p:pic>
        <p:pic>
          <p:nvPicPr>
            <p:cNvPr id="63" name="Immagine 62">
              <a:extLst>
                <a:ext uri="{FF2B5EF4-FFF2-40B4-BE49-F238E27FC236}">
                  <a16:creationId xmlns:a16="http://schemas.microsoft.com/office/drawing/2014/main" id="{F99B4A8F-0D9A-4E93-D0EF-76E9ADBFBFB4}"/>
                </a:ext>
              </a:extLst>
            </p:cNvPr>
            <p:cNvPicPr>
              <a:picLocks noChangeAspect="1"/>
            </p:cNvPicPr>
            <p:nvPr/>
          </p:nvPicPr>
          <p:blipFill>
            <a:blip r:embed="rId6"/>
            <a:stretch>
              <a:fillRect/>
            </a:stretch>
          </p:blipFill>
          <p:spPr>
            <a:xfrm>
              <a:off x="7402113" y="2349501"/>
              <a:ext cx="636656" cy="330200"/>
            </a:xfrm>
            <a:prstGeom prst="rect">
              <a:avLst/>
            </a:prstGeom>
          </p:spPr>
        </p:pic>
        <p:pic>
          <p:nvPicPr>
            <p:cNvPr id="65" name="Immagine 64">
              <a:extLst>
                <a:ext uri="{FF2B5EF4-FFF2-40B4-BE49-F238E27FC236}">
                  <a16:creationId xmlns:a16="http://schemas.microsoft.com/office/drawing/2014/main" id="{8B0FF653-1AF9-5382-CF03-94599EA88EFC}"/>
                </a:ext>
              </a:extLst>
            </p:cNvPr>
            <p:cNvPicPr>
              <a:picLocks noChangeAspect="1"/>
            </p:cNvPicPr>
            <p:nvPr/>
          </p:nvPicPr>
          <p:blipFill>
            <a:blip r:embed="rId7"/>
            <a:stretch>
              <a:fillRect/>
            </a:stretch>
          </p:blipFill>
          <p:spPr>
            <a:xfrm>
              <a:off x="2639502" y="2158645"/>
              <a:ext cx="2667000" cy="266700"/>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11551" b="2986"/>
          <a:stretch>
            <a:fillRect/>
          </a:stretch>
        </p:blipFill>
        <p:spPr>
          <a:xfrm>
            <a:off x="0" y="421307"/>
            <a:ext cx="12192000" cy="58122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F28A00"/>
                </a:solidFill>
                <a:latin typeface="Aptos" pitchFamily="34" charset="0"/>
                <a:ea typeface="Aptos" pitchFamily="34" charset="-122"/>
                <a:cs typeface="Aptos" pitchFamily="34" charset="-120"/>
              </a:rPr>
              <a:t>BACKUP</a:t>
            </a:r>
            <a:endParaRPr lang="en-US" sz="780" dirty="0"/>
          </a:p>
        </p:txBody>
      </p:sp>
      <p:sp>
        <p:nvSpPr>
          <p:cNvPr id="3" name="Text 1"/>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State, outbox and orchestration alternatives</a:t>
            </a:r>
            <a:endParaRPr lang="en-US" sz="2750" dirty="0"/>
          </a:p>
        </p:txBody>
      </p:sp>
      <p:sp>
        <p:nvSpPr>
          <p:cNvPr id="4" name="Text 2"/>
          <p:cNvSpPr/>
          <p:nvPr/>
        </p:nvSpPr>
        <p:spPr>
          <a:xfrm>
            <a:off x="530352" y="896112"/>
            <a:ext cx="10789920" cy="210312"/>
          </a:xfrm>
          <a:prstGeom prst="rect">
            <a:avLst/>
          </a:prstGeom>
          <a:noFill/>
          <a:ln/>
        </p:spPr>
        <p:txBody>
          <a:bodyPr wrap="square" lIns="0" tIns="0" rIns="0" bIns="0" rtlCol="0" anchor="ctr"/>
          <a:lstStyle/>
          <a:p>
            <a:pPr marL="0" indent="0">
              <a:buNone/>
            </a:pPr>
            <a:r>
              <a:rPr lang="en-US" sz="1050" dirty="0">
                <a:solidFill>
                  <a:srgbClr val="5B6475"/>
                </a:solidFill>
              </a:rPr>
              <a:t>Backup B — deeper discussion</a:t>
            </a:r>
            <a:endParaRPr lang="en-US" sz="1050" dirty="0"/>
          </a:p>
        </p:txBody>
      </p:sp>
      <p:sp>
        <p:nvSpPr>
          <p:cNvPr id="5" name="Shape 3"/>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6" name="Shape 4"/>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7" name="Text 5"/>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Backup B</a:t>
            </a:r>
            <a:endParaRPr lang="en-US" sz="850" dirty="0"/>
          </a:p>
        </p:txBody>
      </p:sp>
      <p:sp>
        <p:nvSpPr>
          <p:cNvPr id="8" name="Text 6"/>
          <p:cNvSpPr/>
          <p:nvPr/>
        </p:nvSpPr>
        <p:spPr>
          <a:xfrm>
            <a:off x="7818120" y="6519672"/>
            <a:ext cx="3840480" cy="201168"/>
          </a:xfrm>
          <a:prstGeom prst="rect">
            <a:avLst/>
          </a:prstGeom>
          <a:noFill/>
          <a:ln/>
        </p:spPr>
        <p:txBody>
          <a:bodyPr wrap="square" lIns="0" tIns="0" rIns="0" bIns="0" rtlCol="0" anchor="ctr"/>
          <a:lstStyle/>
          <a:p>
            <a:pPr marL="0" indent="0" algn="r">
              <a:buNone/>
            </a:pPr>
            <a:r>
              <a:rPr lang="en-US" sz="850" dirty="0">
                <a:solidFill>
                  <a:srgbClr val="7B8497"/>
                </a:solidFill>
              </a:rPr>
              <a:t>Durable journeys. Connected experiences.</a:t>
            </a:r>
            <a:endParaRPr lang="en-US" sz="850" dirty="0"/>
          </a:p>
        </p:txBody>
      </p:sp>
      <p:sp>
        <p:nvSpPr>
          <p:cNvPr id="9" name="Shape 7"/>
          <p:cNvSpPr/>
          <p:nvPr/>
        </p:nvSpPr>
        <p:spPr>
          <a:xfrm>
            <a:off x="777240" y="1417320"/>
            <a:ext cx="2971800" cy="3456432"/>
          </a:xfrm>
          <a:prstGeom prst="roundRect">
            <a:avLst>
              <a:gd name="adj" fmla="val 2462"/>
            </a:avLst>
          </a:prstGeom>
          <a:solidFill>
            <a:srgbClr val="EAF5FF"/>
          </a:solidFill>
          <a:ln w="13970">
            <a:solidFill>
              <a:srgbClr val="0B63E5"/>
            </a:solidFill>
            <a:prstDash val="solid"/>
          </a:ln>
        </p:spPr>
        <p:txBody>
          <a:bodyPr/>
          <a:lstStyle/>
          <a:p>
            <a:endParaRPr lang="it-IT"/>
          </a:p>
        </p:txBody>
      </p:sp>
      <p:sp>
        <p:nvSpPr>
          <p:cNvPr id="10" name="Text 8"/>
          <p:cNvSpPr/>
          <p:nvPr/>
        </p:nvSpPr>
        <p:spPr>
          <a:xfrm>
            <a:off x="886968" y="1508760"/>
            <a:ext cx="2752344" cy="228600"/>
          </a:xfrm>
          <a:prstGeom prst="rect">
            <a:avLst/>
          </a:prstGeom>
          <a:noFill/>
          <a:ln/>
        </p:spPr>
        <p:txBody>
          <a:bodyPr wrap="square" lIns="0" tIns="0" rIns="0" bIns="0" rtlCol="0" anchor="ctr">
            <a:normAutofit/>
          </a:bodyPr>
          <a:lstStyle/>
          <a:p>
            <a:pPr marL="0" indent="0" algn="ctr">
              <a:buNone/>
            </a:pPr>
            <a:r>
              <a:rPr lang="en-US" sz="1400" b="1" dirty="0">
                <a:solidFill>
                  <a:srgbClr val="07133D"/>
                </a:solidFill>
              </a:rPr>
              <a:t>State ownership</a:t>
            </a:r>
            <a:endParaRPr lang="en-US" sz="1400" dirty="0"/>
          </a:p>
        </p:txBody>
      </p:sp>
      <p:sp>
        <p:nvSpPr>
          <p:cNvPr id="11" name="Text 9"/>
          <p:cNvSpPr/>
          <p:nvPr/>
        </p:nvSpPr>
        <p:spPr>
          <a:xfrm>
            <a:off x="905256" y="1801368"/>
            <a:ext cx="2715768" cy="2980944"/>
          </a:xfrm>
          <a:prstGeom prst="rect">
            <a:avLst/>
          </a:prstGeom>
          <a:noFill/>
          <a:ln/>
        </p:spPr>
        <p:txBody>
          <a:bodyPr wrap="square" lIns="254" tIns="254" rIns="254" bIns="254" rtlCol="0" anchor="ctr">
            <a:normAutofit/>
          </a:bodyPr>
          <a:lstStyle/>
          <a:p>
            <a:pPr marL="0" indent="0" algn="l">
              <a:buNone/>
            </a:pPr>
            <a:r>
              <a:rPr lang="en-US" sz="1040" dirty="0">
                <a:solidFill>
                  <a:srgbClr val="5B6475"/>
                </a:solidFill>
              </a:rPr>
              <a:t>Step Functions owns execution position, waits and timers. PostgreSQL owns conversation, business facts, operation records and status summary. Providers provide evidence of external effects.</a:t>
            </a:r>
            <a:endParaRPr lang="en-US" sz="1040" dirty="0"/>
          </a:p>
        </p:txBody>
      </p:sp>
      <p:sp>
        <p:nvSpPr>
          <p:cNvPr id="12" name="Shape 10"/>
          <p:cNvSpPr/>
          <p:nvPr/>
        </p:nvSpPr>
        <p:spPr>
          <a:xfrm>
            <a:off x="4279392" y="1417320"/>
            <a:ext cx="2971800" cy="3456432"/>
          </a:xfrm>
          <a:prstGeom prst="roundRect">
            <a:avLst>
              <a:gd name="adj" fmla="val 2462"/>
            </a:avLst>
          </a:prstGeom>
          <a:solidFill>
            <a:srgbClr val="E8F7EE"/>
          </a:solidFill>
          <a:ln w="13970">
            <a:solidFill>
              <a:srgbClr val="0B9F63"/>
            </a:solidFill>
            <a:prstDash val="solid"/>
          </a:ln>
        </p:spPr>
        <p:txBody>
          <a:bodyPr/>
          <a:lstStyle/>
          <a:p>
            <a:endParaRPr lang="it-IT"/>
          </a:p>
        </p:txBody>
      </p:sp>
      <p:sp>
        <p:nvSpPr>
          <p:cNvPr id="13" name="Text 11"/>
          <p:cNvSpPr/>
          <p:nvPr/>
        </p:nvSpPr>
        <p:spPr>
          <a:xfrm>
            <a:off x="4389120" y="1508760"/>
            <a:ext cx="2752344" cy="228600"/>
          </a:xfrm>
          <a:prstGeom prst="rect">
            <a:avLst/>
          </a:prstGeom>
          <a:noFill/>
          <a:ln/>
        </p:spPr>
        <p:txBody>
          <a:bodyPr wrap="square" lIns="0" tIns="0" rIns="0" bIns="0" rtlCol="0" anchor="ctr">
            <a:normAutofit/>
          </a:bodyPr>
          <a:lstStyle/>
          <a:p>
            <a:pPr marL="0" indent="0" algn="ctr">
              <a:buNone/>
            </a:pPr>
            <a:r>
              <a:rPr lang="en-US" sz="1400" b="1" dirty="0">
                <a:solidFill>
                  <a:srgbClr val="07133D"/>
                </a:solidFill>
              </a:rPr>
              <a:t>Transactional outbox</a:t>
            </a:r>
            <a:endParaRPr lang="en-US" sz="1400" dirty="0"/>
          </a:p>
        </p:txBody>
      </p:sp>
      <p:sp>
        <p:nvSpPr>
          <p:cNvPr id="14" name="Text 12"/>
          <p:cNvSpPr/>
          <p:nvPr/>
        </p:nvSpPr>
        <p:spPr>
          <a:xfrm>
            <a:off x="4407408" y="1801368"/>
            <a:ext cx="2715768" cy="2980944"/>
          </a:xfrm>
          <a:prstGeom prst="rect">
            <a:avLst/>
          </a:prstGeom>
          <a:noFill/>
          <a:ln/>
        </p:spPr>
        <p:txBody>
          <a:bodyPr wrap="square" lIns="254" tIns="254" rIns="254" bIns="254" rtlCol="0" anchor="ctr">
            <a:normAutofit/>
          </a:bodyPr>
          <a:lstStyle/>
          <a:p>
            <a:pPr marL="0" indent="0" algn="l">
              <a:buNone/>
            </a:pPr>
            <a:r>
              <a:rPr lang="en-US" sz="1040" dirty="0">
                <a:solidFill>
                  <a:srgbClr val="5B6475"/>
                </a:solidFill>
              </a:rPr>
              <a:t>API writes accepted work and outgoing request in one transaction. Dispatcher delivers starts, callbacks, jobs and notifications. Duplicate delivery remains possible, so stable IDs and idempotency are required.</a:t>
            </a:r>
            <a:endParaRPr lang="en-US" sz="1040" dirty="0"/>
          </a:p>
        </p:txBody>
      </p:sp>
      <p:sp>
        <p:nvSpPr>
          <p:cNvPr id="15" name="Shape 13"/>
          <p:cNvSpPr/>
          <p:nvPr/>
        </p:nvSpPr>
        <p:spPr>
          <a:xfrm>
            <a:off x="7772400" y="1417320"/>
            <a:ext cx="2971800" cy="3456432"/>
          </a:xfrm>
          <a:prstGeom prst="roundRect">
            <a:avLst>
              <a:gd name="adj" fmla="val 2462"/>
            </a:avLst>
          </a:prstGeom>
          <a:solidFill>
            <a:srgbClr val="FFF4E4"/>
          </a:solidFill>
          <a:ln w="13970">
            <a:solidFill>
              <a:srgbClr val="F28A00"/>
            </a:solidFill>
            <a:prstDash val="solid"/>
          </a:ln>
        </p:spPr>
        <p:txBody>
          <a:bodyPr/>
          <a:lstStyle/>
          <a:p>
            <a:endParaRPr lang="it-IT"/>
          </a:p>
        </p:txBody>
      </p:sp>
      <p:sp>
        <p:nvSpPr>
          <p:cNvPr id="16" name="Text 14"/>
          <p:cNvSpPr/>
          <p:nvPr/>
        </p:nvSpPr>
        <p:spPr>
          <a:xfrm>
            <a:off x="7882128" y="1508760"/>
            <a:ext cx="2752344" cy="228600"/>
          </a:xfrm>
          <a:prstGeom prst="rect">
            <a:avLst/>
          </a:prstGeom>
          <a:noFill/>
          <a:ln/>
        </p:spPr>
        <p:txBody>
          <a:bodyPr wrap="square" lIns="0" tIns="0" rIns="0" bIns="0" rtlCol="0" anchor="ctr">
            <a:normAutofit/>
          </a:bodyPr>
          <a:lstStyle/>
          <a:p>
            <a:pPr marL="0" indent="0" algn="ctr">
              <a:buNone/>
            </a:pPr>
            <a:r>
              <a:rPr lang="en-US" sz="1400" b="1" dirty="0">
                <a:solidFill>
                  <a:srgbClr val="07133D"/>
                </a:solidFill>
              </a:rPr>
              <a:t>When to revisit</a:t>
            </a:r>
            <a:endParaRPr lang="en-US" sz="1400" dirty="0"/>
          </a:p>
        </p:txBody>
      </p:sp>
      <p:sp>
        <p:nvSpPr>
          <p:cNvPr id="17" name="Text 15"/>
          <p:cNvSpPr/>
          <p:nvPr/>
        </p:nvSpPr>
        <p:spPr>
          <a:xfrm>
            <a:off x="7900416" y="1801368"/>
            <a:ext cx="2715768" cy="2980944"/>
          </a:xfrm>
          <a:prstGeom prst="rect">
            <a:avLst/>
          </a:prstGeom>
          <a:noFill/>
          <a:ln/>
        </p:spPr>
        <p:txBody>
          <a:bodyPr wrap="square" lIns="254" tIns="254" rIns="254" bIns="254" rtlCol="0" anchor="ctr">
            <a:normAutofit/>
          </a:bodyPr>
          <a:lstStyle/>
          <a:p>
            <a:pPr marL="0" indent="0" algn="l">
              <a:buNone/>
            </a:pPr>
            <a:r>
              <a:rPr lang="en-US" sz="1040" dirty="0">
                <a:solidFill>
                  <a:srgbClr val="5B6475"/>
                </a:solidFill>
              </a:rPr>
              <a:t>Custom workflow if AWS lock-in or cost dominates. Temporal if stronger workflow programming needs outweigh operation cost. Separate queues/pools if measured priority or contention requires it.</a:t>
            </a:r>
            <a:endParaRPr lang="en-US" sz="1040" dirty="0"/>
          </a:p>
        </p:txBody>
      </p:sp>
      <p:sp>
        <p:nvSpPr>
          <p:cNvPr id="18" name="Shape 16"/>
          <p:cNvSpPr/>
          <p:nvPr/>
        </p:nvSpPr>
        <p:spPr>
          <a:xfrm>
            <a:off x="1051560" y="5193792"/>
            <a:ext cx="3373222" cy="347472"/>
          </a:xfrm>
          <a:prstGeom prst="rect">
            <a:avLst/>
          </a:prstGeom>
          <a:solidFill>
            <a:srgbClr val="07133D"/>
          </a:solidFill>
          <a:ln w="6350">
            <a:solidFill>
              <a:srgbClr val="FFFFFF"/>
            </a:solidFill>
            <a:prstDash val="solid"/>
          </a:ln>
        </p:spPr>
        <p:txBody>
          <a:bodyPr/>
          <a:lstStyle/>
          <a:p>
            <a:endParaRPr lang="it-IT"/>
          </a:p>
        </p:txBody>
      </p:sp>
      <p:sp>
        <p:nvSpPr>
          <p:cNvPr id="19" name="Text 17"/>
          <p:cNvSpPr/>
          <p:nvPr/>
        </p:nvSpPr>
        <p:spPr>
          <a:xfrm>
            <a:off x="1115568" y="5280660"/>
            <a:ext cx="3245206" cy="246888"/>
          </a:xfrm>
          <a:prstGeom prst="rect">
            <a:avLst/>
          </a:prstGeom>
          <a:noFill/>
          <a:ln/>
        </p:spPr>
        <p:txBody>
          <a:bodyPr wrap="square" lIns="254" tIns="254" rIns="254" bIns="254" rtlCol="0" anchor="ctr">
            <a:normAutofit/>
          </a:bodyPr>
          <a:lstStyle/>
          <a:p>
            <a:pPr marL="0" indent="0" algn="l">
              <a:buNone/>
            </a:pPr>
            <a:r>
              <a:rPr lang="en-US" sz="1000" b="1" dirty="0">
                <a:solidFill>
                  <a:srgbClr val="FFFFFF"/>
                </a:solidFill>
                <a:latin typeface="Aptos" pitchFamily="34" charset="0"/>
                <a:ea typeface="Aptos" pitchFamily="34" charset="-122"/>
                <a:cs typeface="Aptos" pitchFamily="34" charset="-120"/>
              </a:rPr>
              <a:t>Risk</a:t>
            </a:r>
            <a:endParaRPr lang="en-US" sz="1000" dirty="0"/>
          </a:p>
        </p:txBody>
      </p:sp>
      <p:sp>
        <p:nvSpPr>
          <p:cNvPr id="20" name="Shape 18"/>
          <p:cNvSpPr/>
          <p:nvPr/>
        </p:nvSpPr>
        <p:spPr>
          <a:xfrm>
            <a:off x="4424782" y="5193792"/>
            <a:ext cx="6548018" cy="347472"/>
          </a:xfrm>
          <a:prstGeom prst="rect">
            <a:avLst/>
          </a:prstGeom>
          <a:solidFill>
            <a:srgbClr val="07133D"/>
          </a:solidFill>
          <a:ln w="6350">
            <a:solidFill>
              <a:srgbClr val="FFFFFF"/>
            </a:solidFill>
            <a:prstDash val="solid"/>
          </a:ln>
        </p:spPr>
        <p:txBody>
          <a:bodyPr/>
          <a:lstStyle/>
          <a:p>
            <a:endParaRPr lang="it-IT"/>
          </a:p>
        </p:txBody>
      </p:sp>
      <p:sp>
        <p:nvSpPr>
          <p:cNvPr id="21" name="Text 19"/>
          <p:cNvSpPr/>
          <p:nvPr/>
        </p:nvSpPr>
        <p:spPr>
          <a:xfrm>
            <a:off x="4488790" y="5280660"/>
            <a:ext cx="6420002" cy="246888"/>
          </a:xfrm>
          <a:prstGeom prst="rect">
            <a:avLst/>
          </a:prstGeom>
          <a:noFill/>
          <a:ln/>
        </p:spPr>
        <p:txBody>
          <a:bodyPr wrap="square" lIns="254" tIns="254" rIns="254" bIns="254" rtlCol="0" anchor="ctr">
            <a:normAutofit/>
          </a:bodyPr>
          <a:lstStyle/>
          <a:p>
            <a:pPr marL="0" indent="0" algn="l">
              <a:buNone/>
            </a:pPr>
            <a:r>
              <a:rPr lang="en-US" sz="1000" b="1" dirty="0">
                <a:solidFill>
                  <a:srgbClr val="FFFFFF"/>
                </a:solidFill>
                <a:latin typeface="Aptos" pitchFamily="34" charset="0"/>
                <a:ea typeface="Aptos" pitchFamily="34" charset="-122"/>
                <a:cs typeface="Aptos" pitchFamily="34" charset="-120"/>
              </a:rPr>
              <a:t>Mitigation</a:t>
            </a:r>
            <a:endParaRPr lang="en-US" sz="1000" dirty="0"/>
          </a:p>
        </p:txBody>
      </p:sp>
      <p:sp>
        <p:nvSpPr>
          <p:cNvPr id="22" name="Shape 20"/>
          <p:cNvSpPr/>
          <p:nvPr/>
        </p:nvSpPr>
        <p:spPr>
          <a:xfrm>
            <a:off x="1051560" y="5541264"/>
            <a:ext cx="3373222" cy="260604"/>
          </a:xfrm>
          <a:prstGeom prst="rect">
            <a:avLst/>
          </a:prstGeom>
          <a:solidFill>
            <a:srgbClr val="FFFFFF"/>
          </a:solidFill>
          <a:ln w="6350">
            <a:solidFill>
              <a:srgbClr val="D9E1EC"/>
            </a:solidFill>
            <a:prstDash val="solid"/>
          </a:ln>
        </p:spPr>
        <p:txBody>
          <a:bodyPr/>
          <a:lstStyle/>
          <a:p>
            <a:endParaRPr lang="it-IT"/>
          </a:p>
        </p:txBody>
      </p:sp>
      <p:sp>
        <p:nvSpPr>
          <p:cNvPr id="23" name="Text 21"/>
          <p:cNvSpPr/>
          <p:nvPr/>
        </p:nvSpPr>
        <p:spPr>
          <a:xfrm>
            <a:off x="1115568" y="5596128"/>
            <a:ext cx="3245206" cy="169164"/>
          </a:xfrm>
          <a:prstGeom prst="rect">
            <a:avLst/>
          </a:prstGeom>
          <a:noFill/>
          <a:ln/>
        </p:spPr>
        <p:txBody>
          <a:bodyPr wrap="square" lIns="254" tIns="254" rIns="254" bIns="254" rtlCol="0" anchor="ctr">
            <a:normAutofit/>
          </a:bodyPr>
          <a:lstStyle/>
          <a:p>
            <a:pPr marL="0" indent="0" algn="l">
              <a:buNone/>
            </a:pPr>
            <a:r>
              <a:rPr lang="en-US" sz="940" b="1" dirty="0">
                <a:solidFill>
                  <a:srgbClr val="07133D"/>
                </a:solidFill>
                <a:latin typeface="Aptos" pitchFamily="34" charset="0"/>
                <a:ea typeface="Aptos" pitchFamily="34" charset="-122"/>
                <a:cs typeface="Aptos" pitchFamily="34" charset="-120"/>
              </a:rPr>
              <a:t>API crash after accepting work</a:t>
            </a:r>
            <a:endParaRPr lang="en-US" sz="940" dirty="0"/>
          </a:p>
        </p:txBody>
      </p:sp>
      <p:sp>
        <p:nvSpPr>
          <p:cNvPr id="24" name="Shape 22"/>
          <p:cNvSpPr/>
          <p:nvPr/>
        </p:nvSpPr>
        <p:spPr>
          <a:xfrm>
            <a:off x="4424782" y="5541264"/>
            <a:ext cx="6548018" cy="260604"/>
          </a:xfrm>
          <a:prstGeom prst="rect">
            <a:avLst/>
          </a:prstGeom>
          <a:solidFill>
            <a:srgbClr val="FFFFFF"/>
          </a:solidFill>
          <a:ln w="6350">
            <a:solidFill>
              <a:srgbClr val="D9E1EC"/>
            </a:solidFill>
            <a:prstDash val="solid"/>
          </a:ln>
        </p:spPr>
        <p:txBody>
          <a:bodyPr/>
          <a:lstStyle/>
          <a:p>
            <a:endParaRPr lang="it-IT"/>
          </a:p>
        </p:txBody>
      </p:sp>
      <p:sp>
        <p:nvSpPr>
          <p:cNvPr id="25" name="Text 23"/>
          <p:cNvSpPr/>
          <p:nvPr/>
        </p:nvSpPr>
        <p:spPr>
          <a:xfrm>
            <a:off x="4488790" y="5596128"/>
            <a:ext cx="6420002" cy="169164"/>
          </a:xfrm>
          <a:prstGeom prst="rect">
            <a:avLst/>
          </a:prstGeom>
          <a:noFill/>
          <a:ln/>
        </p:spPr>
        <p:txBody>
          <a:bodyPr wrap="square" lIns="254" tIns="254" rIns="254" bIns="254" rtlCol="0" anchor="ctr">
            <a:normAutofit/>
          </a:bodyPr>
          <a:lstStyle/>
          <a:p>
            <a:pPr marL="0" indent="0" algn="l">
              <a:buNone/>
            </a:pPr>
            <a:r>
              <a:rPr lang="en-US" sz="940" dirty="0">
                <a:solidFill>
                  <a:srgbClr val="5B6475"/>
                </a:solidFill>
                <a:latin typeface="Aptos" pitchFamily="34" charset="0"/>
                <a:ea typeface="Aptos" pitchFamily="34" charset="-122"/>
                <a:cs typeface="Aptos" pitchFamily="34" charset="-120"/>
              </a:rPr>
              <a:t>Outbox entry remains and dispatcher starts delivery.</a:t>
            </a:r>
            <a:endParaRPr lang="en-US" sz="940" dirty="0"/>
          </a:p>
        </p:txBody>
      </p:sp>
      <p:sp>
        <p:nvSpPr>
          <p:cNvPr id="26" name="Shape 24"/>
          <p:cNvSpPr/>
          <p:nvPr/>
        </p:nvSpPr>
        <p:spPr>
          <a:xfrm>
            <a:off x="1051560" y="5801868"/>
            <a:ext cx="3373222" cy="260604"/>
          </a:xfrm>
          <a:prstGeom prst="rect">
            <a:avLst/>
          </a:prstGeom>
          <a:solidFill>
            <a:srgbClr val="F8FAFC"/>
          </a:solidFill>
          <a:ln w="6350">
            <a:solidFill>
              <a:srgbClr val="D9E1EC"/>
            </a:solidFill>
            <a:prstDash val="solid"/>
          </a:ln>
        </p:spPr>
        <p:txBody>
          <a:bodyPr/>
          <a:lstStyle/>
          <a:p>
            <a:endParaRPr lang="it-IT"/>
          </a:p>
        </p:txBody>
      </p:sp>
      <p:sp>
        <p:nvSpPr>
          <p:cNvPr id="27" name="Text 25"/>
          <p:cNvSpPr/>
          <p:nvPr/>
        </p:nvSpPr>
        <p:spPr>
          <a:xfrm>
            <a:off x="1115568" y="5856732"/>
            <a:ext cx="3245206" cy="169164"/>
          </a:xfrm>
          <a:prstGeom prst="rect">
            <a:avLst/>
          </a:prstGeom>
          <a:noFill/>
          <a:ln/>
        </p:spPr>
        <p:txBody>
          <a:bodyPr wrap="square" lIns="254" tIns="254" rIns="254" bIns="254" rtlCol="0" anchor="ctr">
            <a:normAutofit/>
          </a:bodyPr>
          <a:lstStyle/>
          <a:p>
            <a:pPr marL="0" indent="0" algn="l">
              <a:buNone/>
            </a:pPr>
            <a:r>
              <a:rPr lang="en-US" sz="940" b="1" dirty="0">
                <a:solidFill>
                  <a:srgbClr val="07133D"/>
                </a:solidFill>
                <a:latin typeface="Aptos" pitchFamily="34" charset="0"/>
                <a:ea typeface="Aptos" pitchFamily="34" charset="-122"/>
                <a:cs typeface="Aptos" pitchFamily="34" charset="-120"/>
              </a:rPr>
              <a:t>Dispatcher crash after remote send</a:t>
            </a:r>
            <a:endParaRPr lang="en-US" sz="940" dirty="0"/>
          </a:p>
        </p:txBody>
      </p:sp>
      <p:sp>
        <p:nvSpPr>
          <p:cNvPr id="28" name="Shape 26"/>
          <p:cNvSpPr/>
          <p:nvPr/>
        </p:nvSpPr>
        <p:spPr>
          <a:xfrm>
            <a:off x="4424782" y="5801868"/>
            <a:ext cx="6548018" cy="260604"/>
          </a:xfrm>
          <a:prstGeom prst="rect">
            <a:avLst/>
          </a:prstGeom>
          <a:solidFill>
            <a:srgbClr val="F8FAFC"/>
          </a:solidFill>
          <a:ln w="6350">
            <a:solidFill>
              <a:srgbClr val="D9E1EC"/>
            </a:solidFill>
            <a:prstDash val="solid"/>
          </a:ln>
        </p:spPr>
        <p:txBody>
          <a:bodyPr/>
          <a:lstStyle/>
          <a:p>
            <a:endParaRPr lang="it-IT"/>
          </a:p>
        </p:txBody>
      </p:sp>
      <p:sp>
        <p:nvSpPr>
          <p:cNvPr id="29" name="Text 27"/>
          <p:cNvSpPr/>
          <p:nvPr/>
        </p:nvSpPr>
        <p:spPr>
          <a:xfrm>
            <a:off x="4488790" y="5856732"/>
            <a:ext cx="6420002" cy="169164"/>
          </a:xfrm>
          <a:prstGeom prst="rect">
            <a:avLst/>
          </a:prstGeom>
          <a:noFill/>
          <a:ln/>
        </p:spPr>
        <p:txBody>
          <a:bodyPr wrap="square" lIns="254" tIns="254" rIns="254" bIns="254" rtlCol="0" anchor="ctr">
            <a:normAutofit/>
          </a:bodyPr>
          <a:lstStyle/>
          <a:p>
            <a:pPr marL="0" indent="0" algn="l">
              <a:buNone/>
            </a:pPr>
            <a:r>
              <a:rPr lang="en-US" sz="940" dirty="0">
                <a:solidFill>
                  <a:srgbClr val="5B6475"/>
                </a:solidFill>
                <a:latin typeface="Aptos" pitchFamily="34" charset="0"/>
                <a:ea typeface="Aptos" pitchFamily="34" charset="-122"/>
                <a:cs typeface="Aptos" pitchFamily="34" charset="-120"/>
              </a:rPr>
              <a:t>Stable execution IDs and reconciliation prevent duplicate workflow effect.</a:t>
            </a:r>
            <a:endParaRPr lang="en-US" sz="94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F28A00"/>
                </a:solidFill>
                <a:latin typeface="Aptos" pitchFamily="34" charset="0"/>
                <a:ea typeface="Aptos" pitchFamily="34" charset="-122"/>
                <a:cs typeface="Aptos" pitchFamily="34" charset="-120"/>
              </a:rPr>
              <a:t>BACKUP</a:t>
            </a:r>
            <a:endParaRPr lang="en-US" sz="780" dirty="0"/>
          </a:p>
        </p:txBody>
      </p:sp>
      <p:sp>
        <p:nvSpPr>
          <p:cNvPr id="3" name="Text 1"/>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Cost detail and exclusions</a:t>
            </a:r>
            <a:endParaRPr lang="en-US" sz="2750" dirty="0"/>
          </a:p>
        </p:txBody>
      </p:sp>
      <p:sp>
        <p:nvSpPr>
          <p:cNvPr id="4" name="Text 2"/>
          <p:cNvSpPr/>
          <p:nvPr/>
        </p:nvSpPr>
        <p:spPr>
          <a:xfrm>
            <a:off x="530352" y="896112"/>
            <a:ext cx="10789920" cy="210312"/>
          </a:xfrm>
          <a:prstGeom prst="rect">
            <a:avLst/>
          </a:prstGeom>
          <a:noFill/>
          <a:ln/>
        </p:spPr>
        <p:txBody>
          <a:bodyPr wrap="square" lIns="0" tIns="0" rIns="0" bIns="0" rtlCol="0" anchor="ctr"/>
          <a:lstStyle/>
          <a:p>
            <a:pPr marL="0" indent="0">
              <a:buNone/>
            </a:pPr>
            <a:r>
              <a:rPr lang="en-US" sz="1050" dirty="0">
                <a:solidFill>
                  <a:srgbClr val="5B6475"/>
                </a:solidFill>
              </a:rPr>
              <a:t>Backup C — calculation from solution.md</a:t>
            </a:r>
            <a:endParaRPr lang="en-US" sz="1050" dirty="0"/>
          </a:p>
        </p:txBody>
      </p:sp>
      <p:sp>
        <p:nvSpPr>
          <p:cNvPr id="5" name="Shape 3"/>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6" name="Shape 4"/>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7" name="Text 5"/>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Backup C</a:t>
            </a:r>
            <a:endParaRPr lang="en-US" sz="850" dirty="0"/>
          </a:p>
        </p:txBody>
      </p:sp>
      <p:sp>
        <p:nvSpPr>
          <p:cNvPr id="8" name="Text 6"/>
          <p:cNvSpPr/>
          <p:nvPr/>
        </p:nvSpPr>
        <p:spPr>
          <a:xfrm>
            <a:off x="7818120" y="6519672"/>
            <a:ext cx="3840480" cy="201168"/>
          </a:xfrm>
          <a:prstGeom prst="rect">
            <a:avLst/>
          </a:prstGeom>
          <a:noFill/>
          <a:ln/>
        </p:spPr>
        <p:txBody>
          <a:bodyPr wrap="square" lIns="0" tIns="0" rIns="0" bIns="0" rtlCol="0" anchor="ctr"/>
          <a:lstStyle/>
          <a:p>
            <a:pPr marL="0" indent="0" algn="r">
              <a:buNone/>
            </a:pPr>
            <a:r>
              <a:rPr lang="en-US" sz="850" dirty="0">
                <a:solidFill>
                  <a:srgbClr val="7B8497"/>
                </a:solidFill>
              </a:rPr>
              <a:t>Durable journeys. Connected experiences.</a:t>
            </a:r>
            <a:endParaRPr lang="en-US" sz="850" dirty="0"/>
          </a:p>
        </p:txBody>
      </p:sp>
      <p:sp>
        <p:nvSpPr>
          <p:cNvPr id="9" name="Shape 7"/>
          <p:cNvSpPr/>
          <p:nvPr/>
        </p:nvSpPr>
        <p:spPr>
          <a:xfrm>
            <a:off x="566928" y="1371600"/>
            <a:ext cx="2655418" cy="347472"/>
          </a:xfrm>
          <a:prstGeom prst="rect">
            <a:avLst/>
          </a:prstGeom>
          <a:solidFill>
            <a:srgbClr val="07133D"/>
          </a:solidFill>
          <a:ln w="6350">
            <a:solidFill>
              <a:srgbClr val="FFFFFF"/>
            </a:solidFill>
            <a:prstDash val="solid"/>
          </a:ln>
        </p:spPr>
        <p:txBody>
          <a:bodyPr/>
          <a:lstStyle/>
          <a:p>
            <a:endParaRPr lang="it-IT"/>
          </a:p>
        </p:txBody>
      </p:sp>
      <p:sp>
        <p:nvSpPr>
          <p:cNvPr id="10" name="Text 8"/>
          <p:cNvSpPr/>
          <p:nvPr/>
        </p:nvSpPr>
        <p:spPr>
          <a:xfrm>
            <a:off x="630936" y="1458468"/>
            <a:ext cx="2527402" cy="246888"/>
          </a:xfrm>
          <a:prstGeom prst="rect">
            <a:avLst/>
          </a:prstGeom>
          <a:noFill/>
          <a:ln/>
        </p:spPr>
        <p:txBody>
          <a:bodyPr wrap="square" lIns="254" tIns="254" rIns="254" bIns="254" rtlCol="0" anchor="ctr">
            <a:normAutofit/>
          </a:bodyPr>
          <a:lstStyle/>
          <a:p>
            <a:pPr marL="0" indent="0" algn="l">
              <a:buNone/>
            </a:pPr>
            <a:r>
              <a:rPr lang="en-US" sz="950" b="1" dirty="0">
                <a:solidFill>
                  <a:srgbClr val="FFFFFF"/>
                </a:solidFill>
                <a:latin typeface="Aptos" pitchFamily="34" charset="0"/>
                <a:ea typeface="Aptos" pitchFamily="34" charset="-122"/>
                <a:cs typeface="Aptos" pitchFamily="34" charset="-120"/>
              </a:rPr>
              <a:t>Cost area</a:t>
            </a:r>
            <a:endParaRPr lang="en-US" sz="950" dirty="0"/>
          </a:p>
        </p:txBody>
      </p:sp>
      <p:sp>
        <p:nvSpPr>
          <p:cNvPr id="11" name="Shape 9"/>
          <p:cNvSpPr/>
          <p:nvPr/>
        </p:nvSpPr>
        <p:spPr>
          <a:xfrm>
            <a:off x="3222346" y="1371600"/>
            <a:ext cx="6085332" cy="347472"/>
          </a:xfrm>
          <a:prstGeom prst="rect">
            <a:avLst/>
          </a:prstGeom>
          <a:solidFill>
            <a:srgbClr val="07133D"/>
          </a:solidFill>
          <a:ln w="6350">
            <a:solidFill>
              <a:srgbClr val="FFFFFF"/>
            </a:solidFill>
            <a:prstDash val="solid"/>
          </a:ln>
        </p:spPr>
        <p:txBody>
          <a:bodyPr/>
          <a:lstStyle/>
          <a:p>
            <a:endParaRPr lang="it-IT"/>
          </a:p>
        </p:txBody>
      </p:sp>
      <p:sp>
        <p:nvSpPr>
          <p:cNvPr id="12" name="Text 10"/>
          <p:cNvSpPr/>
          <p:nvPr/>
        </p:nvSpPr>
        <p:spPr>
          <a:xfrm>
            <a:off x="3286354" y="1458468"/>
            <a:ext cx="5957316" cy="246888"/>
          </a:xfrm>
          <a:prstGeom prst="rect">
            <a:avLst/>
          </a:prstGeom>
          <a:noFill/>
          <a:ln/>
        </p:spPr>
        <p:txBody>
          <a:bodyPr wrap="square" lIns="254" tIns="254" rIns="254" bIns="254" rtlCol="0" anchor="ctr">
            <a:normAutofit/>
          </a:bodyPr>
          <a:lstStyle/>
          <a:p>
            <a:pPr marL="0" indent="0" algn="l">
              <a:buNone/>
            </a:pPr>
            <a:r>
              <a:rPr lang="en-US" sz="950" b="1" dirty="0">
                <a:solidFill>
                  <a:srgbClr val="FFFFFF"/>
                </a:solidFill>
                <a:latin typeface="Aptos" pitchFamily="34" charset="0"/>
                <a:ea typeface="Aptos" pitchFamily="34" charset="-122"/>
                <a:cs typeface="Aptos" pitchFamily="34" charset="-120"/>
              </a:rPr>
              <a:t>Launch assumption</a:t>
            </a:r>
            <a:endParaRPr lang="en-US" sz="950" dirty="0"/>
          </a:p>
        </p:txBody>
      </p:sp>
      <p:sp>
        <p:nvSpPr>
          <p:cNvPr id="13" name="Shape 11"/>
          <p:cNvSpPr/>
          <p:nvPr/>
        </p:nvSpPr>
        <p:spPr>
          <a:xfrm>
            <a:off x="9307678" y="1371600"/>
            <a:ext cx="2323490" cy="347472"/>
          </a:xfrm>
          <a:prstGeom prst="rect">
            <a:avLst/>
          </a:prstGeom>
          <a:solidFill>
            <a:srgbClr val="07133D"/>
          </a:solidFill>
          <a:ln w="6350">
            <a:solidFill>
              <a:srgbClr val="FFFFFF"/>
            </a:solidFill>
            <a:prstDash val="solid"/>
          </a:ln>
        </p:spPr>
        <p:txBody>
          <a:bodyPr/>
          <a:lstStyle/>
          <a:p>
            <a:endParaRPr lang="it-IT"/>
          </a:p>
        </p:txBody>
      </p:sp>
      <p:sp>
        <p:nvSpPr>
          <p:cNvPr id="14" name="Text 12"/>
          <p:cNvSpPr/>
          <p:nvPr/>
        </p:nvSpPr>
        <p:spPr>
          <a:xfrm>
            <a:off x="9371686" y="1458468"/>
            <a:ext cx="2195474" cy="246888"/>
          </a:xfrm>
          <a:prstGeom prst="rect">
            <a:avLst/>
          </a:prstGeom>
          <a:noFill/>
          <a:ln/>
        </p:spPr>
        <p:txBody>
          <a:bodyPr wrap="square" lIns="254" tIns="254" rIns="254" bIns="254" rtlCol="0" anchor="ctr">
            <a:normAutofit/>
          </a:bodyPr>
          <a:lstStyle/>
          <a:p>
            <a:pPr marL="0" indent="0" algn="l">
              <a:buNone/>
            </a:pPr>
            <a:r>
              <a:rPr lang="en-US" sz="950" b="1" dirty="0">
                <a:solidFill>
                  <a:srgbClr val="FFFFFF"/>
                </a:solidFill>
                <a:latin typeface="Aptos" pitchFamily="34" charset="0"/>
                <a:ea typeface="Aptos" pitchFamily="34" charset="-122"/>
                <a:cs typeface="Aptos" pitchFamily="34" charset="-120"/>
              </a:rPr>
              <a:t>Monthly EUR</a:t>
            </a:r>
            <a:endParaRPr lang="en-US" sz="950" dirty="0"/>
          </a:p>
        </p:txBody>
      </p:sp>
      <p:sp>
        <p:nvSpPr>
          <p:cNvPr id="15" name="Shape 13"/>
          <p:cNvSpPr/>
          <p:nvPr/>
        </p:nvSpPr>
        <p:spPr>
          <a:xfrm>
            <a:off x="566928" y="1719072"/>
            <a:ext cx="2655418" cy="579120"/>
          </a:xfrm>
          <a:prstGeom prst="rect">
            <a:avLst/>
          </a:prstGeom>
          <a:solidFill>
            <a:srgbClr val="FFFFFF"/>
          </a:solidFill>
          <a:ln w="6350">
            <a:solidFill>
              <a:srgbClr val="D9E1EC"/>
            </a:solidFill>
            <a:prstDash val="solid"/>
          </a:ln>
        </p:spPr>
        <p:txBody>
          <a:bodyPr/>
          <a:lstStyle/>
          <a:p>
            <a:endParaRPr lang="it-IT"/>
          </a:p>
        </p:txBody>
      </p:sp>
      <p:sp>
        <p:nvSpPr>
          <p:cNvPr id="16" name="Text 14"/>
          <p:cNvSpPr/>
          <p:nvPr/>
        </p:nvSpPr>
        <p:spPr>
          <a:xfrm>
            <a:off x="630936" y="1773936"/>
            <a:ext cx="2527402" cy="487680"/>
          </a:xfrm>
          <a:prstGeom prst="rect">
            <a:avLst/>
          </a:prstGeom>
          <a:noFill/>
          <a:ln/>
        </p:spPr>
        <p:txBody>
          <a:bodyPr wrap="square" lIns="254" tIns="254" rIns="254" bIns="254" rtlCol="0" anchor="ctr">
            <a:normAutofit/>
          </a:bodyPr>
          <a:lstStyle/>
          <a:p>
            <a:pPr marL="0" indent="0" algn="l">
              <a:buNone/>
            </a:pPr>
            <a:r>
              <a:rPr lang="en-US" sz="830" b="1" dirty="0">
                <a:solidFill>
                  <a:srgbClr val="07133D"/>
                </a:solidFill>
                <a:latin typeface="Aptos" pitchFamily="34" charset="0"/>
                <a:ea typeface="Aptos" pitchFamily="34" charset="-122"/>
                <a:cs typeface="Aptos" pitchFamily="34" charset="-120"/>
              </a:rPr>
              <a:t>EKS control plane</a:t>
            </a:r>
            <a:endParaRPr lang="en-US" sz="830" dirty="0"/>
          </a:p>
        </p:txBody>
      </p:sp>
      <p:sp>
        <p:nvSpPr>
          <p:cNvPr id="17" name="Shape 15"/>
          <p:cNvSpPr/>
          <p:nvPr/>
        </p:nvSpPr>
        <p:spPr>
          <a:xfrm>
            <a:off x="3222346" y="1719072"/>
            <a:ext cx="6085332" cy="579120"/>
          </a:xfrm>
          <a:prstGeom prst="rect">
            <a:avLst/>
          </a:prstGeom>
          <a:solidFill>
            <a:srgbClr val="FFFFFF"/>
          </a:solidFill>
          <a:ln w="6350">
            <a:solidFill>
              <a:srgbClr val="D9E1EC"/>
            </a:solidFill>
            <a:prstDash val="solid"/>
          </a:ln>
        </p:spPr>
        <p:txBody>
          <a:bodyPr/>
          <a:lstStyle/>
          <a:p>
            <a:endParaRPr lang="it-IT"/>
          </a:p>
        </p:txBody>
      </p:sp>
      <p:sp>
        <p:nvSpPr>
          <p:cNvPr id="18" name="Text 16"/>
          <p:cNvSpPr/>
          <p:nvPr/>
        </p:nvSpPr>
        <p:spPr>
          <a:xfrm>
            <a:off x="3286354" y="1773936"/>
            <a:ext cx="5957316" cy="487680"/>
          </a:xfrm>
          <a:prstGeom prst="rect">
            <a:avLst/>
          </a:prstGeom>
          <a:noFill/>
          <a:ln/>
        </p:spPr>
        <p:txBody>
          <a:bodyPr wrap="square" lIns="254" tIns="254" rIns="254" bIns="254" rtlCol="0" anchor="ctr">
            <a:normAutofit/>
          </a:bodyPr>
          <a:lstStyle/>
          <a:p>
            <a:pPr marL="0" indent="0" algn="l">
              <a:buNone/>
            </a:pPr>
            <a:r>
              <a:rPr lang="en-US" sz="830" dirty="0">
                <a:solidFill>
                  <a:srgbClr val="5B6475"/>
                </a:solidFill>
                <a:latin typeface="Aptos" pitchFamily="34" charset="0"/>
                <a:ea typeface="Aptos" pitchFamily="34" charset="-122"/>
                <a:cs typeface="Aptos" pitchFamily="34" charset="-120"/>
              </a:rPr>
              <a:t>$0.10/hour × 730</a:t>
            </a:r>
            <a:endParaRPr lang="en-US" sz="830" dirty="0"/>
          </a:p>
        </p:txBody>
      </p:sp>
      <p:sp>
        <p:nvSpPr>
          <p:cNvPr id="19" name="Shape 17"/>
          <p:cNvSpPr/>
          <p:nvPr/>
        </p:nvSpPr>
        <p:spPr>
          <a:xfrm>
            <a:off x="9307678" y="1719072"/>
            <a:ext cx="2323490" cy="579120"/>
          </a:xfrm>
          <a:prstGeom prst="rect">
            <a:avLst/>
          </a:prstGeom>
          <a:solidFill>
            <a:srgbClr val="FFFFFF"/>
          </a:solidFill>
          <a:ln w="6350">
            <a:solidFill>
              <a:srgbClr val="D9E1EC"/>
            </a:solidFill>
            <a:prstDash val="solid"/>
          </a:ln>
        </p:spPr>
        <p:txBody>
          <a:bodyPr/>
          <a:lstStyle/>
          <a:p>
            <a:endParaRPr lang="it-IT"/>
          </a:p>
        </p:txBody>
      </p:sp>
      <p:sp>
        <p:nvSpPr>
          <p:cNvPr id="20" name="Text 18"/>
          <p:cNvSpPr/>
          <p:nvPr/>
        </p:nvSpPr>
        <p:spPr>
          <a:xfrm>
            <a:off x="9371686" y="1773936"/>
            <a:ext cx="2195474" cy="487680"/>
          </a:xfrm>
          <a:prstGeom prst="rect">
            <a:avLst/>
          </a:prstGeom>
          <a:noFill/>
          <a:ln/>
        </p:spPr>
        <p:txBody>
          <a:bodyPr wrap="square" lIns="254" tIns="254" rIns="254" bIns="254" rtlCol="0" anchor="ctr">
            <a:normAutofit/>
          </a:bodyPr>
          <a:lstStyle/>
          <a:p>
            <a:pPr marL="0" indent="0" algn="l">
              <a:buNone/>
            </a:pPr>
            <a:r>
              <a:rPr lang="en-US" sz="830" dirty="0">
                <a:solidFill>
                  <a:srgbClr val="5B6475"/>
                </a:solidFill>
                <a:latin typeface="Aptos" pitchFamily="34" charset="0"/>
                <a:ea typeface="Aptos" pitchFamily="34" charset="-122"/>
                <a:cs typeface="Aptos" pitchFamily="34" charset="-120"/>
              </a:rPr>
              <a:t>€64</a:t>
            </a:r>
            <a:endParaRPr lang="en-US" sz="830" dirty="0"/>
          </a:p>
        </p:txBody>
      </p:sp>
      <p:sp>
        <p:nvSpPr>
          <p:cNvPr id="21" name="Shape 19"/>
          <p:cNvSpPr/>
          <p:nvPr/>
        </p:nvSpPr>
        <p:spPr>
          <a:xfrm>
            <a:off x="566928" y="2298192"/>
            <a:ext cx="2655418" cy="579120"/>
          </a:xfrm>
          <a:prstGeom prst="rect">
            <a:avLst/>
          </a:prstGeom>
          <a:solidFill>
            <a:srgbClr val="F8FAFC"/>
          </a:solidFill>
          <a:ln w="6350">
            <a:solidFill>
              <a:srgbClr val="D9E1EC"/>
            </a:solidFill>
            <a:prstDash val="solid"/>
          </a:ln>
        </p:spPr>
        <p:txBody>
          <a:bodyPr/>
          <a:lstStyle/>
          <a:p>
            <a:endParaRPr lang="it-IT"/>
          </a:p>
        </p:txBody>
      </p:sp>
      <p:sp>
        <p:nvSpPr>
          <p:cNvPr id="22" name="Text 20"/>
          <p:cNvSpPr/>
          <p:nvPr/>
        </p:nvSpPr>
        <p:spPr>
          <a:xfrm>
            <a:off x="630936" y="2353056"/>
            <a:ext cx="2527402" cy="487680"/>
          </a:xfrm>
          <a:prstGeom prst="rect">
            <a:avLst/>
          </a:prstGeom>
          <a:noFill/>
          <a:ln/>
        </p:spPr>
        <p:txBody>
          <a:bodyPr wrap="square" lIns="254" tIns="254" rIns="254" bIns="254" rtlCol="0" anchor="ctr">
            <a:normAutofit/>
          </a:bodyPr>
          <a:lstStyle/>
          <a:p>
            <a:pPr marL="0" indent="0" algn="l">
              <a:buNone/>
            </a:pPr>
            <a:r>
              <a:rPr lang="en-US" sz="830" b="1" dirty="0">
                <a:solidFill>
                  <a:srgbClr val="07133D"/>
                </a:solidFill>
                <a:latin typeface="Aptos" pitchFamily="34" charset="0"/>
                <a:ea typeface="Aptos" pitchFamily="34" charset="-122"/>
                <a:cs typeface="Aptos" pitchFamily="34" charset="-120"/>
              </a:rPr>
              <a:t>EKS nodes + disks</a:t>
            </a:r>
            <a:endParaRPr lang="en-US" sz="830" dirty="0"/>
          </a:p>
        </p:txBody>
      </p:sp>
      <p:sp>
        <p:nvSpPr>
          <p:cNvPr id="23" name="Shape 21"/>
          <p:cNvSpPr/>
          <p:nvPr/>
        </p:nvSpPr>
        <p:spPr>
          <a:xfrm>
            <a:off x="3222346" y="2298192"/>
            <a:ext cx="6085332" cy="579120"/>
          </a:xfrm>
          <a:prstGeom prst="rect">
            <a:avLst/>
          </a:prstGeom>
          <a:solidFill>
            <a:srgbClr val="F8FAFC"/>
          </a:solidFill>
          <a:ln w="6350">
            <a:solidFill>
              <a:srgbClr val="D9E1EC"/>
            </a:solidFill>
            <a:prstDash val="solid"/>
          </a:ln>
        </p:spPr>
        <p:txBody>
          <a:bodyPr/>
          <a:lstStyle/>
          <a:p>
            <a:endParaRPr lang="it-IT"/>
          </a:p>
        </p:txBody>
      </p:sp>
      <p:sp>
        <p:nvSpPr>
          <p:cNvPr id="24" name="Text 22"/>
          <p:cNvSpPr/>
          <p:nvPr/>
        </p:nvSpPr>
        <p:spPr>
          <a:xfrm>
            <a:off x="3286354" y="2353056"/>
            <a:ext cx="5957316" cy="487680"/>
          </a:xfrm>
          <a:prstGeom prst="rect">
            <a:avLst/>
          </a:prstGeom>
          <a:noFill/>
          <a:ln/>
        </p:spPr>
        <p:txBody>
          <a:bodyPr wrap="square" lIns="254" tIns="254" rIns="254" bIns="254" rtlCol="0" anchor="ctr">
            <a:normAutofit/>
          </a:bodyPr>
          <a:lstStyle/>
          <a:p>
            <a:pPr marL="0" indent="0" algn="l">
              <a:buNone/>
            </a:pPr>
            <a:r>
              <a:rPr lang="en-US" sz="830" dirty="0">
                <a:solidFill>
                  <a:srgbClr val="5B6475"/>
                </a:solidFill>
                <a:latin typeface="Aptos" pitchFamily="34" charset="0"/>
                <a:ea typeface="Aptos" pitchFamily="34" charset="-122"/>
                <a:cs typeface="Aptos" pitchFamily="34" charset="-120"/>
              </a:rPr>
              <a:t>Two m6i.large, one per AZ; two 30 GB gp3 disks</a:t>
            </a:r>
            <a:endParaRPr lang="en-US" sz="830" dirty="0"/>
          </a:p>
        </p:txBody>
      </p:sp>
      <p:sp>
        <p:nvSpPr>
          <p:cNvPr id="25" name="Shape 23"/>
          <p:cNvSpPr/>
          <p:nvPr/>
        </p:nvSpPr>
        <p:spPr>
          <a:xfrm>
            <a:off x="9307678" y="2298192"/>
            <a:ext cx="2323490" cy="579120"/>
          </a:xfrm>
          <a:prstGeom prst="rect">
            <a:avLst/>
          </a:prstGeom>
          <a:solidFill>
            <a:srgbClr val="F8FAFC"/>
          </a:solidFill>
          <a:ln w="6350">
            <a:solidFill>
              <a:srgbClr val="D9E1EC"/>
            </a:solidFill>
            <a:prstDash val="solid"/>
          </a:ln>
        </p:spPr>
        <p:txBody>
          <a:bodyPr/>
          <a:lstStyle/>
          <a:p>
            <a:endParaRPr lang="it-IT"/>
          </a:p>
        </p:txBody>
      </p:sp>
      <p:sp>
        <p:nvSpPr>
          <p:cNvPr id="26" name="Text 24"/>
          <p:cNvSpPr/>
          <p:nvPr/>
        </p:nvSpPr>
        <p:spPr>
          <a:xfrm>
            <a:off x="9371686" y="2353056"/>
            <a:ext cx="2195474" cy="487680"/>
          </a:xfrm>
          <a:prstGeom prst="rect">
            <a:avLst/>
          </a:prstGeom>
          <a:noFill/>
          <a:ln/>
        </p:spPr>
        <p:txBody>
          <a:bodyPr wrap="square" lIns="254" tIns="254" rIns="254" bIns="254" rtlCol="0" anchor="ctr">
            <a:normAutofit/>
          </a:bodyPr>
          <a:lstStyle/>
          <a:p>
            <a:pPr marL="0" indent="0" algn="l">
              <a:buNone/>
            </a:pPr>
            <a:r>
              <a:rPr lang="en-US" sz="830" dirty="0">
                <a:solidFill>
                  <a:srgbClr val="5B6475"/>
                </a:solidFill>
                <a:latin typeface="Aptos" pitchFamily="34" charset="0"/>
                <a:ea typeface="Aptos" pitchFamily="34" charset="-122"/>
                <a:cs typeface="Aptos" pitchFamily="34" charset="-120"/>
              </a:rPr>
              <a:t>€141</a:t>
            </a:r>
            <a:endParaRPr lang="en-US" sz="830" dirty="0"/>
          </a:p>
        </p:txBody>
      </p:sp>
      <p:sp>
        <p:nvSpPr>
          <p:cNvPr id="27" name="Shape 25"/>
          <p:cNvSpPr/>
          <p:nvPr/>
        </p:nvSpPr>
        <p:spPr>
          <a:xfrm>
            <a:off x="566928" y="2877312"/>
            <a:ext cx="2655418" cy="579120"/>
          </a:xfrm>
          <a:prstGeom prst="rect">
            <a:avLst/>
          </a:prstGeom>
          <a:solidFill>
            <a:srgbClr val="FFFFFF"/>
          </a:solidFill>
          <a:ln w="6350">
            <a:solidFill>
              <a:srgbClr val="D9E1EC"/>
            </a:solidFill>
            <a:prstDash val="solid"/>
          </a:ln>
        </p:spPr>
        <p:txBody>
          <a:bodyPr/>
          <a:lstStyle/>
          <a:p>
            <a:endParaRPr lang="it-IT"/>
          </a:p>
        </p:txBody>
      </p:sp>
      <p:sp>
        <p:nvSpPr>
          <p:cNvPr id="28" name="Text 26"/>
          <p:cNvSpPr/>
          <p:nvPr/>
        </p:nvSpPr>
        <p:spPr>
          <a:xfrm>
            <a:off x="630936" y="2932176"/>
            <a:ext cx="2527402" cy="487680"/>
          </a:xfrm>
          <a:prstGeom prst="rect">
            <a:avLst/>
          </a:prstGeom>
          <a:noFill/>
          <a:ln/>
        </p:spPr>
        <p:txBody>
          <a:bodyPr wrap="square" lIns="254" tIns="254" rIns="254" bIns="254" rtlCol="0" anchor="ctr">
            <a:normAutofit/>
          </a:bodyPr>
          <a:lstStyle/>
          <a:p>
            <a:pPr marL="0" indent="0" algn="l">
              <a:buNone/>
            </a:pPr>
            <a:r>
              <a:rPr lang="en-US" sz="830" b="1" dirty="0">
                <a:solidFill>
                  <a:srgbClr val="07133D"/>
                </a:solidFill>
                <a:latin typeface="Aptos" pitchFamily="34" charset="0"/>
                <a:ea typeface="Aptos" pitchFamily="34" charset="-122"/>
                <a:cs typeface="Aptos" pitchFamily="34" charset="-120"/>
              </a:rPr>
              <a:t>RDS PostgreSQL</a:t>
            </a:r>
            <a:endParaRPr lang="en-US" sz="830" dirty="0"/>
          </a:p>
        </p:txBody>
      </p:sp>
      <p:sp>
        <p:nvSpPr>
          <p:cNvPr id="29" name="Shape 27"/>
          <p:cNvSpPr/>
          <p:nvPr/>
        </p:nvSpPr>
        <p:spPr>
          <a:xfrm>
            <a:off x="3222346" y="2877312"/>
            <a:ext cx="6085332" cy="579120"/>
          </a:xfrm>
          <a:prstGeom prst="rect">
            <a:avLst/>
          </a:prstGeom>
          <a:solidFill>
            <a:srgbClr val="FFFFFF"/>
          </a:solidFill>
          <a:ln w="6350">
            <a:solidFill>
              <a:srgbClr val="D9E1EC"/>
            </a:solidFill>
            <a:prstDash val="solid"/>
          </a:ln>
        </p:spPr>
        <p:txBody>
          <a:bodyPr/>
          <a:lstStyle/>
          <a:p>
            <a:endParaRPr lang="it-IT"/>
          </a:p>
        </p:txBody>
      </p:sp>
      <p:sp>
        <p:nvSpPr>
          <p:cNvPr id="30" name="Text 28"/>
          <p:cNvSpPr/>
          <p:nvPr/>
        </p:nvSpPr>
        <p:spPr>
          <a:xfrm>
            <a:off x="3286354" y="2932176"/>
            <a:ext cx="5957316" cy="487680"/>
          </a:xfrm>
          <a:prstGeom prst="rect">
            <a:avLst/>
          </a:prstGeom>
          <a:noFill/>
          <a:ln/>
        </p:spPr>
        <p:txBody>
          <a:bodyPr wrap="square" lIns="254" tIns="254" rIns="254" bIns="254" rtlCol="0" anchor="ctr">
            <a:normAutofit/>
          </a:bodyPr>
          <a:lstStyle/>
          <a:p>
            <a:pPr marL="0" indent="0" algn="l">
              <a:buNone/>
            </a:pPr>
            <a:r>
              <a:rPr lang="en-US" sz="830" dirty="0">
                <a:solidFill>
                  <a:srgbClr val="5B6475"/>
                </a:solidFill>
                <a:latin typeface="Aptos" pitchFamily="34" charset="0"/>
                <a:ea typeface="Aptos" pitchFamily="34" charset="-122"/>
                <a:cs typeface="Aptos" pitchFamily="34" charset="-120"/>
              </a:rPr>
              <a:t>db.m6g.large Multi-AZ including one standby; 50 GB gp3</a:t>
            </a:r>
            <a:endParaRPr lang="en-US" sz="830" dirty="0"/>
          </a:p>
        </p:txBody>
      </p:sp>
      <p:sp>
        <p:nvSpPr>
          <p:cNvPr id="31" name="Shape 29"/>
          <p:cNvSpPr/>
          <p:nvPr/>
        </p:nvSpPr>
        <p:spPr>
          <a:xfrm>
            <a:off x="9307678" y="2877312"/>
            <a:ext cx="2323490" cy="579120"/>
          </a:xfrm>
          <a:prstGeom prst="rect">
            <a:avLst/>
          </a:prstGeom>
          <a:solidFill>
            <a:srgbClr val="FFFFFF"/>
          </a:solidFill>
          <a:ln w="6350">
            <a:solidFill>
              <a:srgbClr val="D9E1EC"/>
            </a:solidFill>
            <a:prstDash val="solid"/>
          </a:ln>
        </p:spPr>
        <p:txBody>
          <a:bodyPr/>
          <a:lstStyle/>
          <a:p>
            <a:endParaRPr lang="it-IT"/>
          </a:p>
        </p:txBody>
      </p:sp>
      <p:sp>
        <p:nvSpPr>
          <p:cNvPr id="32" name="Text 30"/>
          <p:cNvSpPr/>
          <p:nvPr/>
        </p:nvSpPr>
        <p:spPr>
          <a:xfrm>
            <a:off x="9371686" y="2932176"/>
            <a:ext cx="2195474" cy="487680"/>
          </a:xfrm>
          <a:prstGeom prst="rect">
            <a:avLst/>
          </a:prstGeom>
          <a:noFill/>
          <a:ln/>
        </p:spPr>
        <p:txBody>
          <a:bodyPr wrap="square" lIns="254" tIns="254" rIns="254" bIns="254" rtlCol="0" anchor="ctr">
            <a:normAutofit/>
          </a:bodyPr>
          <a:lstStyle/>
          <a:p>
            <a:pPr marL="0" indent="0" algn="l">
              <a:buNone/>
            </a:pPr>
            <a:r>
              <a:rPr lang="en-US" sz="830" dirty="0">
                <a:solidFill>
                  <a:srgbClr val="5B6475"/>
                </a:solidFill>
                <a:latin typeface="Aptos" pitchFamily="34" charset="0"/>
                <a:ea typeface="Aptos" pitchFamily="34" charset="-122"/>
                <a:cs typeface="Aptos" pitchFamily="34" charset="-120"/>
              </a:rPr>
              <a:t>€235</a:t>
            </a:r>
            <a:endParaRPr lang="en-US" sz="830" dirty="0"/>
          </a:p>
        </p:txBody>
      </p:sp>
      <p:sp>
        <p:nvSpPr>
          <p:cNvPr id="33" name="Shape 31"/>
          <p:cNvSpPr/>
          <p:nvPr/>
        </p:nvSpPr>
        <p:spPr>
          <a:xfrm>
            <a:off x="566928" y="3456432"/>
            <a:ext cx="2655418" cy="579120"/>
          </a:xfrm>
          <a:prstGeom prst="rect">
            <a:avLst/>
          </a:prstGeom>
          <a:solidFill>
            <a:srgbClr val="F8FAFC"/>
          </a:solidFill>
          <a:ln w="6350">
            <a:solidFill>
              <a:srgbClr val="D9E1EC"/>
            </a:solidFill>
            <a:prstDash val="solid"/>
          </a:ln>
        </p:spPr>
        <p:txBody>
          <a:bodyPr/>
          <a:lstStyle/>
          <a:p>
            <a:endParaRPr lang="it-IT"/>
          </a:p>
        </p:txBody>
      </p:sp>
      <p:sp>
        <p:nvSpPr>
          <p:cNvPr id="34" name="Text 32"/>
          <p:cNvSpPr/>
          <p:nvPr/>
        </p:nvSpPr>
        <p:spPr>
          <a:xfrm>
            <a:off x="630936" y="3511296"/>
            <a:ext cx="2527402" cy="487680"/>
          </a:xfrm>
          <a:prstGeom prst="rect">
            <a:avLst/>
          </a:prstGeom>
          <a:noFill/>
          <a:ln/>
        </p:spPr>
        <p:txBody>
          <a:bodyPr wrap="square" lIns="254" tIns="254" rIns="254" bIns="254" rtlCol="0" anchor="ctr">
            <a:normAutofit/>
          </a:bodyPr>
          <a:lstStyle/>
          <a:p>
            <a:pPr marL="0" indent="0" algn="l">
              <a:buNone/>
            </a:pPr>
            <a:r>
              <a:rPr lang="en-US" sz="830" b="1" dirty="0">
                <a:solidFill>
                  <a:srgbClr val="07133D"/>
                </a:solidFill>
                <a:latin typeface="Aptos" pitchFamily="34" charset="0"/>
                <a:ea typeface="Aptos" pitchFamily="34" charset="-122"/>
                <a:cs typeface="Aptos" pitchFamily="34" charset="-120"/>
              </a:rPr>
              <a:t>Ingress + network</a:t>
            </a:r>
            <a:endParaRPr lang="en-US" sz="830" dirty="0"/>
          </a:p>
        </p:txBody>
      </p:sp>
      <p:sp>
        <p:nvSpPr>
          <p:cNvPr id="35" name="Shape 33"/>
          <p:cNvSpPr/>
          <p:nvPr/>
        </p:nvSpPr>
        <p:spPr>
          <a:xfrm>
            <a:off x="3222346" y="3456432"/>
            <a:ext cx="6085332" cy="579120"/>
          </a:xfrm>
          <a:prstGeom prst="rect">
            <a:avLst/>
          </a:prstGeom>
          <a:solidFill>
            <a:srgbClr val="F8FAFC"/>
          </a:solidFill>
          <a:ln w="6350">
            <a:solidFill>
              <a:srgbClr val="D9E1EC"/>
            </a:solidFill>
            <a:prstDash val="solid"/>
          </a:ln>
        </p:spPr>
        <p:txBody>
          <a:bodyPr/>
          <a:lstStyle/>
          <a:p>
            <a:endParaRPr lang="it-IT"/>
          </a:p>
        </p:txBody>
      </p:sp>
      <p:sp>
        <p:nvSpPr>
          <p:cNvPr id="36" name="Text 34"/>
          <p:cNvSpPr/>
          <p:nvPr/>
        </p:nvSpPr>
        <p:spPr>
          <a:xfrm>
            <a:off x="3286354" y="3511296"/>
            <a:ext cx="5957316" cy="487680"/>
          </a:xfrm>
          <a:prstGeom prst="rect">
            <a:avLst/>
          </a:prstGeom>
          <a:noFill/>
          <a:ln/>
        </p:spPr>
        <p:txBody>
          <a:bodyPr wrap="square" lIns="254" tIns="254" rIns="254" bIns="254" rtlCol="0" anchor="ctr">
            <a:normAutofit/>
          </a:bodyPr>
          <a:lstStyle/>
          <a:p>
            <a:pPr marL="0" indent="0" algn="l">
              <a:buNone/>
            </a:pPr>
            <a:r>
              <a:rPr lang="en-US" sz="830" dirty="0">
                <a:solidFill>
                  <a:srgbClr val="5B6475"/>
                </a:solidFill>
                <a:latin typeface="Aptos" pitchFamily="34" charset="0"/>
                <a:ea typeface="Aptos" pitchFamily="34" charset="-122"/>
                <a:cs typeface="Aptos" pitchFamily="34" charset="-120"/>
              </a:rPr>
              <a:t>Two NAT GWs, ALB, IPv4, basic WAF, modest transfer</a:t>
            </a:r>
            <a:endParaRPr lang="en-US" sz="830" dirty="0"/>
          </a:p>
        </p:txBody>
      </p:sp>
      <p:sp>
        <p:nvSpPr>
          <p:cNvPr id="37" name="Shape 35"/>
          <p:cNvSpPr/>
          <p:nvPr/>
        </p:nvSpPr>
        <p:spPr>
          <a:xfrm>
            <a:off x="9307678" y="3456432"/>
            <a:ext cx="2323490" cy="579120"/>
          </a:xfrm>
          <a:prstGeom prst="rect">
            <a:avLst/>
          </a:prstGeom>
          <a:solidFill>
            <a:srgbClr val="F8FAFC"/>
          </a:solidFill>
          <a:ln w="6350">
            <a:solidFill>
              <a:srgbClr val="D9E1EC"/>
            </a:solidFill>
            <a:prstDash val="solid"/>
          </a:ln>
        </p:spPr>
        <p:txBody>
          <a:bodyPr/>
          <a:lstStyle/>
          <a:p>
            <a:endParaRPr lang="it-IT"/>
          </a:p>
        </p:txBody>
      </p:sp>
      <p:sp>
        <p:nvSpPr>
          <p:cNvPr id="38" name="Text 36"/>
          <p:cNvSpPr/>
          <p:nvPr/>
        </p:nvSpPr>
        <p:spPr>
          <a:xfrm>
            <a:off x="9371686" y="3511296"/>
            <a:ext cx="2195474" cy="487680"/>
          </a:xfrm>
          <a:prstGeom prst="rect">
            <a:avLst/>
          </a:prstGeom>
          <a:noFill/>
          <a:ln/>
        </p:spPr>
        <p:txBody>
          <a:bodyPr wrap="square" lIns="254" tIns="254" rIns="254" bIns="254" rtlCol="0" anchor="ctr">
            <a:normAutofit/>
          </a:bodyPr>
          <a:lstStyle/>
          <a:p>
            <a:pPr marL="0" indent="0" algn="l">
              <a:buNone/>
            </a:pPr>
            <a:r>
              <a:rPr lang="en-US" sz="830" dirty="0">
                <a:solidFill>
                  <a:srgbClr val="5B6475"/>
                </a:solidFill>
                <a:latin typeface="Aptos" pitchFamily="34" charset="0"/>
                <a:ea typeface="Aptos" pitchFamily="34" charset="-122"/>
                <a:cs typeface="Aptos" pitchFamily="34" charset="-120"/>
              </a:rPr>
              <a:t>€105–125</a:t>
            </a:r>
            <a:endParaRPr lang="en-US" sz="830" dirty="0"/>
          </a:p>
        </p:txBody>
      </p:sp>
      <p:sp>
        <p:nvSpPr>
          <p:cNvPr id="39" name="Shape 37"/>
          <p:cNvSpPr/>
          <p:nvPr/>
        </p:nvSpPr>
        <p:spPr>
          <a:xfrm>
            <a:off x="566928" y="4035552"/>
            <a:ext cx="2655418" cy="579120"/>
          </a:xfrm>
          <a:prstGeom prst="rect">
            <a:avLst/>
          </a:prstGeom>
          <a:solidFill>
            <a:srgbClr val="FFFFFF"/>
          </a:solidFill>
          <a:ln w="6350">
            <a:solidFill>
              <a:srgbClr val="D9E1EC"/>
            </a:solidFill>
            <a:prstDash val="solid"/>
          </a:ln>
        </p:spPr>
        <p:txBody>
          <a:bodyPr/>
          <a:lstStyle/>
          <a:p>
            <a:endParaRPr lang="it-IT"/>
          </a:p>
        </p:txBody>
      </p:sp>
      <p:sp>
        <p:nvSpPr>
          <p:cNvPr id="40" name="Text 38"/>
          <p:cNvSpPr/>
          <p:nvPr/>
        </p:nvSpPr>
        <p:spPr>
          <a:xfrm>
            <a:off x="630936" y="4090416"/>
            <a:ext cx="2527402" cy="487680"/>
          </a:xfrm>
          <a:prstGeom prst="rect">
            <a:avLst/>
          </a:prstGeom>
          <a:noFill/>
          <a:ln/>
        </p:spPr>
        <p:txBody>
          <a:bodyPr wrap="square" lIns="254" tIns="254" rIns="254" bIns="254" rtlCol="0" anchor="ctr">
            <a:normAutofit/>
          </a:bodyPr>
          <a:lstStyle/>
          <a:p>
            <a:pPr marL="0" indent="0" algn="l">
              <a:buNone/>
            </a:pPr>
            <a:r>
              <a:rPr lang="en-US" sz="830" b="1" dirty="0">
                <a:solidFill>
                  <a:srgbClr val="07133D"/>
                </a:solidFill>
                <a:latin typeface="Aptos" pitchFamily="34" charset="0"/>
                <a:ea typeface="Aptos" pitchFamily="34" charset="-122"/>
                <a:cs typeface="Aptos" pitchFamily="34" charset="-120"/>
              </a:rPr>
              <a:t>Telemetry</a:t>
            </a:r>
            <a:endParaRPr lang="en-US" sz="830" dirty="0"/>
          </a:p>
        </p:txBody>
      </p:sp>
      <p:sp>
        <p:nvSpPr>
          <p:cNvPr id="41" name="Shape 39"/>
          <p:cNvSpPr/>
          <p:nvPr/>
        </p:nvSpPr>
        <p:spPr>
          <a:xfrm>
            <a:off x="3222346" y="4035552"/>
            <a:ext cx="6085332" cy="579120"/>
          </a:xfrm>
          <a:prstGeom prst="rect">
            <a:avLst/>
          </a:prstGeom>
          <a:solidFill>
            <a:srgbClr val="FFFFFF"/>
          </a:solidFill>
          <a:ln w="6350">
            <a:solidFill>
              <a:srgbClr val="D9E1EC"/>
            </a:solidFill>
            <a:prstDash val="solid"/>
          </a:ln>
        </p:spPr>
        <p:txBody>
          <a:bodyPr/>
          <a:lstStyle/>
          <a:p>
            <a:endParaRPr lang="it-IT"/>
          </a:p>
        </p:txBody>
      </p:sp>
      <p:sp>
        <p:nvSpPr>
          <p:cNvPr id="42" name="Text 40"/>
          <p:cNvSpPr/>
          <p:nvPr/>
        </p:nvSpPr>
        <p:spPr>
          <a:xfrm>
            <a:off x="3286354" y="4090416"/>
            <a:ext cx="5957316" cy="487680"/>
          </a:xfrm>
          <a:prstGeom prst="rect">
            <a:avLst/>
          </a:prstGeom>
          <a:noFill/>
          <a:ln/>
        </p:spPr>
        <p:txBody>
          <a:bodyPr wrap="square" lIns="254" tIns="254" rIns="254" bIns="254" rtlCol="0" anchor="ctr">
            <a:normAutofit/>
          </a:bodyPr>
          <a:lstStyle/>
          <a:p>
            <a:pPr marL="0" indent="0" algn="l">
              <a:buNone/>
            </a:pPr>
            <a:r>
              <a:rPr lang="en-US" sz="830" dirty="0">
                <a:solidFill>
                  <a:srgbClr val="5B6475"/>
                </a:solidFill>
                <a:latin typeface="Aptos" pitchFamily="34" charset="0"/>
                <a:ea typeface="Aptos" pitchFamily="34" charset="-122"/>
                <a:cs typeface="Aptos" pitchFamily="34" charset="-120"/>
              </a:rPr>
              <a:t>10–30 GB logs, 50–200 metrics, alarms, limited traces</a:t>
            </a:r>
            <a:endParaRPr lang="en-US" sz="830" dirty="0"/>
          </a:p>
        </p:txBody>
      </p:sp>
      <p:sp>
        <p:nvSpPr>
          <p:cNvPr id="43" name="Shape 41"/>
          <p:cNvSpPr/>
          <p:nvPr/>
        </p:nvSpPr>
        <p:spPr>
          <a:xfrm>
            <a:off x="9307678" y="4035552"/>
            <a:ext cx="2323490" cy="579120"/>
          </a:xfrm>
          <a:prstGeom prst="rect">
            <a:avLst/>
          </a:prstGeom>
          <a:solidFill>
            <a:srgbClr val="FFFFFF"/>
          </a:solidFill>
          <a:ln w="6350">
            <a:solidFill>
              <a:srgbClr val="D9E1EC"/>
            </a:solidFill>
            <a:prstDash val="solid"/>
          </a:ln>
        </p:spPr>
        <p:txBody>
          <a:bodyPr/>
          <a:lstStyle/>
          <a:p>
            <a:endParaRPr lang="it-IT"/>
          </a:p>
        </p:txBody>
      </p:sp>
      <p:sp>
        <p:nvSpPr>
          <p:cNvPr id="44" name="Text 42"/>
          <p:cNvSpPr/>
          <p:nvPr/>
        </p:nvSpPr>
        <p:spPr>
          <a:xfrm>
            <a:off x="9371686" y="4090416"/>
            <a:ext cx="2195474" cy="487680"/>
          </a:xfrm>
          <a:prstGeom prst="rect">
            <a:avLst/>
          </a:prstGeom>
          <a:noFill/>
          <a:ln/>
        </p:spPr>
        <p:txBody>
          <a:bodyPr wrap="square" lIns="254" tIns="254" rIns="254" bIns="254" rtlCol="0" anchor="ctr">
            <a:normAutofit/>
          </a:bodyPr>
          <a:lstStyle/>
          <a:p>
            <a:pPr marL="0" indent="0" algn="l">
              <a:buNone/>
            </a:pPr>
            <a:r>
              <a:rPr lang="en-US" sz="830" dirty="0">
                <a:solidFill>
                  <a:srgbClr val="5B6475"/>
                </a:solidFill>
                <a:latin typeface="Aptos" pitchFamily="34" charset="0"/>
                <a:ea typeface="Aptos" pitchFamily="34" charset="-122"/>
                <a:cs typeface="Aptos" pitchFamily="34" charset="-120"/>
              </a:rPr>
              <a:t>€30–90</a:t>
            </a:r>
            <a:endParaRPr lang="en-US" sz="830" dirty="0"/>
          </a:p>
        </p:txBody>
      </p:sp>
      <p:sp>
        <p:nvSpPr>
          <p:cNvPr id="45" name="Shape 43"/>
          <p:cNvSpPr/>
          <p:nvPr/>
        </p:nvSpPr>
        <p:spPr>
          <a:xfrm>
            <a:off x="566928" y="4614672"/>
            <a:ext cx="2655418" cy="579120"/>
          </a:xfrm>
          <a:prstGeom prst="rect">
            <a:avLst/>
          </a:prstGeom>
          <a:solidFill>
            <a:srgbClr val="F8FAFC"/>
          </a:solidFill>
          <a:ln w="6350">
            <a:solidFill>
              <a:srgbClr val="D9E1EC"/>
            </a:solidFill>
            <a:prstDash val="solid"/>
          </a:ln>
        </p:spPr>
        <p:txBody>
          <a:bodyPr/>
          <a:lstStyle/>
          <a:p>
            <a:endParaRPr lang="it-IT"/>
          </a:p>
        </p:txBody>
      </p:sp>
      <p:sp>
        <p:nvSpPr>
          <p:cNvPr id="46" name="Text 44"/>
          <p:cNvSpPr/>
          <p:nvPr/>
        </p:nvSpPr>
        <p:spPr>
          <a:xfrm>
            <a:off x="630936" y="4669536"/>
            <a:ext cx="2527402" cy="487680"/>
          </a:xfrm>
          <a:prstGeom prst="rect">
            <a:avLst/>
          </a:prstGeom>
          <a:noFill/>
          <a:ln/>
        </p:spPr>
        <p:txBody>
          <a:bodyPr wrap="square" lIns="254" tIns="254" rIns="254" bIns="254" rtlCol="0" anchor="ctr">
            <a:normAutofit/>
          </a:bodyPr>
          <a:lstStyle/>
          <a:p>
            <a:pPr marL="0" indent="0" algn="l">
              <a:buNone/>
            </a:pPr>
            <a:r>
              <a:rPr lang="en-US" sz="830" b="1" dirty="0">
                <a:solidFill>
                  <a:srgbClr val="07133D"/>
                </a:solidFill>
                <a:latin typeface="Aptos" pitchFamily="34" charset="0"/>
                <a:ea typeface="Aptos" pitchFamily="34" charset="-122"/>
                <a:cs typeface="Aptos" pitchFamily="34" charset="-120"/>
              </a:rPr>
              <a:t>Step Functions + other</a:t>
            </a:r>
            <a:endParaRPr lang="en-US" sz="830" dirty="0"/>
          </a:p>
        </p:txBody>
      </p:sp>
      <p:sp>
        <p:nvSpPr>
          <p:cNvPr id="47" name="Shape 45"/>
          <p:cNvSpPr/>
          <p:nvPr/>
        </p:nvSpPr>
        <p:spPr>
          <a:xfrm>
            <a:off x="3222346" y="4614672"/>
            <a:ext cx="6085332" cy="579120"/>
          </a:xfrm>
          <a:prstGeom prst="rect">
            <a:avLst/>
          </a:prstGeom>
          <a:solidFill>
            <a:srgbClr val="F8FAFC"/>
          </a:solidFill>
          <a:ln w="6350">
            <a:solidFill>
              <a:srgbClr val="D9E1EC"/>
            </a:solidFill>
            <a:prstDash val="solid"/>
          </a:ln>
        </p:spPr>
        <p:txBody>
          <a:bodyPr/>
          <a:lstStyle/>
          <a:p>
            <a:endParaRPr lang="it-IT"/>
          </a:p>
        </p:txBody>
      </p:sp>
      <p:sp>
        <p:nvSpPr>
          <p:cNvPr id="48" name="Text 46"/>
          <p:cNvSpPr/>
          <p:nvPr/>
        </p:nvSpPr>
        <p:spPr>
          <a:xfrm>
            <a:off x="3286354" y="4669536"/>
            <a:ext cx="5957316" cy="487680"/>
          </a:xfrm>
          <a:prstGeom prst="rect">
            <a:avLst/>
          </a:prstGeom>
          <a:noFill/>
          <a:ln/>
        </p:spPr>
        <p:txBody>
          <a:bodyPr wrap="square" lIns="254" tIns="254" rIns="254" bIns="254" rtlCol="0" anchor="ctr">
            <a:normAutofit/>
          </a:bodyPr>
          <a:lstStyle/>
          <a:p>
            <a:pPr marL="0" indent="0" algn="l">
              <a:buNone/>
            </a:pPr>
            <a:r>
              <a:rPr lang="en-US" sz="830" dirty="0">
                <a:solidFill>
                  <a:srgbClr val="5B6475"/>
                </a:solidFill>
                <a:latin typeface="Aptos" pitchFamily="34" charset="0"/>
                <a:ea typeface="Aptos" pitchFamily="34" charset="-122"/>
                <a:cs typeface="Aptos" pitchFamily="34" charset="-120"/>
              </a:rPr>
              <a:t>Illustrative transitions plus allowance for S3/SQS/ECR/KMS/DNS</a:t>
            </a:r>
            <a:endParaRPr lang="en-US" sz="830" dirty="0"/>
          </a:p>
        </p:txBody>
      </p:sp>
      <p:sp>
        <p:nvSpPr>
          <p:cNvPr id="49" name="Shape 47"/>
          <p:cNvSpPr/>
          <p:nvPr/>
        </p:nvSpPr>
        <p:spPr>
          <a:xfrm>
            <a:off x="9307678" y="4614672"/>
            <a:ext cx="2323490" cy="579120"/>
          </a:xfrm>
          <a:prstGeom prst="rect">
            <a:avLst/>
          </a:prstGeom>
          <a:solidFill>
            <a:srgbClr val="F8FAFC"/>
          </a:solidFill>
          <a:ln w="6350">
            <a:solidFill>
              <a:srgbClr val="D9E1EC"/>
            </a:solidFill>
            <a:prstDash val="solid"/>
          </a:ln>
        </p:spPr>
        <p:txBody>
          <a:bodyPr/>
          <a:lstStyle/>
          <a:p>
            <a:endParaRPr lang="it-IT"/>
          </a:p>
        </p:txBody>
      </p:sp>
      <p:sp>
        <p:nvSpPr>
          <p:cNvPr id="50" name="Text 48"/>
          <p:cNvSpPr/>
          <p:nvPr/>
        </p:nvSpPr>
        <p:spPr>
          <a:xfrm>
            <a:off x="9371686" y="4669536"/>
            <a:ext cx="2195474" cy="487680"/>
          </a:xfrm>
          <a:prstGeom prst="rect">
            <a:avLst/>
          </a:prstGeom>
          <a:noFill/>
          <a:ln/>
        </p:spPr>
        <p:txBody>
          <a:bodyPr wrap="square" lIns="254" tIns="254" rIns="254" bIns="254" rtlCol="0" anchor="ctr">
            <a:normAutofit/>
          </a:bodyPr>
          <a:lstStyle/>
          <a:p>
            <a:pPr marL="0" indent="0" algn="l">
              <a:buNone/>
            </a:pPr>
            <a:r>
              <a:rPr lang="en-US" sz="830" dirty="0">
                <a:solidFill>
                  <a:srgbClr val="5B6475"/>
                </a:solidFill>
                <a:latin typeface="Aptos" pitchFamily="34" charset="0"/>
                <a:ea typeface="Aptos" pitchFamily="34" charset="-122"/>
                <a:cs typeface="Aptos" pitchFamily="34" charset="-120"/>
              </a:rPr>
              <a:t>€20–52</a:t>
            </a:r>
            <a:endParaRPr lang="en-US" sz="830" dirty="0"/>
          </a:p>
        </p:txBody>
      </p:sp>
      <p:sp>
        <p:nvSpPr>
          <p:cNvPr id="51" name="Shape 49"/>
          <p:cNvSpPr/>
          <p:nvPr/>
        </p:nvSpPr>
        <p:spPr>
          <a:xfrm>
            <a:off x="713232" y="5440680"/>
            <a:ext cx="5166360" cy="502920"/>
          </a:xfrm>
          <a:prstGeom prst="roundRect">
            <a:avLst>
              <a:gd name="adj" fmla="val 14545"/>
            </a:avLst>
          </a:prstGeom>
          <a:solidFill>
            <a:srgbClr val="E8F7EE"/>
          </a:solidFill>
          <a:ln w="13970">
            <a:solidFill>
              <a:srgbClr val="0B9F63"/>
            </a:solidFill>
            <a:prstDash val="solid"/>
          </a:ln>
        </p:spPr>
        <p:txBody>
          <a:bodyPr/>
          <a:lstStyle/>
          <a:p>
            <a:endParaRPr lang="it-IT"/>
          </a:p>
        </p:txBody>
      </p:sp>
      <p:sp>
        <p:nvSpPr>
          <p:cNvPr id="52" name="Text 50"/>
          <p:cNvSpPr/>
          <p:nvPr/>
        </p:nvSpPr>
        <p:spPr>
          <a:xfrm>
            <a:off x="832104" y="5532120"/>
            <a:ext cx="4928616" cy="347472"/>
          </a:xfrm>
          <a:prstGeom prst="rect">
            <a:avLst/>
          </a:prstGeom>
          <a:noFill/>
          <a:ln/>
        </p:spPr>
        <p:txBody>
          <a:bodyPr wrap="square" lIns="254" tIns="254" rIns="254" bIns="254" rtlCol="0" anchor="ctr">
            <a:normAutofit/>
          </a:bodyPr>
          <a:lstStyle/>
          <a:p>
            <a:pPr marL="0" indent="0" algn="ctr">
              <a:buNone/>
            </a:pPr>
            <a:r>
              <a:rPr lang="en-US" sz="1050" dirty="0">
                <a:solidFill>
                  <a:srgbClr val="07133D"/>
                </a:solidFill>
                <a:latin typeface="Aptos" pitchFamily="34" charset="0"/>
                <a:ea typeface="Aptos" pitchFamily="34" charset="-122"/>
                <a:cs typeface="Aptos" pitchFamily="34" charset="-120"/>
              </a:rPr>
              <a:t>Rounded total: about €595–707/month; budget range: €700–850/month.</a:t>
            </a:r>
            <a:endParaRPr lang="en-US" sz="1050" dirty="0"/>
          </a:p>
        </p:txBody>
      </p:sp>
      <p:sp>
        <p:nvSpPr>
          <p:cNvPr id="53" name="Shape 51"/>
          <p:cNvSpPr/>
          <p:nvPr/>
        </p:nvSpPr>
        <p:spPr>
          <a:xfrm>
            <a:off x="6236208" y="5440680"/>
            <a:ext cx="5010912" cy="502920"/>
          </a:xfrm>
          <a:prstGeom prst="roundRect">
            <a:avLst>
              <a:gd name="adj" fmla="val 14545"/>
            </a:avLst>
          </a:prstGeom>
          <a:solidFill>
            <a:srgbClr val="FFF4E4"/>
          </a:solidFill>
          <a:ln w="13970">
            <a:solidFill>
              <a:srgbClr val="F28A00"/>
            </a:solidFill>
            <a:prstDash val="solid"/>
          </a:ln>
        </p:spPr>
        <p:txBody>
          <a:bodyPr/>
          <a:lstStyle/>
          <a:p>
            <a:endParaRPr lang="it-IT"/>
          </a:p>
        </p:txBody>
      </p:sp>
      <p:sp>
        <p:nvSpPr>
          <p:cNvPr id="54" name="Text 52"/>
          <p:cNvSpPr/>
          <p:nvPr/>
        </p:nvSpPr>
        <p:spPr>
          <a:xfrm>
            <a:off x="6355080" y="5532120"/>
            <a:ext cx="4773168" cy="347472"/>
          </a:xfrm>
          <a:prstGeom prst="rect">
            <a:avLst/>
          </a:prstGeom>
          <a:noFill/>
          <a:ln/>
        </p:spPr>
        <p:txBody>
          <a:bodyPr wrap="square" lIns="254" tIns="254" rIns="254" bIns="254" rtlCol="0" anchor="ctr">
            <a:normAutofit/>
          </a:bodyPr>
          <a:lstStyle/>
          <a:p>
            <a:pPr marL="0" indent="0" algn="ctr">
              <a:buNone/>
            </a:pPr>
            <a:r>
              <a:rPr lang="en-US" sz="1050" dirty="0">
                <a:solidFill>
                  <a:srgbClr val="07133D"/>
                </a:solidFill>
                <a:latin typeface="Aptos" pitchFamily="34" charset="0"/>
                <a:ea typeface="Aptos" pitchFamily="34" charset="-122"/>
                <a:cs typeface="Aptos" pitchFamily="34" charset="-120"/>
              </a:rPr>
              <a:t>Excludes VAT, paid support, non-prod, CI, identity / notifications, AI and business-provider fees.</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F28A00"/>
                </a:solidFill>
                <a:latin typeface="Aptos" pitchFamily="34" charset="0"/>
                <a:ea typeface="Aptos" pitchFamily="34" charset="-122"/>
                <a:cs typeface="Aptos" pitchFamily="34" charset="-120"/>
              </a:rPr>
              <a:t>BACKUP</a:t>
            </a:r>
            <a:endParaRPr lang="en-US" sz="780" dirty="0"/>
          </a:p>
        </p:txBody>
      </p:sp>
      <p:sp>
        <p:nvSpPr>
          <p:cNvPr id="3" name="Text 1"/>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Launch validation matrix</a:t>
            </a:r>
            <a:endParaRPr lang="en-US" sz="2750" dirty="0"/>
          </a:p>
        </p:txBody>
      </p:sp>
      <p:sp>
        <p:nvSpPr>
          <p:cNvPr id="4" name="Text 2"/>
          <p:cNvSpPr/>
          <p:nvPr/>
        </p:nvSpPr>
        <p:spPr>
          <a:xfrm>
            <a:off x="530352" y="896112"/>
            <a:ext cx="10789920" cy="210312"/>
          </a:xfrm>
          <a:prstGeom prst="rect">
            <a:avLst/>
          </a:prstGeom>
          <a:noFill/>
          <a:ln/>
        </p:spPr>
        <p:txBody>
          <a:bodyPr wrap="square" lIns="0" tIns="0" rIns="0" bIns="0" rtlCol="0" anchor="ctr"/>
          <a:lstStyle/>
          <a:p>
            <a:pPr marL="0" indent="0">
              <a:buNone/>
            </a:pPr>
            <a:r>
              <a:rPr lang="en-US" sz="1050" dirty="0">
                <a:solidFill>
                  <a:srgbClr val="5B6475"/>
                </a:solidFill>
              </a:rPr>
              <a:t>Backup D — evidence required before launch</a:t>
            </a:r>
            <a:endParaRPr lang="en-US" sz="1050" dirty="0"/>
          </a:p>
        </p:txBody>
      </p:sp>
      <p:sp>
        <p:nvSpPr>
          <p:cNvPr id="5" name="Shape 3"/>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6" name="Shape 4"/>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7" name="Text 5"/>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Backup D</a:t>
            </a:r>
            <a:endParaRPr lang="en-US" sz="850" dirty="0"/>
          </a:p>
        </p:txBody>
      </p:sp>
      <p:sp>
        <p:nvSpPr>
          <p:cNvPr id="8" name="Text 6"/>
          <p:cNvSpPr/>
          <p:nvPr/>
        </p:nvSpPr>
        <p:spPr>
          <a:xfrm>
            <a:off x="7818120" y="6519672"/>
            <a:ext cx="3840480" cy="201168"/>
          </a:xfrm>
          <a:prstGeom prst="rect">
            <a:avLst/>
          </a:prstGeom>
          <a:noFill/>
          <a:ln/>
        </p:spPr>
        <p:txBody>
          <a:bodyPr wrap="square" lIns="0" tIns="0" rIns="0" bIns="0" rtlCol="0" anchor="ctr"/>
          <a:lstStyle/>
          <a:p>
            <a:pPr marL="0" indent="0" algn="r">
              <a:buNone/>
            </a:pPr>
            <a:r>
              <a:rPr lang="en-US" sz="850" dirty="0">
                <a:solidFill>
                  <a:srgbClr val="7B8497"/>
                </a:solidFill>
              </a:rPr>
              <a:t>Durable journeys. Connected experiences.</a:t>
            </a:r>
            <a:endParaRPr lang="en-US" sz="850" dirty="0"/>
          </a:p>
        </p:txBody>
      </p:sp>
      <p:sp>
        <p:nvSpPr>
          <p:cNvPr id="9" name="Shape 7"/>
          <p:cNvSpPr/>
          <p:nvPr/>
        </p:nvSpPr>
        <p:spPr>
          <a:xfrm>
            <a:off x="594360" y="1353312"/>
            <a:ext cx="2418039" cy="347472"/>
          </a:xfrm>
          <a:prstGeom prst="rect">
            <a:avLst/>
          </a:prstGeom>
          <a:solidFill>
            <a:srgbClr val="07133D"/>
          </a:solidFill>
          <a:ln w="6350">
            <a:solidFill>
              <a:srgbClr val="FFFFFF"/>
            </a:solidFill>
            <a:prstDash val="solid"/>
          </a:ln>
        </p:spPr>
        <p:txBody>
          <a:bodyPr/>
          <a:lstStyle/>
          <a:p>
            <a:endParaRPr lang="it-IT"/>
          </a:p>
        </p:txBody>
      </p:sp>
      <p:sp>
        <p:nvSpPr>
          <p:cNvPr id="10" name="Text 8"/>
          <p:cNvSpPr/>
          <p:nvPr/>
        </p:nvSpPr>
        <p:spPr>
          <a:xfrm>
            <a:off x="658368" y="1440180"/>
            <a:ext cx="2290023" cy="246888"/>
          </a:xfrm>
          <a:prstGeom prst="rect">
            <a:avLst/>
          </a:prstGeom>
          <a:noFill/>
          <a:ln/>
        </p:spPr>
        <p:txBody>
          <a:bodyPr wrap="square" lIns="254" tIns="254" rIns="254" bIns="254" rtlCol="0" anchor="ctr">
            <a:normAutofit/>
          </a:bodyPr>
          <a:lstStyle/>
          <a:p>
            <a:pPr marL="0" indent="0" algn="l">
              <a:buNone/>
            </a:pPr>
            <a:r>
              <a:rPr lang="en-US" sz="950" b="1" dirty="0">
                <a:solidFill>
                  <a:srgbClr val="FFFFFF"/>
                </a:solidFill>
                <a:latin typeface="Aptos" pitchFamily="34" charset="0"/>
                <a:ea typeface="Aptos" pitchFamily="34" charset="-122"/>
                <a:cs typeface="Aptos" pitchFamily="34" charset="-120"/>
              </a:rPr>
              <a:t>Area</a:t>
            </a:r>
            <a:endParaRPr lang="en-US" sz="950" dirty="0"/>
          </a:p>
        </p:txBody>
      </p:sp>
      <p:sp>
        <p:nvSpPr>
          <p:cNvPr id="11" name="Shape 9"/>
          <p:cNvSpPr/>
          <p:nvPr/>
        </p:nvSpPr>
        <p:spPr>
          <a:xfrm>
            <a:off x="3012399" y="1353312"/>
            <a:ext cx="6155009" cy="347472"/>
          </a:xfrm>
          <a:prstGeom prst="rect">
            <a:avLst/>
          </a:prstGeom>
          <a:solidFill>
            <a:srgbClr val="07133D"/>
          </a:solidFill>
          <a:ln w="6350">
            <a:solidFill>
              <a:srgbClr val="FFFFFF"/>
            </a:solidFill>
            <a:prstDash val="solid"/>
          </a:ln>
        </p:spPr>
        <p:txBody>
          <a:bodyPr/>
          <a:lstStyle/>
          <a:p>
            <a:endParaRPr lang="it-IT"/>
          </a:p>
        </p:txBody>
      </p:sp>
      <p:sp>
        <p:nvSpPr>
          <p:cNvPr id="12" name="Text 10"/>
          <p:cNvSpPr/>
          <p:nvPr/>
        </p:nvSpPr>
        <p:spPr>
          <a:xfrm>
            <a:off x="3076407" y="1440180"/>
            <a:ext cx="6026993" cy="246888"/>
          </a:xfrm>
          <a:prstGeom prst="rect">
            <a:avLst/>
          </a:prstGeom>
          <a:noFill/>
          <a:ln/>
        </p:spPr>
        <p:txBody>
          <a:bodyPr wrap="square" lIns="254" tIns="254" rIns="254" bIns="254" rtlCol="0" anchor="ctr">
            <a:normAutofit/>
          </a:bodyPr>
          <a:lstStyle/>
          <a:p>
            <a:pPr marL="0" indent="0" algn="l">
              <a:buNone/>
            </a:pPr>
            <a:r>
              <a:rPr lang="en-US" sz="950" b="1" dirty="0">
                <a:solidFill>
                  <a:srgbClr val="FFFFFF"/>
                </a:solidFill>
                <a:latin typeface="Aptos" pitchFamily="34" charset="0"/>
                <a:ea typeface="Aptos" pitchFamily="34" charset="-122"/>
                <a:cs typeface="Aptos" pitchFamily="34" charset="-120"/>
              </a:rPr>
              <a:t>Evidence required before launch</a:t>
            </a:r>
            <a:endParaRPr lang="en-US" sz="950" dirty="0"/>
          </a:p>
        </p:txBody>
      </p:sp>
      <p:sp>
        <p:nvSpPr>
          <p:cNvPr id="13" name="Shape 11"/>
          <p:cNvSpPr/>
          <p:nvPr/>
        </p:nvSpPr>
        <p:spPr>
          <a:xfrm>
            <a:off x="9167409" y="1353312"/>
            <a:ext cx="2418039" cy="347472"/>
          </a:xfrm>
          <a:prstGeom prst="rect">
            <a:avLst/>
          </a:prstGeom>
          <a:solidFill>
            <a:srgbClr val="07133D"/>
          </a:solidFill>
          <a:ln w="6350">
            <a:solidFill>
              <a:srgbClr val="FFFFFF"/>
            </a:solidFill>
            <a:prstDash val="solid"/>
          </a:ln>
        </p:spPr>
        <p:txBody>
          <a:bodyPr/>
          <a:lstStyle/>
          <a:p>
            <a:endParaRPr lang="it-IT"/>
          </a:p>
        </p:txBody>
      </p:sp>
      <p:sp>
        <p:nvSpPr>
          <p:cNvPr id="14" name="Text 12"/>
          <p:cNvSpPr/>
          <p:nvPr/>
        </p:nvSpPr>
        <p:spPr>
          <a:xfrm>
            <a:off x="9231417" y="1440180"/>
            <a:ext cx="2290023" cy="246888"/>
          </a:xfrm>
          <a:prstGeom prst="rect">
            <a:avLst/>
          </a:prstGeom>
          <a:noFill/>
          <a:ln/>
        </p:spPr>
        <p:txBody>
          <a:bodyPr wrap="square" lIns="254" tIns="254" rIns="254" bIns="254" rtlCol="0" anchor="ctr">
            <a:normAutofit/>
          </a:bodyPr>
          <a:lstStyle/>
          <a:p>
            <a:pPr marL="0" indent="0" algn="l">
              <a:buNone/>
            </a:pPr>
            <a:r>
              <a:rPr lang="en-US" sz="950" b="1" dirty="0">
                <a:solidFill>
                  <a:srgbClr val="FFFFFF"/>
                </a:solidFill>
                <a:latin typeface="Aptos" pitchFamily="34" charset="0"/>
                <a:ea typeface="Aptos" pitchFamily="34" charset="-122"/>
                <a:cs typeface="Aptos" pitchFamily="34" charset="-120"/>
              </a:rPr>
              <a:t>Owner focus</a:t>
            </a:r>
            <a:endParaRPr lang="en-US" sz="950" dirty="0"/>
          </a:p>
        </p:txBody>
      </p:sp>
      <p:sp>
        <p:nvSpPr>
          <p:cNvPr id="15" name="Shape 13"/>
          <p:cNvSpPr/>
          <p:nvPr/>
        </p:nvSpPr>
        <p:spPr>
          <a:xfrm>
            <a:off x="594360" y="1700784"/>
            <a:ext cx="2418039" cy="835762"/>
          </a:xfrm>
          <a:prstGeom prst="rect">
            <a:avLst/>
          </a:prstGeom>
          <a:solidFill>
            <a:srgbClr val="FFFFFF"/>
          </a:solidFill>
          <a:ln w="6350">
            <a:solidFill>
              <a:srgbClr val="D9E1EC"/>
            </a:solidFill>
            <a:prstDash val="solid"/>
          </a:ln>
        </p:spPr>
        <p:txBody>
          <a:bodyPr/>
          <a:lstStyle/>
          <a:p>
            <a:endParaRPr lang="it-IT"/>
          </a:p>
        </p:txBody>
      </p:sp>
      <p:sp>
        <p:nvSpPr>
          <p:cNvPr id="16" name="Text 14"/>
          <p:cNvSpPr/>
          <p:nvPr/>
        </p:nvSpPr>
        <p:spPr>
          <a:xfrm>
            <a:off x="658368" y="1755648"/>
            <a:ext cx="2290023" cy="744322"/>
          </a:xfrm>
          <a:prstGeom prst="rect">
            <a:avLst/>
          </a:prstGeom>
          <a:noFill/>
          <a:ln/>
        </p:spPr>
        <p:txBody>
          <a:bodyPr wrap="square" lIns="254" tIns="254" rIns="254" bIns="254" rtlCol="0" anchor="ctr">
            <a:normAutofit/>
          </a:bodyPr>
          <a:lstStyle/>
          <a:p>
            <a:pPr marL="0" indent="0" algn="l">
              <a:buNone/>
            </a:pPr>
            <a:r>
              <a:rPr lang="en-US" sz="870" b="1" dirty="0">
                <a:solidFill>
                  <a:srgbClr val="07133D"/>
                </a:solidFill>
                <a:latin typeface="Aptos" pitchFamily="34" charset="0"/>
                <a:ea typeface="Aptos" pitchFamily="34" charset="-122"/>
                <a:cs typeface="Aptos" pitchFamily="34" charset="-120"/>
              </a:rPr>
              <a:t>Journey continuity</a:t>
            </a:r>
            <a:endParaRPr lang="en-US" sz="870" dirty="0"/>
          </a:p>
        </p:txBody>
      </p:sp>
      <p:sp>
        <p:nvSpPr>
          <p:cNvPr id="17" name="Shape 15"/>
          <p:cNvSpPr/>
          <p:nvPr/>
        </p:nvSpPr>
        <p:spPr>
          <a:xfrm>
            <a:off x="3012399" y="1700784"/>
            <a:ext cx="6155009" cy="835762"/>
          </a:xfrm>
          <a:prstGeom prst="rect">
            <a:avLst/>
          </a:prstGeom>
          <a:solidFill>
            <a:srgbClr val="FFFFFF"/>
          </a:solidFill>
          <a:ln w="6350">
            <a:solidFill>
              <a:srgbClr val="D9E1EC"/>
            </a:solidFill>
            <a:prstDash val="solid"/>
          </a:ln>
        </p:spPr>
        <p:txBody>
          <a:bodyPr/>
          <a:lstStyle/>
          <a:p>
            <a:endParaRPr lang="it-IT"/>
          </a:p>
        </p:txBody>
      </p:sp>
      <p:sp>
        <p:nvSpPr>
          <p:cNvPr id="18" name="Text 16"/>
          <p:cNvSpPr/>
          <p:nvPr/>
        </p:nvSpPr>
        <p:spPr>
          <a:xfrm>
            <a:off x="3076407" y="1755648"/>
            <a:ext cx="6026993" cy="744322"/>
          </a:xfrm>
          <a:prstGeom prst="rect">
            <a:avLst/>
          </a:prstGeom>
          <a:noFill/>
          <a:ln/>
        </p:spPr>
        <p:txBody>
          <a:bodyPr wrap="square" lIns="254" tIns="254" rIns="254" bIns="254" rtlCol="0" anchor="ctr">
            <a:normAutofit/>
          </a:bodyPr>
          <a:lstStyle/>
          <a:p>
            <a:pPr marL="0" indent="0" algn="l">
              <a:buNone/>
            </a:pPr>
            <a:r>
              <a:rPr lang="en-US" sz="870" dirty="0">
                <a:solidFill>
                  <a:srgbClr val="5B6475"/>
                </a:solidFill>
                <a:latin typeface="Aptos" pitchFamily="34" charset="0"/>
                <a:ea typeface="Aptos" pitchFamily="34" charset="-122"/>
                <a:cs typeface="Aptos" pitchFamily="34" charset="-120"/>
              </a:rPr>
              <a:t>Disconnects, restarts and long waits preserve conversation and pending actions; interrupted responses recover.</a:t>
            </a:r>
            <a:endParaRPr lang="en-US" sz="870" dirty="0"/>
          </a:p>
        </p:txBody>
      </p:sp>
      <p:sp>
        <p:nvSpPr>
          <p:cNvPr id="19" name="Shape 17"/>
          <p:cNvSpPr/>
          <p:nvPr/>
        </p:nvSpPr>
        <p:spPr>
          <a:xfrm>
            <a:off x="9167409" y="1700784"/>
            <a:ext cx="2418039" cy="835762"/>
          </a:xfrm>
          <a:prstGeom prst="rect">
            <a:avLst/>
          </a:prstGeom>
          <a:solidFill>
            <a:srgbClr val="FFFFFF"/>
          </a:solidFill>
          <a:ln w="6350">
            <a:solidFill>
              <a:srgbClr val="D9E1EC"/>
            </a:solidFill>
            <a:prstDash val="solid"/>
          </a:ln>
        </p:spPr>
        <p:txBody>
          <a:bodyPr/>
          <a:lstStyle/>
          <a:p>
            <a:endParaRPr lang="it-IT"/>
          </a:p>
        </p:txBody>
      </p:sp>
      <p:sp>
        <p:nvSpPr>
          <p:cNvPr id="20" name="Text 18"/>
          <p:cNvSpPr/>
          <p:nvPr/>
        </p:nvSpPr>
        <p:spPr>
          <a:xfrm>
            <a:off x="9231417" y="1755648"/>
            <a:ext cx="2290023" cy="744322"/>
          </a:xfrm>
          <a:prstGeom prst="rect">
            <a:avLst/>
          </a:prstGeom>
          <a:noFill/>
          <a:ln/>
        </p:spPr>
        <p:txBody>
          <a:bodyPr wrap="square" lIns="254" tIns="254" rIns="254" bIns="254" rtlCol="0" anchor="ctr">
            <a:normAutofit/>
          </a:bodyPr>
          <a:lstStyle/>
          <a:p>
            <a:pPr marL="0" indent="0" algn="l">
              <a:buNone/>
            </a:pPr>
            <a:r>
              <a:rPr lang="en-US" sz="870" dirty="0">
                <a:solidFill>
                  <a:srgbClr val="5B6475"/>
                </a:solidFill>
                <a:latin typeface="Aptos" pitchFamily="34" charset="0"/>
                <a:ea typeface="Aptos" pitchFamily="34" charset="-122"/>
                <a:cs typeface="Aptos" pitchFamily="34" charset="-120"/>
              </a:rPr>
              <a:t>Platform + AI</a:t>
            </a:r>
            <a:endParaRPr lang="en-US" sz="870" dirty="0"/>
          </a:p>
        </p:txBody>
      </p:sp>
      <p:sp>
        <p:nvSpPr>
          <p:cNvPr id="21" name="Shape 19"/>
          <p:cNvSpPr/>
          <p:nvPr/>
        </p:nvSpPr>
        <p:spPr>
          <a:xfrm>
            <a:off x="594360" y="2536546"/>
            <a:ext cx="2418039" cy="835762"/>
          </a:xfrm>
          <a:prstGeom prst="rect">
            <a:avLst/>
          </a:prstGeom>
          <a:solidFill>
            <a:srgbClr val="F8FAFC"/>
          </a:solidFill>
          <a:ln w="6350">
            <a:solidFill>
              <a:srgbClr val="D9E1EC"/>
            </a:solidFill>
            <a:prstDash val="solid"/>
          </a:ln>
        </p:spPr>
        <p:txBody>
          <a:bodyPr/>
          <a:lstStyle/>
          <a:p>
            <a:endParaRPr lang="it-IT"/>
          </a:p>
        </p:txBody>
      </p:sp>
      <p:sp>
        <p:nvSpPr>
          <p:cNvPr id="22" name="Text 20"/>
          <p:cNvSpPr/>
          <p:nvPr/>
        </p:nvSpPr>
        <p:spPr>
          <a:xfrm>
            <a:off x="658368" y="2591410"/>
            <a:ext cx="2290023" cy="744322"/>
          </a:xfrm>
          <a:prstGeom prst="rect">
            <a:avLst/>
          </a:prstGeom>
          <a:noFill/>
          <a:ln/>
        </p:spPr>
        <p:txBody>
          <a:bodyPr wrap="square" lIns="254" tIns="254" rIns="254" bIns="254" rtlCol="0" anchor="ctr">
            <a:normAutofit/>
          </a:bodyPr>
          <a:lstStyle/>
          <a:p>
            <a:pPr marL="0" indent="0" algn="l">
              <a:buNone/>
            </a:pPr>
            <a:r>
              <a:rPr lang="en-US" sz="870" b="1" dirty="0">
                <a:solidFill>
                  <a:srgbClr val="07133D"/>
                </a:solidFill>
                <a:latin typeface="Aptos" pitchFamily="34" charset="0"/>
                <a:ea typeface="Aptos" pitchFamily="34" charset="-122"/>
                <a:cs typeface="Aptos" pitchFamily="34" charset="-120"/>
              </a:rPr>
              <a:t>Safe external actions</a:t>
            </a:r>
            <a:endParaRPr lang="en-US" sz="870" dirty="0"/>
          </a:p>
        </p:txBody>
      </p:sp>
      <p:sp>
        <p:nvSpPr>
          <p:cNvPr id="23" name="Shape 21"/>
          <p:cNvSpPr/>
          <p:nvPr/>
        </p:nvSpPr>
        <p:spPr>
          <a:xfrm>
            <a:off x="3012399" y="2536546"/>
            <a:ext cx="6155009" cy="835762"/>
          </a:xfrm>
          <a:prstGeom prst="rect">
            <a:avLst/>
          </a:prstGeom>
          <a:solidFill>
            <a:srgbClr val="F8FAFC"/>
          </a:solidFill>
          <a:ln w="6350">
            <a:solidFill>
              <a:srgbClr val="D9E1EC"/>
            </a:solidFill>
            <a:prstDash val="solid"/>
          </a:ln>
        </p:spPr>
        <p:txBody>
          <a:bodyPr/>
          <a:lstStyle/>
          <a:p>
            <a:endParaRPr lang="it-IT"/>
          </a:p>
        </p:txBody>
      </p:sp>
      <p:sp>
        <p:nvSpPr>
          <p:cNvPr id="24" name="Text 22"/>
          <p:cNvSpPr/>
          <p:nvPr/>
        </p:nvSpPr>
        <p:spPr>
          <a:xfrm>
            <a:off x="3076407" y="2591410"/>
            <a:ext cx="6026993" cy="744322"/>
          </a:xfrm>
          <a:prstGeom prst="rect">
            <a:avLst/>
          </a:prstGeom>
          <a:noFill/>
          <a:ln/>
        </p:spPr>
        <p:txBody>
          <a:bodyPr wrap="square" lIns="254" tIns="254" rIns="254" bIns="254" rtlCol="0" anchor="ctr">
            <a:normAutofit/>
          </a:bodyPr>
          <a:lstStyle/>
          <a:p>
            <a:pPr marL="0" indent="0" algn="l">
              <a:buNone/>
            </a:pPr>
            <a:r>
              <a:rPr lang="en-US" sz="870" dirty="0">
                <a:solidFill>
                  <a:srgbClr val="5B6475"/>
                </a:solidFill>
                <a:latin typeface="Aptos" pitchFamily="34" charset="0"/>
                <a:ea typeface="Aptos" pitchFamily="34" charset="-122"/>
                <a:cs typeface="Aptos" pitchFamily="34" charset="-120"/>
              </a:rPr>
              <a:t>Payment crash example, duplicate/early/late events, lost callbacks, provider outages; no duplicate charge/shipment.</a:t>
            </a:r>
            <a:endParaRPr lang="en-US" sz="870" dirty="0"/>
          </a:p>
        </p:txBody>
      </p:sp>
      <p:sp>
        <p:nvSpPr>
          <p:cNvPr id="25" name="Shape 23"/>
          <p:cNvSpPr/>
          <p:nvPr/>
        </p:nvSpPr>
        <p:spPr>
          <a:xfrm>
            <a:off x="9167409" y="2536546"/>
            <a:ext cx="2418039" cy="835762"/>
          </a:xfrm>
          <a:prstGeom prst="rect">
            <a:avLst/>
          </a:prstGeom>
          <a:solidFill>
            <a:srgbClr val="F8FAFC"/>
          </a:solidFill>
          <a:ln w="6350">
            <a:solidFill>
              <a:srgbClr val="D9E1EC"/>
            </a:solidFill>
            <a:prstDash val="solid"/>
          </a:ln>
        </p:spPr>
        <p:txBody>
          <a:bodyPr/>
          <a:lstStyle/>
          <a:p>
            <a:endParaRPr lang="it-IT"/>
          </a:p>
        </p:txBody>
      </p:sp>
      <p:sp>
        <p:nvSpPr>
          <p:cNvPr id="26" name="Text 24"/>
          <p:cNvSpPr/>
          <p:nvPr/>
        </p:nvSpPr>
        <p:spPr>
          <a:xfrm>
            <a:off x="9231417" y="2591410"/>
            <a:ext cx="2290023" cy="744322"/>
          </a:xfrm>
          <a:prstGeom prst="rect">
            <a:avLst/>
          </a:prstGeom>
          <a:noFill/>
          <a:ln/>
        </p:spPr>
        <p:txBody>
          <a:bodyPr wrap="square" lIns="254" tIns="254" rIns="254" bIns="254" rtlCol="0" anchor="ctr">
            <a:normAutofit/>
          </a:bodyPr>
          <a:lstStyle/>
          <a:p>
            <a:pPr marL="0" indent="0" algn="l">
              <a:buNone/>
            </a:pPr>
            <a:r>
              <a:rPr lang="en-US" sz="870" dirty="0">
                <a:solidFill>
                  <a:srgbClr val="5B6475"/>
                </a:solidFill>
                <a:latin typeface="Aptos" pitchFamily="34" charset="0"/>
                <a:ea typeface="Aptos" pitchFamily="34" charset="-122"/>
                <a:cs typeface="Aptos" pitchFamily="34" charset="-120"/>
              </a:rPr>
              <a:t>AI + Business</a:t>
            </a:r>
            <a:endParaRPr lang="en-US" sz="870" dirty="0"/>
          </a:p>
        </p:txBody>
      </p:sp>
      <p:sp>
        <p:nvSpPr>
          <p:cNvPr id="27" name="Shape 25"/>
          <p:cNvSpPr/>
          <p:nvPr/>
        </p:nvSpPr>
        <p:spPr>
          <a:xfrm>
            <a:off x="594360" y="3372307"/>
            <a:ext cx="2418039" cy="835762"/>
          </a:xfrm>
          <a:prstGeom prst="rect">
            <a:avLst/>
          </a:prstGeom>
          <a:solidFill>
            <a:srgbClr val="FFFFFF"/>
          </a:solidFill>
          <a:ln w="6350">
            <a:solidFill>
              <a:srgbClr val="D9E1EC"/>
            </a:solidFill>
            <a:prstDash val="solid"/>
          </a:ln>
        </p:spPr>
        <p:txBody>
          <a:bodyPr/>
          <a:lstStyle/>
          <a:p>
            <a:endParaRPr lang="it-IT"/>
          </a:p>
        </p:txBody>
      </p:sp>
      <p:sp>
        <p:nvSpPr>
          <p:cNvPr id="28" name="Text 26"/>
          <p:cNvSpPr/>
          <p:nvPr/>
        </p:nvSpPr>
        <p:spPr>
          <a:xfrm>
            <a:off x="658368" y="3427171"/>
            <a:ext cx="2290023" cy="744322"/>
          </a:xfrm>
          <a:prstGeom prst="rect">
            <a:avLst/>
          </a:prstGeom>
          <a:noFill/>
          <a:ln/>
        </p:spPr>
        <p:txBody>
          <a:bodyPr wrap="square" lIns="254" tIns="254" rIns="254" bIns="254" rtlCol="0" anchor="ctr">
            <a:normAutofit/>
          </a:bodyPr>
          <a:lstStyle/>
          <a:p>
            <a:pPr marL="0" indent="0" algn="l">
              <a:buNone/>
            </a:pPr>
            <a:r>
              <a:rPr lang="en-US" sz="870" b="1" dirty="0">
                <a:solidFill>
                  <a:srgbClr val="07133D"/>
                </a:solidFill>
                <a:latin typeface="Aptos" pitchFamily="34" charset="0"/>
                <a:ea typeface="Aptos" pitchFamily="34" charset="-122"/>
                <a:cs typeface="Aptos" pitchFamily="34" charset="-120"/>
              </a:rPr>
              <a:t>Deployment compatibility</a:t>
            </a:r>
            <a:endParaRPr lang="en-US" sz="870" dirty="0"/>
          </a:p>
        </p:txBody>
      </p:sp>
      <p:sp>
        <p:nvSpPr>
          <p:cNvPr id="29" name="Shape 27"/>
          <p:cNvSpPr/>
          <p:nvPr/>
        </p:nvSpPr>
        <p:spPr>
          <a:xfrm>
            <a:off x="3012399" y="3372307"/>
            <a:ext cx="6155009" cy="835762"/>
          </a:xfrm>
          <a:prstGeom prst="rect">
            <a:avLst/>
          </a:prstGeom>
          <a:solidFill>
            <a:srgbClr val="FFFFFF"/>
          </a:solidFill>
          <a:ln w="6350">
            <a:solidFill>
              <a:srgbClr val="D9E1EC"/>
            </a:solidFill>
            <a:prstDash val="solid"/>
          </a:ln>
        </p:spPr>
        <p:txBody>
          <a:bodyPr/>
          <a:lstStyle/>
          <a:p>
            <a:endParaRPr lang="it-IT"/>
          </a:p>
        </p:txBody>
      </p:sp>
      <p:sp>
        <p:nvSpPr>
          <p:cNvPr id="30" name="Text 28"/>
          <p:cNvSpPr/>
          <p:nvPr/>
        </p:nvSpPr>
        <p:spPr>
          <a:xfrm>
            <a:off x="3076407" y="3427171"/>
            <a:ext cx="6026993" cy="744322"/>
          </a:xfrm>
          <a:prstGeom prst="rect">
            <a:avLst/>
          </a:prstGeom>
          <a:noFill/>
          <a:ln/>
        </p:spPr>
        <p:txBody>
          <a:bodyPr wrap="square" lIns="254" tIns="254" rIns="254" bIns="254" rtlCol="0" anchor="ctr">
            <a:normAutofit/>
          </a:bodyPr>
          <a:lstStyle/>
          <a:p>
            <a:pPr marL="0" indent="0" algn="l">
              <a:buNone/>
            </a:pPr>
            <a:r>
              <a:rPr lang="en-US" sz="870" dirty="0">
                <a:solidFill>
                  <a:srgbClr val="5B6475"/>
                </a:solidFill>
                <a:latin typeface="Aptos" pitchFamily="34" charset="0"/>
                <a:ea typeface="Aptos" pitchFamily="34" charset="-122"/>
                <a:cs typeface="Aptos" pitchFamily="34" charset="-120"/>
              </a:rPr>
              <a:t>Old waiting journey resumes across workflow, worker and schema updates, including rollback.</a:t>
            </a:r>
            <a:endParaRPr lang="en-US" sz="870" dirty="0"/>
          </a:p>
        </p:txBody>
      </p:sp>
      <p:sp>
        <p:nvSpPr>
          <p:cNvPr id="31" name="Shape 29"/>
          <p:cNvSpPr/>
          <p:nvPr/>
        </p:nvSpPr>
        <p:spPr>
          <a:xfrm>
            <a:off x="9167409" y="3372307"/>
            <a:ext cx="2418039" cy="835762"/>
          </a:xfrm>
          <a:prstGeom prst="rect">
            <a:avLst/>
          </a:prstGeom>
          <a:solidFill>
            <a:srgbClr val="FFFFFF"/>
          </a:solidFill>
          <a:ln w="6350">
            <a:solidFill>
              <a:srgbClr val="D9E1EC"/>
            </a:solidFill>
            <a:prstDash val="solid"/>
          </a:ln>
        </p:spPr>
        <p:txBody>
          <a:bodyPr/>
          <a:lstStyle/>
          <a:p>
            <a:endParaRPr lang="it-IT"/>
          </a:p>
        </p:txBody>
      </p:sp>
      <p:sp>
        <p:nvSpPr>
          <p:cNvPr id="32" name="Text 30"/>
          <p:cNvSpPr/>
          <p:nvPr/>
        </p:nvSpPr>
        <p:spPr>
          <a:xfrm>
            <a:off x="9231417" y="3427171"/>
            <a:ext cx="2290023" cy="744322"/>
          </a:xfrm>
          <a:prstGeom prst="rect">
            <a:avLst/>
          </a:prstGeom>
          <a:noFill/>
          <a:ln/>
        </p:spPr>
        <p:txBody>
          <a:bodyPr wrap="square" lIns="254" tIns="254" rIns="254" bIns="254" rtlCol="0" anchor="ctr">
            <a:normAutofit/>
          </a:bodyPr>
          <a:lstStyle/>
          <a:p>
            <a:pPr marL="0" indent="0" algn="l">
              <a:buNone/>
            </a:pPr>
            <a:r>
              <a:rPr lang="en-US" sz="870" dirty="0">
                <a:solidFill>
                  <a:srgbClr val="5B6475"/>
                </a:solidFill>
                <a:latin typeface="Aptos" pitchFamily="34" charset="0"/>
                <a:ea typeface="Aptos" pitchFamily="34" charset="-122"/>
                <a:cs typeface="Aptos" pitchFamily="34" charset="-120"/>
              </a:rPr>
              <a:t>Platform + AI</a:t>
            </a:r>
            <a:endParaRPr lang="en-US" sz="870" dirty="0"/>
          </a:p>
        </p:txBody>
      </p:sp>
      <p:sp>
        <p:nvSpPr>
          <p:cNvPr id="33" name="Shape 31"/>
          <p:cNvSpPr/>
          <p:nvPr/>
        </p:nvSpPr>
        <p:spPr>
          <a:xfrm>
            <a:off x="594360" y="4208069"/>
            <a:ext cx="2418039" cy="835762"/>
          </a:xfrm>
          <a:prstGeom prst="rect">
            <a:avLst/>
          </a:prstGeom>
          <a:solidFill>
            <a:srgbClr val="F8FAFC"/>
          </a:solidFill>
          <a:ln w="6350">
            <a:solidFill>
              <a:srgbClr val="D9E1EC"/>
            </a:solidFill>
            <a:prstDash val="solid"/>
          </a:ln>
        </p:spPr>
        <p:txBody>
          <a:bodyPr/>
          <a:lstStyle/>
          <a:p>
            <a:endParaRPr lang="it-IT"/>
          </a:p>
        </p:txBody>
      </p:sp>
      <p:sp>
        <p:nvSpPr>
          <p:cNvPr id="34" name="Text 32"/>
          <p:cNvSpPr/>
          <p:nvPr/>
        </p:nvSpPr>
        <p:spPr>
          <a:xfrm>
            <a:off x="658368" y="4262933"/>
            <a:ext cx="2290023" cy="744322"/>
          </a:xfrm>
          <a:prstGeom prst="rect">
            <a:avLst/>
          </a:prstGeom>
          <a:noFill/>
          <a:ln/>
        </p:spPr>
        <p:txBody>
          <a:bodyPr wrap="square" lIns="254" tIns="254" rIns="254" bIns="254" rtlCol="0" anchor="ctr">
            <a:normAutofit/>
          </a:bodyPr>
          <a:lstStyle/>
          <a:p>
            <a:pPr marL="0" indent="0" algn="l">
              <a:buNone/>
            </a:pPr>
            <a:r>
              <a:rPr lang="en-US" sz="870" b="1" dirty="0">
                <a:solidFill>
                  <a:srgbClr val="07133D"/>
                </a:solidFill>
                <a:latin typeface="Aptos" pitchFamily="34" charset="0"/>
                <a:ea typeface="Aptos" pitchFamily="34" charset="-122"/>
                <a:cs typeface="Aptos" pitchFamily="34" charset="-120"/>
              </a:rPr>
              <a:t>Recovery</a:t>
            </a:r>
            <a:endParaRPr lang="en-US" sz="870" dirty="0"/>
          </a:p>
        </p:txBody>
      </p:sp>
      <p:sp>
        <p:nvSpPr>
          <p:cNvPr id="35" name="Shape 33"/>
          <p:cNvSpPr/>
          <p:nvPr/>
        </p:nvSpPr>
        <p:spPr>
          <a:xfrm>
            <a:off x="3012399" y="4208069"/>
            <a:ext cx="6155009" cy="835762"/>
          </a:xfrm>
          <a:prstGeom prst="rect">
            <a:avLst/>
          </a:prstGeom>
          <a:solidFill>
            <a:srgbClr val="F8FAFC"/>
          </a:solidFill>
          <a:ln w="6350">
            <a:solidFill>
              <a:srgbClr val="D9E1EC"/>
            </a:solidFill>
            <a:prstDash val="solid"/>
          </a:ln>
        </p:spPr>
        <p:txBody>
          <a:bodyPr/>
          <a:lstStyle/>
          <a:p>
            <a:endParaRPr lang="it-IT"/>
          </a:p>
        </p:txBody>
      </p:sp>
      <p:sp>
        <p:nvSpPr>
          <p:cNvPr id="36" name="Text 34"/>
          <p:cNvSpPr/>
          <p:nvPr/>
        </p:nvSpPr>
        <p:spPr>
          <a:xfrm>
            <a:off x="3076407" y="4262933"/>
            <a:ext cx="6026993" cy="744322"/>
          </a:xfrm>
          <a:prstGeom prst="rect">
            <a:avLst/>
          </a:prstGeom>
          <a:noFill/>
          <a:ln/>
        </p:spPr>
        <p:txBody>
          <a:bodyPr wrap="square" lIns="254" tIns="254" rIns="254" bIns="254" rtlCol="0" anchor="ctr">
            <a:normAutofit/>
          </a:bodyPr>
          <a:lstStyle/>
          <a:p>
            <a:pPr marL="0" indent="0" algn="l">
              <a:buNone/>
            </a:pPr>
            <a:r>
              <a:rPr lang="en-US" sz="870" dirty="0">
                <a:solidFill>
                  <a:srgbClr val="5B6475"/>
                </a:solidFill>
                <a:latin typeface="Aptos" pitchFamily="34" charset="0"/>
                <a:ea typeface="Aptos" pitchFamily="34" charset="-122"/>
                <a:cs typeface="Aptos" pitchFamily="34" charset="-120"/>
              </a:rPr>
              <a:t>Inject pod/node/AZ/database failures and measure customer-visible recovery and state loss against targets.</a:t>
            </a:r>
            <a:endParaRPr lang="en-US" sz="870" dirty="0"/>
          </a:p>
        </p:txBody>
      </p:sp>
      <p:sp>
        <p:nvSpPr>
          <p:cNvPr id="37" name="Shape 35"/>
          <p:cNvSpPr/>
          <p:nvPr/>
        </p:nvSpPr>
        <p:spPr>
          <a:xfrm>
            <a:off x="9167409" y="4208069"/>
            <a:ext cx="2418039" cy="835762"/>
          </a:xfrm>
          <a:prstGeom prst="rect">
            <a:avLst/>
          </a:prstGeom>
          <a:solidFill>
            <a:srgbClr val="F8FAFC"/>
          </a:solidFill>
          <a:ln w="6350">
            <a:solidFill>
              <a:srgbClr val="D9E1EC"/>
            </a:solidFill>
            <a:prstDash val="solid"/>
          </a:ln>
        </p:spPr>
        <p:txBody>
          <a:bodyPr/>
          <a:lstStyle/>
          <a:p>
            <a:endParaRPr lang="it-IT"/>
          </a:p>
        </p:txBody>
      </p:sp>
      <p:sp>
        <p:nvSpPr>
          <p:cNvPr id="38" name="Text 36"/>
          <p:cNvSpPr/>
          <p:nvPr/>
        </p:nvSpPr>
        <p:spPr>
          <a:xfrm>
            <a:off x="9231417" y="4262933"/>
            <a:ext cx="2290023" cy="744322"/>
          </a:xfrm>
          <a:prstGeom prst="rect">
            <a:avLst/>
          </a:prstGeom>
          <a:noFill/>
          <a:ln/>
        </p:spPr>
        <p:txBody>
          <a:bodyPr wrap="square" lIns="254" tIns="254" rIns="254" bIns="254" rtlCol="0" anchor="ctr">
            <a:normAutofit/>
          </a:bodyPr>
          <a:lstStyle/>
          <a:p>
            <a:pPr marL="0" indent="0" algn="l">
              <a:buNone/>
            </a:pPr>
            <a:r>
              <a:rPr lang="en-US" sz="870" dirty="0">
                <a:solidFill>
                  <a:srgbClr val="5B6475"/>
                </a:solidFill>
                <a:latin typeface="Aptos" pitchFamily="34" charset="0"/>
                <a:ea typeface="Aptos" pitchFamily="34" charset="-122"/>
                <a:cs typeface="Aptos" pitchFamily="34" charset="-120"/>
              </a:rPr>
              <a:t>Platform</a:t>
            </a:r>
            <a:endParaRPr lang="en-US" sz="870" dirty="0"/>
          </a:p>
        </p:txBody>
      </p:sp>
      <p:sp>
        <p:nvSpPr>
          <p:cNvPr id="39" name="Shape 37"/>
          <p:cNvSpPr/>
          <p:nvPr/>
        </p:nvSpPr>
        <p:spPr>
          <a:xfrm>
            <a:off x="594360" y="5043830"/>
            <a:ext cx="2418039" cy="835762"/>
          </a:xfrm>
          <a:prstGeom prst="rect">
            <a:avLst/>
          </a:prstGeom>
          <a:solidFill>
            <a:srgbClr val="FFFFFF"/>
          </a:solidFill>
          <a:ln w="6350">
            <a:solidFill>
              <a:srgbClr val="D9E1EC"/>
            </a:solidFill>
            <a:prstDash val="solid"/>
          </a:ln>
        </p:spPr>
        <p:txBody>
          <a:bodyPr/>
          <a:lstStyle/>
          <a:p>
            <a:endParaRPr lang="it-IT"/>
          </a:p>
        </p:txBody>
      </p:sp>
      <p:sp>
        <p:nvSpPr>
          <p:cNvPr id="40" name="Text 38"/>
          <p:cNvSpPr/>
          <p:nvPr/>
        </p:nvSpPr>
        <p:spPr>
          <a:xfrm>
            <a:off x="658368" y="5098694"/>
            <a:ext cx="2290023" cy="744322"/>
          </a:xfrm>
          <a:prstGeom prst="rect">
            <a:avLst/>
          </a:prstGeom>
          <a:noFill/>
          <a:ln/>
        </p:spPr>
        <p:txBody>
          <a:bodyPr wrap="square" lIns="254" tIns="254" rIns="254" bIns="254" rtlCol="0" anchor="ctr">
            <a:normAutofit/>
          </a:bodyPr>
          <a:lstStyle/>
          <a:p>
            <a:pPr marL="0" indent="0" algn="l">
              <a:buNone/>
            </a:pPr>
            <a:r>
              <a:rPr lang="en-US" sz="870" b="1" dirty="0">
                <a:solidFill>
                  <a:srgbClr val="07133D"/>
                </a:solidFill>
                <a:latin typeface="Aptos" pitchFamily="34" charset="0"/>
                <a:ea typeface="Aptos" pitchFamily="34" charset="-122"/>
                <a:cs typeface="Aptos" pitchFamily="34" charset="-120"/>
              </a:rPr>
              <a:t>Security and load</a:t>
            </a:r>
            <a:endParaRPr lang="en-US" sz="870" dirty="0"/>
          </a:p>
        </p:txBody>
      </p:sp>
      <p:sp>
        <p:nvSpPr>
          <p:cNvPr id="41" name="Shape 39"/>
          <p:cNvSpPr/>
          <p:nvPr/>
        </p:nvSpPr>
        <p:spPr>
          <a:xfrm>
            <a:off x="3012399" y="5043830"/>
            <a:ext cx="6155009" cy="835762"/>
          </a:xfrm>
          <a:prstGeom prst="rect">
            <a:avLst/>
          </a:prstGeom>
          <a:solidFill>
            <a:srgbClr val="FFFFFF"/>
          </a:solidFill>
          <a:ln w="6350">
            <a:solidFill>
              <a:srgbClr val="D9E1EC"/>
            </a:solidFill>
            <a:prstDash val="solid"/>
          </a:ln>
        </p:spPr>
        <p:txBody>
          <a:bodyPr/>
          <a:lstStyle/>
          <a:p>
            <a:endParaRPr lang="it-IT"/>
          </a:p>
        </p:txBody>
      </p:sp>
      <p:sp>
        <p:nvSpPr>
          <p:cNvPr id="42" name="Text 40"/>
          <p:cNvSpPr/>
          <p:nvPr/>
        </p:nvSpPr>
        <p:spPr>
          <a:xfrm>
            <a:off x="3076407" y="5098694"/>
            <a:ext cx="6026993" cy="744322"/>
          </a:xfrm>
          <a:prstGeom prst="rect">
            <a:avLst/>
          </a:prstGeom>
          <a:noFill/>
          <a:ln/>
        </p:spPr>
        <p:txBody>
          <a:bodyPr wrap="square" lIns="254" tIns="254" rIns="254" bIns="254" rtlCol="0" anchor="ctr">
            <a:normAutofit/>
          </a:bodyPr>
          <a:lstStyle/>
          <a:p>
            <a:pPr marL="0" indent="0" algn="l">
              <a:buNone/>
            </a:pPr>
            <a:r>
              <a:rPr lang="en-US" sz="870" dirty="0">
                <a:solidFill>
                  <a:srgbClr val="5B6475"/>
                </a:solidFill>
                <a:latin typeface="Aptos" pitchFamily="34" charset="0"/>
                <a:ea typeface="Aptos" pitchFamily="34" charset="-122"/>
                <a:cs typeface="Aptos" pitchFamily="34" charset="-120"/>
              </a:rPr>
              <a:t>Isolation, upload controls, regional paths, secret protection, auditability and mixed workload capacity/cost.</a:t>
            </a:r>
            <a:endParaRPr lang="en-US" sz="870" dirty="0"/>
          </a:p>
        </p:txBody>
      </p:sp>
      <p:sp>
        <p:nvSpPr>
          <p:cNvPr id="43" name="Shape 41"/>
          <p:cNvSpPr/>
          <p:nvPr/>
        </p:nvSpPr>
        <p:spPr>
          <a:xfrm>
            <a:off x="9167409" y="5043830"/>
            <a:ext cx="2418039" cy="835762"/>
          </a:xfrm>
          <a:prstGeom prst="rect">
            <a:avLst/>
          </a:prstGeom>
          <a:solidFill>
            <a:srgbClr val="FFFFFF"/>
          </a:solidFill>
          <a:ln w="6350">
            <a:solidFill>
              <a:srgbClr val="D9E1EC"/>
            </a:solidFill>
            <a:prstDash val="solid"/>
          </a:ln>
        </p:spPr>
        <p:txBody>
          <a:bodyPr/>
          <a:lstStyle/>
          <a:p>
            <a:endParaRPr lang="it-IT"/>
          </a:p>
        </p:txBody>
      </p:sp>
      <p:sp>
        <p:nvSpPr>
          <p:cNvPr id="44" name="Text 42"/>
          <p:cNvSpPr/>
          <p:nvPr/>
        </p:nvSpPr>
        <p:spPr>
          <a:xfrm>
            <a:off x="9231417" y="5098694"/>
            <a:ext cx="2290023" cy="744322"/>
          </a:xfrm>
          <a:prstGeom prst="rect">
            <a:avLst/>
          </a:prstGeom>
          <a:noFill/>
          <a:ln/>
        </p:spPr>
        <p:txBody>
          <a:bodyPr wrap="square" lIns="254" tIns="254" rIns="254" bIns="254" rtlCol="0" anchor="ctr">
            <a:normAutofit/>
          </a:bodyPr>
          <a:lstStyle/>
          <a:p>
            <a:pPr marL="0" indent="0" algn="l">
              <a:buNone/>
            </a:pPr>
            <a:r>
              <a:rPr lang="en-US" sz="870" dirty="0">
                <a:solidFill>
                  <a:srgbClr val="5B6475"/>
                </a:solidFill>
                <a:latin typeface="Aptos" pitchFamily="34" charset="0"/>
                <a:ea typeface="Aptos" pitchFamily="34" charset="-122"/>
                <a:cs typeface="Aptos" pitchFamily="34" charset="-120"/>
              </a:rPr>
              <a:t>Platform + Security</a:t>
            </a:r>
            <a:endParaRPr lang="en-US" sz="870" dirty="0"/>
          </a:p>
        </p:txBody>
      </p:sp>
      <p:sp>
        <p:nvSpPr>
          <p:cNvPr id="45" name="Shape 43"/>
          <p:cNvSpPr/>
          <p:nvPr/>
        </p:nvSpPr>
        <p:spPr>
          <a:xfrm>
            <a:off x="914400" y="6053328"/>
            <a:ext cx="10241280" cy="411480"/>
          </a:xfrm>
          <a:prstGeom prst="roundRect">
            <a:avLst>
              <a:gd name="adj" fmla="val 17778"/>
            </a:avLst>
          </a:prstGeom>
          <a:solidFill>
            <a:srgbClr val="FCE8E8"/>
          </a:solidFill>
          <a:ln w="13970">
            <a:solidFill>
              <a:srgbClr val="D64242"/>
            </a:solidFill>
            <a:prstDash val="solid"/>
          </a:ln>
        </p:spPr>
        <p:txBody>
          <a:bodyPr/>
          <a:lstStyle/>
          <a:p>
            <a:endParaRPr lang="it-IT"/>
          </a:p>
        </p:txBody>
      </p:sp>
      <p:sp>
        <p:nvSpPr>
          <p:cNvPr id="46" name="Text 44"/>
          <p:cNvSpPr/>
          <p:nvPr/>
        </p:nvSpPr>
        <p:spPr>
          <a:xfrm>
            <a:off x="1033272" y="6144768"/>
            <a:ext cx="10003536" cy="256032"/>
          </a:xfrm>
          <a:prstGeom prst="rect">
            <a:avLst/>
          </a:prstGeom>
          <a:noFill/>
          <a:ln/>
        </p:spPr>
        <p:txBody>
          <a:bodyPr wrap="square" lIns="254" tIns="254" rIns="254" bIns="254" rtlCol="0" anchor="ctr">
            <a:normAutofit/>
          </a:bodyPr>
          <a:lstStyle/>
          <a:p>
            <a:pPr marL="0" indent="0" algn="ctr">
              <a:buNone/>
            </a:pPr>
            <a:r>
              <a:rPr lang="en-US" sz="1050" dirty="0">
                <a:solidFill>
                  <a:srgbClr val="07133D"/>
                </a:solidFill>
                <a:latin typeface="Aptos" pitchFamily="34" charset="0"/>
                <a:ea typeface="Aptos" pitchFamily="34" charset="-122"/>
                <a:cs typeface="Aptos" pitchFamily="34" charset="-120"/>
              </a:rPr>
              <a:t>Planned tests, not results. Correctness, residency or recovery failures block launch.</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19456"/>
            <a:ext cx="2194560" cy="201168"/>
          </a:xfrm>
          <a:prstGeom prst="rect">
            <a:avLst/>
          </a:prstGeom>
          <a:noFill/>
          <a:ln/>
        </p:spPr>
        <p:txBody>
          <a:bodyPr wrap="square" lIns="0" tIns="0" rIns="0" bIns="0" rtlCol="0" anchor="ctr"/>
          <a:lstStyle/>
          <a:p>
            <a:pPr marL="0" indent="0">
              <a:buNone/>
            </a:pPr>
            <a:r>
              <a:rPr lang="en-US" sz="780" b="1" dirty="0">
                <a:solidFill>
                  <a:srgbClr val="F28A00"/>
                </a:solidFill>
                <a:latin typeface="Aptos" pitchFamily="34" charset="0"/>
                <a:ea typeface="Aptos" pitchFamily="34" charset="-122"/>
                <a:cs typeface="Aptos" pitchFamily="34" charset="-120"/>
              </a:rPr>
              <a:t>BACKUP</a:t>
            </a:r>
            <a:endParaRPr lang="en-US" sz="780" dirty="0"/>
          </a:p>
        </p:txBody>
      </p:sp>
      <p:sp>
        <p:nvSpPr>
          <p:cNvPr id="3" name="Text 1"/>
          <p:cNvSpPr/>
          <p:nvPr/>
        </p:nvSpPr>
        <p:spPr>
          <a:xfrm>
            <a:off x="502920" y="438912"/>
            <a:ext cx="10972800" cy="438912"/>
          </a:xfrm>
          <a:prstGeom prst="rect">
            <a:avLst/>
          </a:prstGeom>
          <a:noFill/>
          <a:ln/>
        </p:spPr>
        <p:txBody>
          <a:bodyPr wrap="square" lIns="0" tIns="0" rIns="0" bIns="0" rtlCol="0" anchor="ctr">
            <a:normAutofit/>
          </a:bodyPr>
          <a:lstStyle/>
          <a:p>
            <a:pPr marL="0" indent="0">
              <a:buNone/>
            </a:pPr>
            <a:r>
              <a:rPr lang="en-US" sz="2750" b="1" dirty="0">
                <a:solidFill>
                  <a:srgbClr val="07133D"/>
                </a:solidFill>
                <a:latin typeface="Aptos Display" pitchFamily="34" charset="0"/>
                <a:ea typeface="Aptos Display" pitchFamily="34" charset="-122"/>
                <a:cs typeface="Aptos Display" pitchFamily="34" charset="-120"/>
              </a:rPr>
              <a:t>Assumptions and open questions</a:t>
            </a:r>
            <a:endParaRPr lang="en-US" sz="2750" dirty="0"/>
          </a:p>
        </p:txBody>
      </p:sp>
      <p:sp>
        <p:nvSpPr>
          <p:cNvPr id="4" name="Text 2"/>
          <p:cNvSpPr/>
          <p:nvPr/>
        </p:nvSpPr>
        <p:spPr>
          <a:xfrm>
            <a:off x="530352" y="896112"/>
            <a:ext cx="10789920" cy="210312"/>
          </a:xfrm>
          <a:prstGeom prst="rect">
            <a:avLst/>
          </a:prstGeom>
          <a:noFill/>
          <a:ln/>
        </p:spPr>
        <p:txBody>
          <a:bodyPr wrap="square" lIns="0" tIns="0" rIns="0" bIns="0" rtlCol="0" anchor="ctr"/>
          <a:lstStyle/>
          <a:p>
            <a:pPr marL="0" indent="0">
              <a:buNone/>
            </a:pPr>
            <a:r>
              <a:rPr lang="en-US" sz="1050" dirty="0">
                <a:solidFill>
                  <a:srgbClr val="5B6475"/>
                </a:solidFill>
              </a:rPr>
              <a:t>Backup E — items to confirm</a:t>
            </a:r>
            <a:endParaRPr lang="en-US" sz="1050" dirty="0"/>
          </a:p>
        </p:txBody>
      </p:sp>
      <p:sp>
        <p:nvSpPr>
          <p:cNvPr id="5" name="Shape 3"/>
          <p:cNvSpPr/>
          <p:nvPr/>
        </p:nvSpPr>
        <p:spPr>
          <a:xfrm>
            <a:off x="502920" y="1115568"/>
            <a:ext cx="11155680" cy="0"/>
          </a:xfrm>
          <a:prstGeom prst="line">
            <a:avLst/>
          </a:prstGeom>
          <a:noFill/>
          <a:ln w="12700">
            <a:solidFill>
              <a:srgbClr val="D6DEE9"/>
            </a:solidFill>
            <a:prstDash val="solid"/>
          </a:ln>
        </p:spPr>
        <p:txBody>
          <a:bodyPr/>
          <a:lstStyle/>
          <a:p>
            <a:endParaRPr lang="it-IT"/>
          </a:p>
        </p:txBody>
      </p:sp>
      <p:sp>
        <p:nvSpPr>
          <p:cNvPr id="6" name="Shape 4"/>
          <p:cNvSpPr/>
          <p:nvPr/>
        </p:nvSpPr>
        <p:spPr>
          <a:xfrm>
            <a:off x="502920" y="6455664"/>
            <a:ext cx="11155680" cy="0"/>
          </a:xfrm>
          <a:prstGeom prst="line">
            <a:avLst/>
          </a:prstGeom>
          <a:noFill/>
          <a:ln w="10160">
            <a:solidFill>
              <a:srgbClr val="E1E7F0"/>
            </a:solidFill>
            <a:prstDash val="solid"/>
          </a:ln>
        </p:spPr>
        <p:txBody>
          <a:bodyPr/>
          <a:lstStyle/>
          <a:p>
            <a:endParaRPr lang="it-IT"/>
          </a:p>
        </p:txBody>
      </p:sp>
      <p:sp>
        <p:nvSpPr>
          <p:cNvPr id="7" name="Text 5"/>
          <p:cNvSpPr/>
          <p:nvPr/>
        </p:nvSpPr>
        <p:spPr>
          <a:xfrm>
            <a:off x="502920" y="6519672"/>
            <a:ext cx="2286000" cy="201168"/>
          </a:xfrm>
          <a:prstGeom prst="rect">
            <a:avLst/>
          </a:prstGeom>
          <a:noFill/>
          <a:ln/>
        </p:spPr>
        <p:txBody>
          <a:bodyPr wrap="square" lIns="0" tIns="0" rIns="0" bIns="0" rtlCol="0" anchor="ctr"/>
          <a:lstStyle/>
          <a:p>
            <a:pPr marL="0" indent="0">
              <a:buNone/>
            </a:pPr>
            <a:r>
              <a:rPr lang="en-US" sz="850" dirty="0">
                <a:solidFill>
                  <a:srgbClr val="7B8497"/>
                </a:solidFill>
              </a:rPr>
              <a:t>Backup E</a:t>
            </a:r>
            <a:endParaRPr lang="en-US" sz="850" dirty="0"/>
          </a:p>
        </p:txBody>
      </p:sp>
      <p:sp>
        <p:nvSpPr>
          <p:cNvPr id="8" name="Text 6"/>
          <p:cNvSpPr/>
          <p:nvPr/>
        </p:nvSpPr>
        <p:spPr>
          <a:xfrm>
            <a:off x="7818120" y="6519672"/>
            <a:ext cx="3840480" cy="201168"/>
          </a:xfrm>
          <a:prstGeom prst="rect">
            <a:avLst/>
          </a:prstGeom>
          <a:noFill/>
          <a:ln/>
        </p:spPr>
        <p:txBody>
          <a:bodyPr wrap="square" lIns="0" tIns="0" rIns="0" bIns="0" rtlCol="0" anchor="ctr"/>
          <a:lstStyle/>
          <a:p>
            <a:pPr marL="0" indent="0" algn="r">
              <a:buNone/>
            </a:pPr>
            <a:r>
              <a:rPr lang="en-US" sz="850" dirty="0">
                <a:solidFill>
                  <a:srgbClr val="7B8497"/>
                </a:solidFill>
              </a:rPr>
              <a:t>Durable journeys. Connected experiences.</a:t>
            </a:r>
            <a:endParaRPr lang="en-US" sz="850" dirty="0"/>
          </a:p>
        </p:txBody>
      </p:sp>
      <p:sp>
        <p:nvSpPr>
          <p:cNvPr id="9" name="Shape 7"/>
          <p:cNvSpPr/>
          <p:nvPr/>
        </p:nvSpPr>
        <p:spPr>
          <a:xfrm>
            <a:off x="777240" y="1463040"/>
            <a:ext cx="3154680" cy="1444752"/>
          </a:xfrm>
          <a:prstGeom prst="roundRect">
            <a:avLst>
              <a:gd name="adj" fmla="val 5063"/>
            </a:avLst>
          </a:prstGeom>
          <a:solidFill>
            <a:srgbClr val="EAF5FF"/>
          </a:solidFill>
          <a:ln w="13970">
            <a:solidFill>
              <a:srgbClr val="0B63E5"/>
            </a:solidFill>
            <a:prstDash val="solid"/>
          </a:ln>
        </p:spPr>
        <p:txBody>
          <a:bodyPr/>
          <a:lstStyle/>
          <a:p>
            <a:endParaRPr lang="it-IT"/>
          </a:p>
        </p:txBody>
      </p:sp>
      <p:sp>
        <p:nvSpPr>
          <p:cNvPr id="10" name="Text 8"/>
          <p:cNvSpPr/>
          <p:nvPr/>
        </p:nvSpPr>
        <p:spPr>
          <a:xfrm>
            <a:off x="886968" y="1554480"/>
            <a:ext cx="2935224" cy="228600"/>
          </a:xfrm>
          <a:prstGeom prst="rect">
            <a:avLst/>
          </a:prstGeom>
          <a:noFill/>
          <a:ln/>
        </p:spPr>
        <p:txBody>
          <a:bodyPr wrap="square" lIns="0" tIns="0" rIns="0" bIns="0" rtlCol="0" anchor="ctr">
            <a:normAutofit/>
          </a:bodyPr>
          <a:lstStyle/>
          <a:p>
            <a:pPr marL="0" indent="0" algn="ctr">
              <a:buNone/>
            </a:pPr>
            <a:r>
              <a:rPr lang="en-US" sz="1180" b="1" dirty="0">
                <a:solidFill>
                  <a:srgbClr val="07133D"/>
                </a:solidFill>
              </a:rPr>
              <a:t>Recovery and availability</a:t>
            </a:r>
            <a:endParaRPr lang="en-US" sz="1180" dirty="0"/>
          </a:p>
        </p:txBody>
      </p:sp>
      <p:sp>
        <p:nvSpPr>
          <p:cNvPr id="11" name="Text 9"/>
          <p:cNvSpPr/>
          <p:nvPr/>
        </p:nvSpPr>
        <p:spPr>
          <a:xfrm>
            <a:off x="905256" y="1847088"/>
            <a:ext cx="2898648" cy="969264"/>
          </a:xfrm>
          <a:prstGeom prst="rect">
            <a:avLst/>
          </a:prstGeom>
          <a:noFill/>
          <a:ln/>
        </p:spPr>
        <p:txBody>
          <a:bodyPr wrap="square" lIns="254" tIns="254" rIns="254" bIns="254" rtlCol="0" anchor="ctr">
            <a:normAutofit/>
          </a:bodyPr>
          <a:lstStyle/>
          <a:p>
            <a:pPr marL="0" indent="0" algn="l">
              <a:buNone/>
            </a:pPr>
            <a:r>
              <a:rPr lang="en-US" sz="920" dirty="0">
                <a:solidFill>
                  <a:srgbClr val="5B6475"/>
                </a:solidFill>
              </a:rPr>
              <a:t>Failure scope, monthly measurement, success/latency criteria, logical corruption and regional outage scope.</a:t>
            </a:r>
            <a:endParaRPr lang="en-US" sz="920" dirty="0"/>
          </a:p>
        </p:txBody>
      </p:sp>
      <p:sp>
        <p:nvSpPr>
          <p:cNvPr id="12" name="Shape 10"/>
          <p:cNvSpPr/>
          <p:nvPr/>
        </p:nvSpPr>
        <p:spPr>
          <a:xfrm>
            <a:off x="4462272" y="1463040"/>
            <a:ext cx="3154680" cy="1444752"/>
          </a:xfrm>
          <a:prstGeom prst="roundRect">
            <a:avLst>
              <a:gd name="adj" fmla="val 5063"/>
            </a:avLst>
          </a:prstGeom>
          <a:solidFill>
            <a:srgbClr val="FFF4E4"/>
          </a:solidFill>
          <a:ln w="13970">
            <a:solidFill>
              <a:srgbClr val="F28A00"/>
            </a:solidFill>
            <a:prstDash val="solid"/>
          </a:ln>
        </p:spPr>
        <p:txBody>
          <a:bodyPr/>
          <a:lstStyle/>
          <a:p>
            <a:endParaRPr lang="it-IT"/>
          </a:p>
        </p:txBody>
      </p:sp>
      <p:sp>
        <p:nvSpPr>
          <p:cNvPr id="13" name="Text 11"/>
          <p:cNvSpPr/>
          <p:nvPr/>
        </p:nvSpPr>
        <p:spPr>
          <a:xfrm>
            <a:off x="4572000" y="1554480"/>
            <a:ext cx="2935224" cy="228600"/>
          </a:xfrm>
          <a:prstGeom prst="rect">
            <a:avLst/>
          </a:prstGeom>
          <a:noFill/>
          <a:ln/>
        </p:spPr>
        <p:txBody>
          <a:bodyPr wrap="square" lIns="0" tIns="0" rIns="0" bIns="0" rtlCol="0" anchor="ctr">
            <a:normAutofit/>
          </a:bodyPr>
          <a:lstStyle/>
          <a:p>
            <a:pPr marL="0" indent="0" algn="ctr">
              <a:buNone/>
            </a:pPr>
            <a:r>
              <a:rPr lang="en-US" sz="1180" b="1" dirty="0">
                <a:solidFill>
                  <a:srgbClr val="07133D"/>
                </a:solidFill>
              </a:rPr>
              <a:t>Residency and providers</a:t>
            </a:r>
            <a:endParaRPr lang="en-US" sz="1180" dirty="0"/>
          </a:p>
        </p:txBody>
      </p:sp>
      <p:sp>
        <p:nvSpPr>
          <p:cNvPr id="14" name="Text 12"/>
          <p:cNvSpPr/>
          <p:nvPr/>
        </p:nvSpPr>
        <p:spPr>
          <a:xfrm>
            <a:off x="4590288" y="1847088"/>
            <a:ext cx="2898648" cy="969264"/>
          </a:xfrm>
          <a:prstGeom prst="rect">
            <a:avLst/>
          </a:prstGeom>
          <a:noFill/>
          <a:ln/>
        </p:spPr>
        <p:txBody>
          <a:bodyPr wrap="square" lIns="254" tIns="254" rIns="254" bIns="254" rtlCol="0" anchor="ctr">
            <a:normAutofit/>
          </a:bodyPr>
          <a:lstStyle/>
          <a:p>
            <a:pPr marL="0" indent="0" algn="l">
              <a:buNone/>
            </a:pPr>
            <a:r>
              <a:rPr lang="en-US" sz="920" dirty="0">
                <a:solidFill>
                  <a:srgbClr val="5B6475"/>
                </a:solidFill>
              </a:rPr>
              <a:t>Selected region, model endpoints, provider access, telemetry, backups and support access.</a:t>
            </a:r>
            <a:endParaRPr lang="en-US" sz="920" dirty="0"/>
          </a:p>
        </p:txBody>
      </p:sp>
      <p:sp>
        <p:nvSpPr>
          <p:cNvPr id="15" name="Shape 13"/>
          <p:cNvSpPr/>
          <p:nvPr/>
        </p:nvSpPr>
        <p:spPr>
          <a:xfrm>
            <a:off x="8147304" y="1463040"/>
            <a:ext cx="3154680" cy="1444752"/>
          </a:xfrm>
          <a:prstGeom prst="roundRect">
            <a:avLst>
              <a:gd name="adj" fmla="val 5063"/>
            </a:avLst>
          </a:prstGeom>
          <a:solidFill>
            <a:srgbClr val="EAF5FF"/>
          </a:solidFill>
          <a:ln w="13970">
            <a:solidFill>
              <a:srgbClr val="0B63E5"/>
            </a:solidFill>
            <a:prstDash val="solid"/>
          </a:ln>
        </p:spPr>
        <p:txBody>
          <a:bodyPr/>
          <a:lstStyle/>
          <a:p>
            <a:endParaRPr lang="it-IT"/>
          </a:p>
        </p:txBody>
      </p:sp>
      <p:sp>
        <p:nvSpPr>
          <p:cNvPr id="16" name="Text 14"/>
          <p:cNvSpPr/>
          <p:nvPr/>
        </p:nvSpPr>
        <p:spPr>
          <a:xfrm>
            <a:off x="8257032" y="1554480"/>
            <a:ext cx="2935224" cy="228600"/>
          </a:xfrm>
          <a:prstGeom prst="rect">
            <a:avLst/>
          </a:prstGeom>
          <a:noFill/>
          <a:ln/>
        </p:spPr>
        <p:txBody>
          <a:bodyPr wrap="square" lIns="0" tIns="0" rIns="0" bIns="0" rtlCol="0" anchor="ctr">
            <a:normAutofit/>
          </a:bodyPr>
          <a:lstStyle/>
          <a:p>
            <a:pPr marL="0" indent="0" algn="ctr">
              <a:buNone/>
            </a:pPr>
            <a:r>
              <a:rPr lang="en-US" sz="1180" b="1" dirty="0">
                <a:solidFill>
                  <a:srgbClr val="07133D"/>
                </a:solidFill>
              </a:rPr>
              <a:t>Provider contracts</a:t>
            </a:r>
            <a:endParaRPr lang="en-US" sz="1180" dirty="0"/>
          </a:p>
        </p:txBody>
      </p:sp>
      <p:sp>
        <p:nvSpPr>
          <p:cNvPr id="17" name="Text 15"/>
          <p:cNvSpPr/>
          <p:nvPr/>
        </p:nvSpPr>
        <p:spPr>
          <a:xfrm>
            <a:off x="8275320" y="1847088"/>
            <a:ext cx="2898648" cy="969264"/>
          </a:xfrm>
          <a:prstGeom prst="rect">
            <a:avLst/>
          </a:prstGeom>
          <a:noFill/>
          <a:ln/>
        </p:spPr>
        <p:txBody>
          <a:bodyPr wrap="square" lIns="254" tIns="254" rIns="254" bIns="254" rtlCol="0" anchor="ctr">
            <a:normAutofit/>
          </a:bodyPr>
          <a:lstStyle/>
          <a:p>
            <a:pPr marL="0" indent="0" algn="l">
              <a:buNone/>
            </a:pPr>
            <a:r>
              <a:rPr lang="en-US" sz="920" dirty="0">
                <a:solidFill>
                  <a:srgbClr val="5B6475"/>
                </a:solidFill>
              </a:rPr>
              <a:t>Idempotency retention, status lookup, authenticated callbacks, correlation identifiers and rate limits.</a:t>
            </a:r>
            <a:endParaRPr lang="en-US" sz="920" dirty="0"/>
          </a:p>
        </p:txBody>
      </p:sp>
      <p:sp>
        <p:nvSpPr>
          <p:cNvPr id="18" name="Shape 16"/>
          <p:cNvSpPr/>
          <p:nvPr/>
        </p:nvSpPr>
        <p:spPr>
          <a:xfrm>
            <a:off x="2606040" y="3886200"/>
            <a:ext cx="3154680" cy="1444752"/>
          </a:xfrm>
          <a:prstGeom prst="roundRect">
            <a:avLst>
              <a:gd name="adj" fmla="val 5063"/>
            </a:avLst>
          </a:prstGeom>
          <a:solidFill>
            <a:srgbClr val="FFF4E4"/>
          </a:solidFill>
          <a:ln w="13970">
            <a:solidFill>
              <a:srgbClr val="F28A00"/>
            </a:solidFill>
            <a:prstDash val="solid"/>
          </a:ln>
        </p:spPr>
        <p:txBody>
          <a:bodyPr/>
          <a:lstStyle/>
          <a:p>
            <a:endParaRPr lang="it-IT"/>
          </a:p>
        </p:txBody>
      </p:sp>
      <p:sp>
        <p:nvSpPr>
          <p:cNvPr id="19" name="Text 17"/>
          <p:cNvSpPr/>
          <p:nvPr/>
        </p:nvSpPr>
        <p:spPr>
          <a:xfrm>
            <a:off x="2715768" y="3977640"/>
            <a:ext cx="2935224" cy="228600"/>
          </a:xfrm>
          <a:prstGeom prst="rect">
            <a:avLst/>
          </a:prstGeom>
          <a:noFill/>
          <a:ln/>
        </p:spPr>
        <p:txBody>
          <a:bodyPr wrap="square" lIns="0" tIns="0" rIns="0" bIns="0" rtlCol="0" anchor="ctr">
            <a:normAutofit/>
          </a:bodyPr>
          <a:lstStyle/>
          <a:p>
            <a:pPr marL="0" indent="0" algn="ctr">
              <a:buNone/>
            </a:pPr>
            <a:r>
              <a:rPr lang="en-US" sz="1180" b="1" dirty="0">
                <a:solidFill>
                  <a:srgbClr val="07133D"/>
                </a:solidFill>
              </a:rPr>
              <a:t>Operations</a:t>
            </a:r>
            <a:endParaRPr lang="en-US" sz="1180" dirty="0"/>
          </a:p>
        </p:txBody>
      </p:sp>
      <p:sp>
        <p:nvSpPr>
          <p:cNvPr id="20" name="Text 18"/>
          <p:cNvSpPr/>
          <p:nvPr/>
        </p:nvSpPr>
        <p:spPr>
          <a:xfrm>
            <a:off x="2734056" y="4270248"/>
            <a:ext cx="2898648" cy="969264"/>
          </a:xfrm>
          <a:prstGeom prst="rect">
            <a:avLst/>
          </a:prstGeom>
          <a:noFill/>
          <a:ln/>
        </p:spPr>
        <p:txBody>
          <a:bodyPr wrap="square" lIns="254" tIns="254" rIns="254" bIns="254" rtlCol="0" anchor="ctr">
            <a:normAutofit/>
          </a:bodyPr>
          <a:lstStyle/>
          <a:p>
            <a:pPr marL="0" indent="0" algn="l">
              <a:buNone/>
            </a:pPr>
            <a:r>
              <a:rPr lang="en-US" sz="920" dirty="0">
                <a:solidFill>
                  <a:srgbClr val="5B6475"/>
                </a:solidFill>
              </a:rPr>
              <a:t>IdP, notification channel, retention/deletion, reviewer ownership, response times and on-call coverage.</a:t>
            </a:r>
            <a:endParaRPr lang="en-US" sz="920" dirty="0"/>
          </a:p>
        </p:txBody>
      </p:sp>
      <p:sp>
        <p:nvSpPr>
          <p:cNvPr id="21" name="Shape 19"/>
          <p:cNvSpPr/>
          <p:nvPr/>
        </p:nvSpPr>
        <p:spPr>
          <a:xfrm>
            <a:off x="6428232" y="3886200"/>
            <a:ext cx="3154680" cy="1444752"/>
          </a:xfrm>
          <a:prstGeom prst="roundRect">
            <a:avLst>
              <a:gd name="adj" fmla="val 5063"/>
            </a:avLst>
          </a:prstGeom>
          <a:solidFill>
            <a:srgbClr val="EAF5FF"/>
          </a:solidFill>
          <a:ln w="13970">
            <a:solidFill>
              <a:srgbClr val="0B63E5"/>
            </a:solidFill>
            <a:prstDash val="solid"/>
          </a:ln>
        </p:spPr>
        <p:txBody>
          <a:bodyPr/>
          <a:lstStyle/>
          <a:p>
            <a:endParaRPr lang="it-IT"/>
          </a:p>
        </p:txBody>
      </p:sp>
      <p:sp>
        <p:nvSpPr>
          <p:cNvPr id="22" name="Text 20"/>
          <p:cNvSpPr/>
          <p:nvPr/>
        </p:nvSpPr>
        <p:spPr>
          <a:xfrm>
            <a:off x="6537960" y="3977640"/>
            <a:ext cx="2935224" cy="228600"/>
          </a:xfrm>
          <a:prstGeom prst="rect">
            <a:avLst/>
          </a:prstGeom>
          <a:noFill/>
          <a:ln/>
        </p:spPr>
        <p:txBody>
          <a:bodyPr wrap="square" lIns="0" tIns="0" rIns="0" bIns="0" rtlCol="0" anchor="ctr">
            <a:normAutofit/>
          </a:bodyPr>
          <a:lstStyle/>
          <a:p>
            <a:pPr marL="0" indent="0" algn="ctr">
              <a:buNone/>
            </a:pPr>
            <a:r>
              <a:rPr lang="en-US" sz="1180" b="1" dirty="0">
                <a:solidFill>
                  <a:srgbClr val="07133D"/>
                </a:solidFill>
              </a:rPr>
              <a:t>Capacity and budget</a:t>
            </a:r>
            <a:endParaRPr lang="en-US" sz="1180" dirty="0"/>
          </a:p>
        </p:txBody>
      </p:sp>
      <p:sp>
        <p:nvSpPr>
          <p:cNvPr id="23" name="Text 21"/>
          <p:cNvSpPr/>
          <p:nvPr/>
        </p:nvSpPr>
        <p:spPr>
          <a:xfrm>
            <a:off x="6556248" y="4270248"/>
            <a:ext cx="2898648" cy="969264"/>
          </a:xfrm>
          <a:prstGeom prst="rect">
            <a:avLst/>
          </a:prstGeom>
          <a:noFill/>
          <a:ln/>
        </p:spPr>
        <p:txBody>
          <a:bodyPr wrap="square" lIns="254" tIns="254" rIns="254" bIns="254" rtlCol="0" anchor="ctr">
            <a:normAutofit/>
          </a:bodyPr>
          <a:lstStyle/>
          <a:p>
            <a:pPr marL="0" indent="0" algn="l">
              <a:buNone/>
            </a:pPr>
            <a:r>
              <a:rPr lang="en-US" sz="920" dirty="0">
                <a:solidFill>
                  <a:srgbClr val="5B6475"/>
                </a:solidFill>
              </a:rPr>
              <a:t>Traffic shape, job duration, model mix, latency expectations, quota increases and budget envelope.</a:t>
            </a:r>
            <a:endParaRPr lang="en-US" sz="920" dirty="0"/>
          </a:p>
        </p:txBody>
      </p:sp>
      <p:sp>
        <p:nvSpPr>
          <p:cNvPr id="24" name="Text 22"/>
          <p:cNvSpPr/>
          <p:nvPr/>
        </p:nvSpPr>
        <p:spPr>
          <a:xfrm>
            <a:off x="914400" y="5989320"/>
            <a:ext cx="10287000" cy="310896"/>
          </a:xfrm>
          <a:prstGeom prst="rect">
            <a:avLst/>
          </a:prstGeom>
          <a:noFill/>
          <a:ln/>
        </p:spPr>
        <p:txBody>
          <a:bodyPr wrap="square" lIns="254" tIns="254" rIns="254" bIns="254" rtlCol="0" anchor="t">
            <a:normAutofit/>
          </a:bodyPr>
          <a:lstStyle/>
          <a:p>
            <a:pPr marL="0" indent="0" algn="ctr">
              <a:buNone/>
            </a:pPr>
            <a:r>
              <a:rPr lang="en-US" sz="1300" b="1" dirty="0">
                <a:solidFill>
                  <a:srgbClr val="07133D"/>
                </a:solidFill>
                <a:latin typeface="Aptos" pitchFamily="34" charset="0"/>
                <a:ea typeface="Aptos" pitchFamily="34" charset="-122"/>
                <a:cs typeface="Aptos" pitchFamily="34" charset="-120"/>
              </a:rPr>
              <a:t>These assumptions do not relax the assignment requirements; unresolved recovery, residency or provider guarantees can block launch.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283</TotalTime>
  <Words>4200</Words>
  <Application>Microsoft Macintosh PowerPoint</Application>
  <PresentationFormat>Widescreen</PresentationFormat>
  <Paragraphs>426</Paragraphs>
  <Slides>25</Slides>
  <Notes>23</Notes>
  <HiddenSlides>7</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25</vt:i4>
      </vt:variant>
    </vt:vector>
  </HeadingPairs>
  <TitlesOfParts>
    <vt:vector size="30" baseType="lpstr">
      <vt:lpstr>Aptos</vt:lpstr>
      <vt:lpstr>Aptos Display</vt:lpstr>
      <vt:lpstr>Aptos Mono</vt:lpstr>
      <vt:lpstr>Arial</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Meridian Telecom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Meridian Telecom Platform Engineer Take-home</dc:title>
  <dc:subject>Meridian Telecom Platform Engineer take-home assignment</dc:subject>
  <dc:creator>OpenAI</dc:creator>
  <cp:lastModifiedBy>Mattia Vincenzi</cp:lastModifiedBy>
  <cp:revision>31</cp:revision>
  <dcterms:created xsi:type="dcterms:W3CDTF">2026-09-19T08:05:10Z</dcterms:created>
  <dcterms:modified xsi:type="dcterms:W3CDTF">2026-09-19T13:02:04Z</dcterms:modified>
</cp:coreProperties>
</file>